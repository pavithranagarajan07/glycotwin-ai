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5eda594-6e30-cd41-a8d9-c18f9ca29236}">
          <p14:sldIdLst>
            <p14:sldId id="256"/>
            <p14:sldId id="257"/>
          </p14:sldIdLst>
        </p14:section>
        <p14:section name="Solution" id="{62366bb7-6c77-4be1-c256-5fbd46f8a36f}">
          <p14:sldIdLst>
            <p14:sldId id="258"/>
            <p14:sldId id="259"/>
            <p14:sldId id="260"/>
          </p14:sldIdLst>
        </p14:section>
        <p14:section name="Technology" id="{b6c12cd5-a190-c886-5628-f5473ef056e9}">
          <p14:sldIdLst>
            <p14:sldId id="261"/>
            <p14:sldId id="262"/>
            <p14:sldId id="263"/>
          </p14:sldIdLst>
        </p14:section>
        <p14:section name="Responsibility and Future" id="{681684cb-e744-7bc0-93d2-bb2dfd9d7784}">
          <p14:sldIdLst>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Glucose (mg/dL)</c:v>
                </c:pt>
              </c:strCache>
            </c:strRef>
          </c:tx>
          <c:spPr>
            <a:solidFill>
              <a:srgbClr val="22D3EE"/>
            </a:solidFill>
            <a:ln w="38100" cap="flat">
              <a:solidFill>
                <a:srgbClr val="22D3EE"/>
              </a:solidFill>
              <a:prstDash val="solid,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2D3EE"/>
              </a:solidFill>
              <a:ln w="9525" cap="flat">
                <a:solidFill>
                  <a:srgbClr val="22D3EE"/>
                </a:solidFill>
                <a:prstDash val="solid"/>
                <a:round/>
              </a:ln>
              <a:effectLst/>
            </c:spPr>
          </c:marker>
          <c:cat>
            <c:multiLvlStrRef>
              <c:f>Sheet1!$A$2:$A$25</c:f>
              <c:multiLvlStrCache>
                <c:ptCount val="24"/>
                <c:lvl>
                  <c:pt idx="0">
                    <c:v/>
                  </c:pt>
                  <c:pt idx="1">
                    <c:v/>
                  </c:pt>
                  <c:pt idx="2">
                    <c:v/>
                  </c:pt>
                  <c:pt idx="3">
                    <c:v/>
                  </c:pt>
                  <c:pt idx="4">
                    <c:v/>
                  </c:pt>
                  <c:pt idx="5">
                    <c:v/>
                  </c:pt>
                  <c:pt idx="6">
                    <c:v/>
                  </c:pt>
                  <c:pt idx="7">
                    <c:v>-80</c:v>
                  </c:pt>
                  <c:pt idx="8">
                    <c:v/>
                  </c:pt>
                  <c:pt idx="9">
                    <c:v/>
                  </c:pt>
                  <c:pt idx="10">
                    <c:v/>
                  </c:pt>
                  <c:pt idx="11">
                    <c:v>-60</c:v>
                  </c:pt>
                  <c:pt idx="12">
                    <c:v/>
                  </c:pt>
                  <c:pt idx="13">
                    <c:v/>
                  </c:pt>
                  <c:pt idx="14">
                    <c:v/>
                  </c:pt>
                  <c:pt idx="15">
                    <c:v>-40</c:v>
                  </c:pt>
                  <c:pt idx="16">
                    <c:v/>
                  </c:pt>
                  <c:pt idx="17">
                    <c:v/>
                  </c:pt>
                  <c:pt idx="18">
                    <c:v/>
                  </c:pt>
                  <c:pt idx="19">
                    <c:v>-20</c:v>
                  </c:pt>
                  <c:pt idx="20">
                    <c:v/>
                  </c:pt>
                  <c:pt idx="21">
                    <c:v/>
                  </c:pt>
                  <c:pt idx="22">
                    <c:v/>
                  </c:pt>
                  <c:pt idx="23">
                    <c:v>0</c:v>
                  </c:pt>
                </c:lvl>
              </c:multiLvlStrCache>
            </c:multiLvlStrRef>
          </c:cat>
          <c:val>
            <c:numRef>
              <c:f>Sheet1!$B$2:$B$25</c:f>
              <c:numCache>
                <c:formatCode>General</c:formatCode>
                <c:ptCount val="24"/>
                <c:pt idx="0">
                  <c:v>142</c:v>
                </c:pt>
                <c:pt idx="1">
                  <c:v>148.7</c:v>
                </c:pt>
                <c:pt idx="2">
                  <c:v>154</c:v>
                </c:pt>
                <c:pt idx="3">
                  <c:v>157</c:v>
                </c:pt>
                <c:pt idx="4">
                  <c:v>157.2</c:v>
                </c:pt>
                <c:pt idx="5">
                  <c:v>154.9</c:v>
                </c:pt>
                <c:pt idx="6">
                  <c:v>151</c:v>
                </c:pt>
                <c:pt idx="7">
                  <c:v>146.5</c:v>
                </c:pt>
                <c:pt idx="8">
                  <c:v>142.5</c:v>
                </c:pt>
                <c:pt idx="9">
                  <c:v>139.5</c:v>
                </c:pt>
                <c:pt idx="10">
                  <c:v>137.8</c:v>
                </c:pt>
                <c:pt idx="11">
                  <c:v>136.9</c:v>
                </c:pt>
                <c:pt idx="12">
                  <c:v>136.4</c:v>
                </c:pt>
                <c:pt idx="13">
                  <c:v>135.7</c:v>
                </c:pt>
                <c:pt idx="14">
                  <c:v>134.7</c:v>
                </c:pt>
                <c:pt idx="15">
                  <c:v>133.3</c:v>
                </c:pt>
                <c:pt idx="16">
                  <c:v>132.3</c:v>
                </c:pt>
                <c:pt idx="17">
                  <c:v>132.3</c:v>
                </c:pt>
                <c:pt idx="18">
                  <c:v>134.1</c:v>
                </c:pt>
                <c:pt idx="19">
                  <c:v>137.7</c:v>
                </c:pt>
                <c:pt idx="20">
                  <c:v>142.9</c:v>
                </c:pt>
                <c:pt idx="21">
                  <c:v>148.8</c:v>
                </c:pt>
                <c:pt idx="22">
                  <c:v>154.2</c:v>
                </c:pt>
                <c:pt idx="23">
                  <c:v>157.9</c:v>
                </c:pt>
              </c:numCache>
            </c:numRef>
          </c:val>
          <c:smooth val="0"/>
        </c:ser>
        <c:ser>
          <c:idx val="1"/>
          <c:order val="1"/>
          <c:tx>
            <c:strRef>
              <c:f>Sheet1!$C$1</c:f>
              <c:strCache>
                <c:ptCount val="1"/>
                <c:pt idx="0">
                  <c:v>180 mg/dL threshold</c:v>
                </c:pt>
              </c:strCache>
            </c:strRef>
          </c:tx>
          <c:spPr>
            <a:solidFill>
              <a:srgbClr val="F5B84B"/>
            </a:solidFill>
            <a:ln w="38100" cap="flat">
              <a:solidFill>
                <a:srgbClr val="F5B84B"/>
              </a:solidFill>
              <a:prstDash val="solid,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5B84B"/>
              </a:solidFill>
              <a:ln w="9525" cap="flat">
                <a:solidFill>
                  <a:srgbClr val="F5B84B"/>
                </a:solidFill>
                <a:prstDash val="solid"/>
                <a:round/>
              </a:ln>
              <a:effectLst/>
            </c:spPr>
          </c:marker>
          <c:cat>
            <c:multiLvlStrRef>
              <c:f>Sheet1!$A$2:$A$25</c:f>
              <c:multiLvlStrCache>
                <c:ptCount val="24"/>
                <c:lvl>
                  <c:pt idx="0">
                    <c:v/>
                  </c:pt>
                  <c:pt idx="1">
                    <c:v/>
                  </c:pt>
                  <c:pt idx="2">
                    <c:v/>
                  </c:pt>
                  <c:pt idx="3">
                    <c:v/>
                  </c:pt>
                  <c:pt idx="4">
                    <c:v/>
                  </c:pt>
                  <c:pt idx="5">
                    <c:v/>
                  </c:pt>
                  <c:pt idx="6">
                    <c:v/>
                  </c:pt>
                  <c:pt idx="7">
                    <c:v>-80</c:v>
                  </c:pt>
                  <c:pt idx="8">
                    <c:v/>
                  </c:pt>
                  <c:pt idx="9">
                    <c:v/>
                  </c:pt>
                  <c:pt idx="10">
                    <c:v/>
                  </c:pt>
                  <c:pt idx="11">
                    <c:v>-60</c:v>
                  </c:pt>
                  <c:pt idx="12">
                    <c:v/>
                  </c:pt>
                  <c:pt idx="13">
                    <c:v/>
                  </c:pt>
                  <c:pt idx="14">
                    <c:v/>
                  </c:pt>
                  <c:pt idx="15">
                    <c:v>-40</c:v>
                  </c:pt>
                  <c:pt idx="16">
                    <c:v/>
                  </c:pt>
                  <c:pt idx="17">
                    <c:v/>
                  </c:pt>
                  <c:pt idx="18">
                    <c:v/>
                  </c:pt>
                  <c:pt idx="19">
                    <c:v>-20</c:v>
                  </c:pt>
                  <c:pt idx="20">
                    <c:v/>
                  </c:pt>
                  <c:pt idx="21">
                    <c:v/>
                  </c:pt>
                  <c:pt idx="22">
                    <c:v/>
                  </c:pt>
                  <c:pt idx="23">
                    <c:v>0</c:v>
                  </c:pt>
                </c:lvl>
              </c:multiLvlStrCache>
            </c:multiLvlStrRef>
          </c:cat>
          <c:val>
            <c:numRef>
              <c:f>Sheet1!$C$2:$C$25</c:f>
              <c:numCache>
                <c:formatCode>General</c:formatCode>
                <c:ptCount val="24"/>
                <c:pt idx="0">
                  <c:v>180</c:v>
                </c:pt>
                <c:pt idx="1">
                  <c:v>180</c:v>
                </c:pt>
                <c:pt idx="2">
                  <c:v>180</c:v>
                </c:pt>
                <c:pt idx="3">
                  <c:v>180</c:v>
                </c:pt>
                <c:pt idx="4">
                  <c:v>180</c:v>
                </c:pt>
                <c:pt idx="5">
                  <c:v>180</c:v>
                </c:pt>
                <c:pt idx="6">
                  <c:v>180</c:v>
                </c:pt>
                <c:pt idx="7">
                  <c:v>180</c:v>
                </c:pt>
                <c:pt idx="8">
                  <c:v>180</c:v>
                </c:pt>
                <c:pt idx="9">
                  <c:v>180</c:v>
                </c:pt>
                <c:pt idx="10">
                  <c:v>180</c:v>
                </c:pt>
                <c:pt idx="11">
                  <c:v>180</c:v>
                </c:pt>
                <c:pt idx="12">
                  <c:v>180</c:v>
                </c:pt>
                <c:pt idx="13">
                  <c:v>180</c:v>
                </c:pt>
                <c:pt idx="14">
                  <c:v>180</c:v>
                </c:pt>
                <c:pt idx="15">
                  <c:v>180</c:v>
                </c:pt>
                <c:pt idx="16">
                  <c:v>180</c:v>
                </c:pt>
                <c:pt idx="17">
                  <c:v>180</c:v>
                </c:pt>
                <c:pt idx="18">
                  <c:v>180</c:v>
                </c:pt>
                <c:pt idx="19">
                  <c:v>180</c:v>
                </c:pt>
                <c:pt idx="20">
                  <c:v>180</c:v>
                </c:pt>
                <c:pt idx="21">
                  <c:v>180</c:v>
                </c:pt>
                <c:pt idx="22">
                  <c:v>180</c:v>
                </c:pt>
                <c:pt idx="23">
                  <c:v>180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9FB3D1"/>
                    </a:solidFill>
                    <a:latin typeface="+mn-lt"/>
                  </a:defRPr>
                </a:pPr>
                <a:r>
                  <a:rPr sz="1100" b="0" i="0" u="none" strike="noStrike">
                    <a:solidFill>
                      <a:srgbClr val="9FB3D1"/>
                    </a:solidFill>
                    <a:latin typeface="+mn-lt"/>
                  </a:rPr>
                  <a:t>minutes before latest reading</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9FB3D1"/>
                </a:solidFill>
                <a:latin typeface="+mn-lt"/>
              </a:defRPr>
            </a:pPr>
            <a:endParaRPr lang="en-US"/>
          </a:p>
        </c:txPr>
        <c:crossAx val="2094734552"/>
        <c:crosses val="autoZero"/>
        <c:auto val="1"/>
        <c:lblAlgn val="ctr"/>
        <c:noMultiLvlLbl val="1"/>
      </c:catAx>
      <c:valAx>
        <c:axId val="2094734552"/>
        <c:scaling>
          <c:orientation val="minMax"/>
          <c:max val="200"/>
          <c:min val="100"/>
        </c:scaling>
        <c:delete val="0"/>
        <c:axPos val="l"/>
        <c:majorGridlines>
          <c:spPr>
            <a:ln w="6350" cap="flat">
              <a:solidFill>
                <a:srgbClr val="1B2F5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9FB3D1"/>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solidFill>
                <a:srgbClr val="9FB3D1"/>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we're [team] from [institution], and this is GlycoTwin AI. It's a digital-twin prototype that takes a virtual patient's glucose timeline and turns it into a transparent, inspectable two-hour excursion score. One thing up front: everything you'll see uses synthetic data, and the score is an experimental heuristic, not a trained model. We'll be clear about what works today and what is still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Glucose isn't a single number, it's a moving signal. A lab value like HbA1c summarises weeks of average glucose, but it can't show how glucose is moving right now. Sensor-style readings can. This chart is real output from our prototype's synthetic data, not a patient. Our question is whether recent readings can give a simple, inspectable signal of a possible rise above 180 mg/dL in the next two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approach is a digital twin of a virtual patient. On the left are the two inputs: a profile and a glucose timeline. The twin holds them together as one patient state, and from it the prototype produces an experimental two-hour score and a historical replay. To be precise, today's twin is a data model. It does not simulate physiology, and we don't claim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journey. Pick a virtual patient, review the profile, look at the last two hours of readings, then inspect the experimental score and its risk band. There's also a replay endpoint that lets you look at an earlier point in the timeline. In our example, GT001 shows 157.9 milligrams per decilitre and a 47.3 percent experimental score, in a Moderate band. It's a demonstration of the workflow, not a clinical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dashboard, not a mockup. One: the virtual patient selector. Two: the prediction target in the sidebar, 180 milligrams per decilitre within 120 minutes. Three: a banner that states up front that this is synthetic and not for clinical use. Four: the overview metrics, and five: the virtual patient profile. [Switch to the live demo here and scroll to the glucose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has three layers. A Streamlit dashboard for presentation, a FastAPI service exposing five endpoints, and a data-and-logic layer holding three in-memory virtual patients, a synthetic timeline generator, and the heuristic baseline. Dashboard and API talk over plain HTTP and JSON. Be upfront about the gaps: there's no database, no authentication, and no trained model service yet. Those are in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exactly what the prediction does today. It's a heuristic, a short formula, not a trained model. It starts at 0.15, adds weight when glucose is above 140, and adds weight when glucose has risen over the last 15 minutes. The result is clamped between 0.05 and 0.90 and mapped to three experimental bands. For GT001 that works out to 0.473. We report no accuracy because there's nothing to measure yet. Also note HbA1c is returned in the response but isn't used in the score. This formula becomes the baseline a trained model has to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dashboard asks for a prediction, the API looks up the patient and returns a 404 if it doesn't exist. It then generates the 24-reading synthetic timeline, extracts two features, the current glucose and the 15-minute change, applies the heuristic, and returns JSON. On the left are the five endpoints. On the right is a real response for GT001. Note that model_status says heuristic_baseline_not_trained, and feature_importance is null. The API is honest about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honest scorecard. Implemented now: the dashboard, the five-endpoint API, synthetic timelines, and the documented architecture. Experimental: the heuristic score and its bands. Planned: real datasets, a trained and evaluated model, clinician feedback, and proper security and governance. The stack is Python, FastAPI, Streamlit, Pandas, NumPy and Plotly. scikit-learn and Joblib are installed as dependencies but not yet used for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Responsible healthcare AI starts with saying what you're not. The data is synthetic, so nothing here says anything about real patients. The score isn't clinically validated. Using real data would need consent, security, access control and permitted use. And clinicians stay in charge: this does not diagnose, replace clinicians or recommend doses. The same warning sits at the top of our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roadmap has five stages. Today is the synthetic prototype. Next comes data, permitted and de-identified, with governance. Then model development with patient-level splits, compared against our heuristic baseline. Then clinician feedback, and finally a monitored pilot, only after validation and the right approvals. We're not committing to dates. The order matters more than the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GlycoTwin AI is a working, transparent foundation. A dashboard, an API and an inspectable baseline, built on synthetic data and honest about its limits. We know what's real, what's experimental and what's still ahead, and we've laid out how to get from here to evidence. Thank you, and we'd love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LOS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64240"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bg2"/>
                </a:solidFill>
              </a:rPr>
              <a:t>GLYCOTWIN AI  ·  SYNTHETIC DATA  ·  EXPERIMENTAL PROTOTYPE</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5852160" cy="1188720"/>
          </a:xfrm>
          <a:prstGeom prst="rect">
            <a:avLst/>
          </a:prstGeom>
          <a:noFill/>
          <a:ln/>
        </p:spPr>
        <p:txBody>
          <a:bodyPr wrap="square" rtlCol="0"/>
          <a:lstStyle>
            <a:lvl1pPr algn="l" indent="0" marL="0">
              <a:buNone/>
              <a:defRPr lang="en-US" sz="6600" b="1" dirty="0">
                <a:solidFill>
                  <a:schemeClr val="bg1"/>
                </a:solidFill>
              </a:defRPr>
            </a:lvl1pPr>
          </a:lstStyle>
          <a:p>
            <a:pPr algn="l" indent="0" marL="0">
              <a:buNone/>
            </a:pPr>
            <a:endParaRPr lang="en-US" sz="6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6400800" cy="219456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bg2"/>
                </a:solidFill>
              </a:rPr>
              <a:t>GLYCOTWIN AI  ·  SYNTHETIC DATA  ·  EXPERIMENTAL PROTOTYPE</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chart" Target="../charts/chart1.xml"/><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5852160" cy="1188720"/>
          </a:xfrm>
          <a:prstGeom prst="rect">
            <a:avLst/>
          </a:prstGeom>
          <a:noFill/>
          <a:ln/>
        </p:spPr>
        <p:txBody>
          <a:bodyPr wrap="square" lIns="0" tIns="0" rIns="0" bIns="0" rtlCol="0" anchor="ctr"/>
          <a:lstStyle/>
          <a:p>
            <a:pPr algn="l" indent="0" marL="0">
              <a:buNone/>
            </a:pPr>
            <a:r>
              <a:rPr lang="en-US" sz="6600" b="1" dirty="0">
                <a:solidFill>
                  <a:schemeClr val="bg1"/>
                </a:solidFill>
              </a:rPr>
              <a:t>GlycoTwin AI</a:t>
            </a:r>
            <a:endParaRPr lang="en-US" sz="6600" dirty="0"/>
          </a:p>
        </p:txBody>
      </p:sp>
      <p:sp>
        <p:nvSpPr>
          <p:cNvPr id="3" name="Shape 1"/>
          <p:cNvSpPr/>
          <p:nvPr/>
        </p:nvSpPr>
        <p:spPr>
          <a:xfrm>
            <a:off x="548640" y="640080"/>
            <a:ext cx="548640" cy="548640"/>
          </a:xfrm>
          <a:prstGeom prst="ellipse">
            <a:avLst/>
          </a:prstGeom>
          <a:solidFill>
            <a:schemeClr val="accent1">
              <a:alpha val="20000"/>
            </a:schemeClr>
          </a:solidFill>
          <a:ln w="12700">
            <a:solidFill>
              <a:schemeClr val="accent1"/>
            </a:solidFill>
            <a:prstDash val="solid"/>
          </a:ln>
        </p:spPr>
        <p:txBody>
          <a:bodyPr/>
          <a:p/>
        </p:txBody>
      </p:sp>
      <p:pic>
        <p:nvPicPr>
          <p:cNvPr id="4" name="Image 0" descr="preencoded.png">    </p:cNvPr>
          <p:cNvPicPr>
            <a:picLocks noChangeAspect="1"/>
          </p:cNvPicPr>
          <p:nvPr/>
        </p:nvPicPr>
        <p:blipFill>
          <a:blip r:embed="rId1"/>
          <a:stretch>
            <a:fillRect/>
          </a:stretch>
        </p:blipFill>
        <p:spPr>
          <a:xfrm>
            <a:off x="685800" y="777240"/>
            <a:ext cx="274320" cy="274320"/>
          </a:xfrm>
          <a:prstGeom prst="rect">
            <a:avLst/>
          </a:prstGeom>
        </p:spPr>
      </p:pic>
      <p:sp>
        <p:nvSpPr>
          <p:cNvPr id="5" name="Text 2"/>
          <p:cNvSpPr txBox="1"/>
          <p:nvPr/>
        </p:nvSpPr>
        <p:spPr>
          <a:xfrm>
            <a:off x="1234440" y="749808"/>
            <a:ext cx="3657600" cy="320040"/>
          </a:xfrm>
          <a:prstGeom prst="rect">
            <a:avLst/>
          </a:prstGeom>
          <a:noFill/>
          <a:ln/>
        </p:spPr>
        <p:txBody>
          <a:bodyPr wrap="square" lIns="0" tIns="0" rIns="0" bIns="0" rtlCol="0" anchor="ctr"/>
          <a:lstStyle/>
          <a:p>
            <a:pPr indent="0" marL="0">
              <a:buNone/>
            </a:pPr>
            <a:r>
              <a:rPr lang="en-US" sz="1200" b="1" spc="300" kern="0" dirty="0">
                <a:solidFill>
                  <a:schemeClr val="accent1"/>
                </a:solidFill>
              </a:rPr>
              <a:t>DIGITAL TWIN PROTOTYPE</a:t>
            </a:r>
            <a:endParaRPr lang="en-US" sz="1200" dirty="0"/>
          </a:p>
        </p:txBody>
      </p:sp>
      <p:sp>
        <p:nvSpPr>
          <p:cNvPr id="6" name="Text 3"/>
          <p:cNvSpPr txBox="1"/>
          <p:nvPr/>
        </p:nvSpPr>
        <p:spPr>
          <a:xfrm>
            <a:off x="548640" y="3291840"/>
            <a:ext cx="5577840" cy="1188720"/>
          </a:xfrm>
          <a:prstGeom prst="rect">
            <a:avLst/>
          </a:prstGeom>
          <a:noFill/>
          <a:ln/>
        </p:spPr>
        <p:txBody>
          <a:bodyPr wrap="square" lIns="0" tIns="0" rIns="0" bIns="0" rtlCol="0" anchor="t"/>
          <a:lstStyle/>
          <a:p>
            <a:pPr indent="0" marL="0">
              <a:buNone/>
            </a:pPr>
            <a:r>
              <a:rPr lang="en-US" sz="2200" dirty="0">
                <a:solidFill>
                  <a:schemeClr val="bg2"/>
                </a:solidFill>
              </a:rPr>
              <a:t>A transparent digital-twin prototype that turns glucose timelines into an inspectable two-hour excursion score.</a:t>
            </a:r>
            <a:endParaRPr lang="en-US" sz="2200" dirty="0"/>
          </a:p>
        </p:txBody>
      </p:sp>
      <p:sp>
        <p:nvSpPr>
          <p:cNvPr id="7" name="Text 4"/>
          <p:cNvSpPr txBox="1"/>
          <p:nvPr/>
        </p:nvSpPr>
        <p:spPr>
          <a:xfrm>
            <a:off x="548640" y="4846320"/>
            <a:ext cx="5669280" cy="320040"/>
          </a:xfrm>
          <a:prstGeom prst="rect">
            <a:avLst/>
          </a:prstGeom>
          <a:noFill/>
          <a:ln/>
        </p:spPr>
        <p:txBody>
          <a:bodyPr wrap="square" lIns="0" tIns="0" rIns="0" bIns="0" rtlCol="0" anchor="t"/>
          <a:lstStyle/>
          <a:p>
            <a:pPr indent="0" marL="0">
              <a:buNone/>
            </a:pPr>
            <a:r>
              <a:rPr lang="en-US" sz="1600" b="1" dirty="0">
                <a:solidFill>
                  <a:schemeClr val="accent1"/>
                </a:solidFill>
              </a:rPr>
              <a:t>Happiest Health Digital Twin Challenge 2026</a:t>
            </a:r>
            <a:endParaRPr lang="en-US" sz="1600" dirty="0"/>
          </a:p>
        </p:txBody>
      </p:sp>
      <p:sp>
        <p:nvSpPr>
          <p:cNvPr id="8" name="Text 5"/>
          <p:cNvSpPr txBox="1"/>
          <p:nvPr/>
        </p:nvSpPr>
        <p:spPr>
          <a:xfrm>
            <a:off x="548640" y="5212080"/>
            <a:ext cx="5669280" cy="320040"/>
          </a:xfrm>
          <a:prstGeom prst="rect">
            <a:avLst/>
          </a:prstGeom>
          <a:noFill/>
          <a:ln/>
        </p:spPr>
        <p:txBody>
          <a:bodyPr wrap="square" lIns="0" tIns="0" rIns="0" bIns="0" rtlCol="0" anchor="t"/>
          <a:lstStyle/>
          <a:p>
            <a:pPr indent="0" marL="0">
              <a:buNone/>
            </a:pPr>
            <a:r>
              <a:rPr lang="en-US" sz="1400" dirty="0">
                <a:solidFill>
                  <a:schemeClr val="bg2"/>
                </a:solidFill>
              </a:rPr>
              <a:t>[Team name]   ·   [Institution]</a:t>
            </a:r>
            <a:endParaRPr lang="en-US" sz="1400" dirty="0"/>
          </a:p>
        </p:txBody>
      </p:sp>
      <p:sp>
        <p:nvSpPr>
          <p:cNvPr id="9" name="Shape 6"/>
          <p:cNvSpPr/>
          <p:nvPr/>
        </p:nvSpPr>
        <p:spPr>
          <a:xfrm>
            <a:off x="548640" y="5989320"/>
            <a:ext cx="1737360" cy="292608"/>
          </a:xfrm>
          <a:prstGeom prst="roundRect">
            <a:avLst>
              <a:gd name="adj" fmla="val 50000"/>
            </a:avLst>
          </a:prstGeom>
          <a:solidFill>
            <a:schemeClr val="accent4">
              <a:alpha val="18000"/>
            </a:schemeClr>
          </a:solidFill>
          <a:ln w="9525">
            <a:solidFill>
              <a:schemeClr val="accent4"/>
            </a:solidFill>
            <a:prstDash val="solid"/>
          </a:ln>
        </p:spPr>
        <p:txBody>
          <a:bodyPr/>
          <a:p/>
        </p:txBody>
      </p:sp>
      <p:sp>
        <p:nvSpPr>
          <p:cNvPr id="10" name="Text 7"/>
          <p:cNvSpPr txBox="1"/>
          <p:nvPr/>
        </p:nvSpPr>
        <p:spPr>
          <a:xfrm>
            <a:off x="548640" y="5989320"/>
            <a:ext cx="1737360" cy="292608"/>
          </a:xfrm>
          <a:prstGeom prst="rect">
            <a:avLst/>
          </a:prstGeom>
          <a:noFill/>
          <a:ln/>
        </p:spPr>
        <p:txBody>
          <a:bodyPr wrap="square" lIns="0" tIns="0" rIns="0" bIns="0" rtlCol="0" anchor="ctr"/>
          <a:lstStyle/>
          <a:p>
            <a:pPr algn="ctr" indent="0" marL="0">
              <a:buNone/>
            </a:pPr>
            <a:r>
              <a:rPr lang="en-US" sz="1100" b="1" spc="100" kern="0" dirty="0">
                <a:solidFill>
                  <a:schemeClr val="accent4"/>
                </a:solidFill>
              </a:rPr>
              <a:t>SYNTHETIC DATA</a:t>
            </a:r>
            <a:endParaRPr lang="en-US" sz="1100" dirty="0"/>
          </a:p>
        </p:txBody>
      </p:sp>
      <p:sp>
        <p:nvSpPr>
          <p:cNvPr id="11" name="Shape 8"/>
          <p:cNvSpPr/>
          <p:nvPr/>
        </p:nvSpPr>
        <p:spPr>
          <a:xfrm>
            <a:off x="2423160" y="5989320"/>
            <a:ext cx="2468880" cy="292608"/>
          </a:xfrm>
          <a:prstGeom prst="roundRect">
            <a:avLst>
              <a:gd name="adj" fmla="val 50000"/>
            </a:avLst>
          </a:prstGeom>
          <a:solidFill>
            <a:schemeClr val="accent4">
              <a:alpha val="18000"/>
            </a:schemeClr>
          </a:solidFill>
          <a:ln w="9525">
            <a:solidFill>
              <a:schemeClr val="accent4"/>
            </a:solidFill>
            <a:prstDash val="solid"/>
          </a:ln>
        </p:spPr>
        <p:txBody>
          <a:bodyPr/>
          <a:p/>
        </p:txBody>
      </p:sp>
      <p:sp>
        <p:nvSpPr>
          <p:cNvPr id="12" name="Text 9"/>
          <p:cNvSpPr txBox="1"/>
          <p:nvPr/>
        </p:nvSpPr>
        <p:spPr>
          <a:xfrm>
            <a:off x="2423160" y="5989320"/>
            <a:ext cx="2468880" cy="292608"/>
          </a:xfrm>
          <a:prstGeom prst="rect">
            <a:avLst/>
          </a:prstGeom>
          <a:noFill/>
          <a:ln/>
        </p:spPr>
        <p:txBody>
          <a:bodyPr wrap="square" lIns="0" tIns="0" rIns="0" bIns="0" rtlCol="0" anchor="ctr"/>
          <a:lstStyle/>
          <a:p>
            <a:pPr algn="ctr" indent="0" marL="0">
              <a:buNone/>
            </a:pPr>
            <a:r>
              <a:rPr lang="en-US" sz="1100" b="1" spc="100" kern="0" dirty="0">
                <a:solidFill>
                  <a:schemeClr val="accent4"/>
                </a:solidFill>
              </a:rPr>
              <a:t>EXPERIMENTAL PROTOTYPE</a:t>
            </a:r>
            <a:endParaRPr lang="en-US" sz="1100" dirty="0"/>
          </a:p>
        </p:txBody>
      </p:sp>
      <p:pic>
        <p:nvPicPr>
          <p:cNvPr id="13" name="Image 1" descr="assets/curve.png">    </p:cNvPr>
          <p:cNvPicPr>
            <a:picLocks noChangeAspect="1"/>
          </p:cNvPicPr>
          <p:nvPr/>
        </p:nvPicPr>
        <p:blipFill>
          <a:blip r:embed="rId2"/>
          <a:stretch>
            <a:fillRect/>
          </a:stretch>
        </p:blipFill>
        <p:spPr>
          <a:xfrm>
            <a:off x="6309360" y="1280160"/>
            <a:ext cx="5394960" cy="3547872"/>
          </a:xfrm>
          <a:prstGeom prst="rect">
            <a:avLst/>
          </a:prstGeom>
        </p:spPr>
      </p:pic>
      <p:sp>
        <p:nvSpPr>
          <p:cNvPr id="14" name="Text 10"/>
          <p:cNvSpPr txBox="1"/>
          <p:nvPr/>
        </p:nvSpPr>
        <p:spPr>
          <a:xfrm>
            <a:off x="9509760" y="1757680"/>
            <a:ext cx="2194560" cy="274320"/>
          </a:xfrm>
          <a:prstGeom prst="rect">
            <a:avLst/>
          </a:prstGeom>
          <a:noFill/>
          <a:ln/>
        </p:spPr>
        <p:txBody>
          <a:bodyPr wrap="square" lIns="0" tIns="0" rIns="0" bIns="0" rtlCol="0" anchor="t"/>
          <a:lstStyle/>
          <a:p>
            <a:pPr algn="r" indent="0" marL="0">
              <a:buNone/>
            </a:pPr>
            <a:r>
              <a:rPr lang="en-US" sz="1200" b="1" dirty="0">
                <a:solidFill>
                  <a:schemeClr val="accent4"/>
                </a:solidFill>
              </a:rPr>
              <a:t>180 mg/dL threshold</a:t>
            </a:r>
            <a:endParaRPr lang="en-US" sz="1200" dirty="0"/>
          </a:p>
        </p:txBody>
      </p:sp>
      <p:sp>
        <p:nvSpPr>
          <p:cNvPr id="15" name="Text 11"/>
          <p:cNvSpPr txBox="1"/>
          <p:nvPr/>
        </p:nvSpPr>
        <p:spPr>
          <a:xfrm>
            <a:off x="6400800" y="4937760"/>
            <a:ext cx="292608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LAST 2 HOURS · synthetic readings</a:t>
            </a:r>
            <a:endParaRPr lang="en-US" sz="1100" dirty="0"/>
          </a:p>
        </p:txBody>
      </p:sp>
      <p:sp>
        <p:nvSpPr>
          <p:cNvPr id="16" name="Text 12"/>
          <p:cNvSpPr txBox="1"/>
          <p:nvPr/>
        </p:nvSpPr>
        <p:spPr>
          <a:xfrm>
            <a:off x="8778240" y="4937760"/>
            <a:ext cx="2926080" cy="274320"/>
          </a:xfrm>
          <a:prstGeom prst="rect">
            <a:avLst/>
          </a:prstGeom>
          <a:noFill/>
          <a:ln/>
        </p:spPr>
        <p:txBody>
          <a:bodyPr wrap="square" lIns="0" tIns="0" rIns="0" bIns="0" rtlCol="0" anchor="t"/>
          <a:lstStyle/>
          <a:p>
            <a:pPr algn="r" indent="0" marL="0">
              <a:buNone/>
            </a:pPr>
            <a:r>
              <a:rPr lang="en-US" sz="1100" b="1" spc="100" kern="0" dirty="0">
                <a:solidFill>
                  <a:schemeClr val="accent1"/>
                </a:solidFill>
              </a:rPr>
              <a:t>NEXT 120 MIN · experimental score</a:t>
            </a:r>
            <a:endParaRPr lang="en-US" sz="1100" dirty="0"/>
          </a:p>
        </p:txBody>
      </p:sp>
      <p:sp>
        <p:nvSpPr>
          <p:cNvPr id="17" name="Text 13"/>
          <p:cNvSpPr txBox="1"/>
          <p:nvPr/>
        </p:nvSpPr>
        <p:spPr>
          <a:xfrm>
            <a:off x="6309360" y="5303520"/>
            <a:ext cx="5394960" cy="274320"/>
          </a:xfrm>
          <a:prstGeom prst="rect">
            <a:avLst/>
          </a:prstGeom>
          <a:noFill/>
          <a:ln/>
        </p:spPr>
        <p:txBody>
          <a:bodyPr wrap="square" lIns="0" tIns="0" rIns="0" bIns="0" rtlCol="0" anchor="t"/>
          <a:lstStyle/>
          <a:p>
            <a:pPr indent="0" marL="0">
              <a:buNone/>
            </a:pPr>
            <a:r>
              <a:rPr lang="en-US" sz="1000" dirty="0">
                <a:solidFill>
                  <a:schemeClr val="bg2"/>
                </a:solidFill>
              </a:rPr>
              <a:t>Curve: GT001 synthetic readings generated by the prototype API.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400" b="1" dirty="0">
                <a:solidFill>
                  <a:schemeClr val="bg1"/>
                </a:solidFill>
              </a:rPr>
              <a:t>A single lab value can't show how glucose moves</a:t>
            </a:r>
            <a:endParaRPr lang="en-US" sz="3400" dirty="0"/>
          </a:p>
        </p:txBody>
      </p:sp>
      <p:sp>
        <p:nvSpPr>
          <p:cNvPr id="3" name="Text 1"/>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THE PROBLEM</a:t>
            </a:r>
            <a:endParaRPr lang="en-US" sz="1200" dirty="0"/>
          </a:p>
        </p:txBody>
      </p:sp>
      <p:sp>
        <p:nvSpPr>
          <p:cNvPr id="4" name="card"/>
          <p:cNvSpPr/>
          <p:nvPr/>
        </p:nvSpPr>
        <p:spPr>
          <a:xfrm>
            <a:off x="548640" y="1645920"/>
            <a:ext cx="4206240" cy="1783080"/>
          </a:xfrm>
          <a:prstGeom prst="roundRect">
            <a:avLst>
              <a:gd name="adj" fmla="val 6154"/>
            </a:avLst>
          </a:prstGeom>
          <a:solidFill>
            <a:schemeClr val="tx2"/>
          </a:solidFill>
          <a:ln w="9525">
            <a:solidFill>
              <a:schemeClr val="accent6"/>
            </a:solidFill>
            <a:prstDash val="solid"/>
          </a:ln>
        </p:spPr>
        <p:txBody>
          <a:bodyPr/>
          <a:p/>
        </p:txBody>
      </p:sp>
      <p:sp>
        <p:nvSpPr>
          <p:cNvPr id="5" name="Shape 3"/>
          <p:cNvSpPr/>
          <p:nvPr/>
        </p:nvSpPr>
        <p:spPr>
          <a:xfrm>
            <a:off x="777240" y="1874520"/>
            <a:ext cx="502920" cy="502920"/>
          </a:xfrm>
          <a:prstGeom prst="ellipse">
            <a:avLst/>
          </a:prstGeom>
          <a:solidFill>
            <a:schemeClr val="accent5">
              <a:alpha val="20000"/>
            </a:schemeClr>
          </a:solidFill>
          <a:ln w="12700">
            <a:solidFill>
              <a:schemeClr val="accent5"/>
            </a:solidFill>
            <a:prstDash val="solid"/>
          </a:ln>
        </p:spPr>
        <p:txBody>
          <a:bodyPr/>
          <a:p/>
        </p:txBody>
      </p:sp>
      <p:pic>
        <p:nvPicPr>
          <p:cNvPr id="6" name="Image 0" descr="preencoded.png">    </p:cNvPr>
          <p:cNvPicPr>
            <a:picLocks noChangeAspect="1"/>
          </p:cNvPicPr>
          <p:nvPr/>
        </p:nvPicPr>
        <p:blipFill>
          <a:blip r:embed="rId1"/>
          <a:stretch>
            <a:fillRect/>
          </a:stretch>
        </p:blipFill>
        <p:spPr>
          <a:xfrm>
            <a:off x="902970" y="2000250"/>
            <a:ext cx="251460" cy="251460"/>
          </a:xfrm>
          <a:prstGeom prst="rect">
            <a:avLst/>
          </a:prstGeom>
        </p:spPr>
      </p:pic>
      <p:sp>
        <p:nvSpPr>
          <p:cNvPr id="7" name="Text 4"/>
          <p:cNvSpPr txBox="1"/>
          <p:nvPr/>
        </p:nvSpPr>
        <p:spPr>
          <a:xfrm>
            <a:off x="1417320" y="1847088"/>
            <a:ext cx="3154680" cy="320040"/>
          </a:xfrm>
          <a:prstGeom prst="rect">
            <a:avLst/>
          </a:prstGeom>
          <a:noFill/>
          <a:ln/>
        </p:spPr>
        <p:txBody>
          <a:bodyPr wrap="square" lIns="0" tIns="0" rIns="0" bIns="0" rtlCol="0" anchor="t"/>
          <a:lstStyle/>
          <a:p>
            <a:pPr indent="0" marL="0">
              <a:buNone/>
            </a:pPr>
            <a:r>
              <a:rPr lang="en-US" sz="1600" b="1" dirty="0">
                <a:solidFill>
                  <a:schemeClr val="bg1"/>
                </a:solidFill>
              </a:rPr>
              <a:t>A snapshot</a:t>
            </a:r>
            <a:endParaRPr lang="en-US" sz="1600" dirty="0"/>
          </a:p>
        </p:txBody>
      </p:sp>
      <p:sp>
        <p:nvSpPr>
          <p:cNvPr id="8" name="Text 5"/>
          <p:cNvSpPr txBox="1"/>
          <p:nvPr/>
        </p:nvSpPr>
        <p:spPr>
          <a:xfrm>
            <a:off x="1417320" y="2194560"/>
            <a:ext cx="3154680" cy="1097280"/>
          </a:xfrm>
          <a:prstGeom prst="rect">
            <a:avLst/>
          </a:prstGeom>
          <a:noFill/>
          <a:ln/>
        </p:spPr>
        <p:txBody>
          <a:bodyPr wrap="square" lIns="0" tIns="0" rIns="0" bIns="0" rtlCol="0" anchor="t"/>
          <a:lstStyle/>
          <a:p>
            <a:pPr indent="0" marL="0">
              <a:buNone/>
            </a:pPr>
            <a:r>
              <a:rPr lang="en-US" sz="1300" dirty="0">
                <a:solidFill>
                  <a:schemeClr val="bg2"/>
                </a:solidFill>
              </a:rPr>
              <a:t>HbA1c summarises average glucose over weeks. It does not show swings hour to hour.</a:t>
            </a:r>
            <a:endParaRPr lang="en-US" sz="1300" dirty="0"/>
          </a:p>
        </p:txBody>
      </p:sp>
      <p:sp>
        <p:nvSpPr>
          <p:cNvPr id="9" name="card"/>
          <p:cNvSpPr/>
          <p:nvPr/>
        </p:nvSpPr>
        <p:spPr>
          <a:xfrm>
            <a:off x="548640" y="3611880"/>
            <a:ext cx="4206240" cy="1783080"/>
          </a:xfrm>
          <a:prstGeom prst="roundRect">
            <a:avLst>
              <a:gd name="adj" fmla="val 6154"/>
            </a:avLst>
          </a:prstGeom>
          <a:solidFill>
            <a:schemeClr val="tx2"/>
          </a:solidFill>
          <a:ln w="9525">
            <a:solidFill>
              <a:schemeClr val="accent6"/>
            </a:solidFill>
            <a:prstDash val="solid"/>
          </a:ln>
        </p:spPr>
        <p:txBody>
          <a:bodyPr/>
          <a:p/>
        </p:txBody>
      </p:sp>
      <p:sp>
        <p:nvSpPr>
          <p:cNvPr id="10" name="Shape 7"/>
          <p:cNvSpPr/>
          <p:nvPr/>
        </p:nvSpPr>
        <p:spPr>
          <a:xfrm>
            <a:off x="777240" y="3840480"/>
            <a:ext cx="502920" cy="502920"/>
          </a:xfrm>
          <a:prstGeom prst="ellipse">
            <a:avLst/>
          </a:prstGeom>
          <a:solidFill>
            <a:schemeClr val="accent2">
              <a:alpha val="20000"/>
            </a:schemeClr>
          </a:solidFill>
          <a:ln w="12700">
            <a:solidFill>
              <a:schemeClr val="accent2"/>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902970" y="3966210"/>
            <a:ext cx="251460" cy="251460"/>
          </a:xfrm>
          <a:prstGeom prst="rect">
            <a:avLst/>
          </a:prstGeom>
        </p:spPr>
      </p:pic>
      <p:sp>
        <p:nvSpPr>
          <p:cNvPr id="12" name="Text 8"/>
          <p:cNvSpPr txBox="1"/>
          <p:nvPr/>
        </p:nvSpPr>
        <p:spPr>
          <a:xfrm>
            <a:off x="1417320" y="3813048"/>
            <a:ext cx="3154680" cy="320040"/>
          </a:xfrm>
          <a:prstGeom prst="rect">
            <a:avLst/>
          </a:prstGeom>
          <a:noFill/>
          <a:ln/>
        </p:spPr>
        <p:txBody>
          <a:bodyPr wrap="square" lIns="0" tIns="0" rIns="0" bIns="0" rtlCol="0" anchor="t"/>
          <a:lstStyle/>
          <a:p>
            <a:pPr indent="0" marL="0">
              <a:buNone/>
            </a:pPr>
            <a:r>
              <a:rPr lang="en-US" sz="1600" b="1" dirty="0">
                <a:solidFill>
                  <a:schemeClr val="bg1"/>
                </a:solidFill>
              </a:rPr>
              <a:t>A timeline</a:t>
            </a:r>
            <a:endParaRPr lang="en-US" sz="1600" dirty="0"/>
          </a:p>
        </p:txBody>
      </p:sp>
      <p:sp>
        <p:nvSpPr>
          <p:cNvPr id="13" name="Text 9"/>
          <p:cNvSpPr txBox="1"/>
          <p:nvPr/>
        </p:nvSpPr>
        <p:spPr>
          <a:xfrm>
            <a:off x="1417320" y="4160520"/>
            <a:ext cx="3154680" cy="1097280"/>
          </a:xfrm>
          <a:prstGeom prst="rect">
            <a:avLst/>
          </a:prstGeom>
          <a:noFill/>
          <a:ln/>
        </p:spPr>
        <p:txBody>
          <a:bodyPr wrap="square" lIns="0" tIns="0" rIns="0" bIns="0" rtlCol="0" anchor="t"/>
          <a:lstStyle/>
          <a:p>
            <a:pPr indent="0" marL="0">
              <a:buNone/>
            </a:pPr>
            <a:r>
              <a:rPr lang="en-US" sz="1300" dirty="0">
                <a:solidFill>
                  <a:schemeClr val="bg2"/>
                </a:solidFill>
              </a:rPr>
              <a:t>384 recent readings at 15-minute intervals show direction, swings and speed of change.</a:t>
            </a:r>
            <a:endParaRPr lang="en-US" sz="1300" dirty="0"/>
          </a:p>
        </p:txBody>
      </p:sp>
      <p:sp>
        <p:nvSpPr>
          <p:cNvPr id="14" name="card"/>
          <p:cNvSpPr/>
          <p:nvPr/>
        </p:nvSpPr>
        <p:spPr>
          <a:xfrm>
            <a:off x="5029200" y="1645920"/>
            <a:ext cx="6611112" cy="3749040"/>
          </a:xfrm>
          <a:prstGeom prst="roundRect">
            <a:avLst>
              <a:gd name="adj" fmla="val 2927"/>
            </a:avLst>
          </a:prstGeom>
          <a:solidFill>
            <a:schemeClr val="tx2"/>
          </a:solidFill>
          <a:ln w="9525">
            <a:solidFill>
              <a:schemeClr val="accent6"/>
            </a:solidFill>
            <a:prstDash val="solid"/>
          </a:ln>
        </p:spPr>
        <p:txBody>
          <a:bodyPr/>
          <a:p/>
        </p:txBody>
      </p:sp>
      <p:sp>
        <p:nvSpPr>
          <p:cNvPr id="15" name="Text 11"/>
          <p:cNvSpPr txBox="1"/>
          <p:nvPr/>
        </p:nvSpPr>
        <p:spPr>
          <a:xfrm>
            <a:off x="5303520" y="1810512"/>
            <a:ext cx="6035040" cy="274320"/>
          </a:xfrm>
          <a:prstGeom prst="rect">
            <a:avLst/>
          </a:prstGeom>
          <a:noFill/>
          <a:ln/>
        </p:spPr>
        <p:txBody>
          <a:bodyPr wrap="square" lIns="0" tIns="0" rIns="0" bIns="0" rtlCol="0" anchor="t"/>
          <a:lstStyle/>
          <a:p>
            <a:pPr indent="0" marL="0">
              <a:buNone/>
            </a:pPr>
            <a:r>
              <a:rPr lang="en-US" sz="1200" b="1" dirty="0">
                <a:solidFill>
                  <a:schemeClr val="accent1"/>
                </a:solidFill>
              </a:rPr>
              <a:t>GT-024 · synthetic CGM-like readings · prototype output</a:t>
            </a:r>
            <a:endParaRPr lang="en-US" sz="1200" dirty="0"/>
          </a:p>
        </p:txBody>
      </p:sp>
      <p:graphicFrame>
        <p:nvGraphicFramePr>
          <p:cNvPr id="16" name="Chart 0" descr=""/>
          <p:cNvGraphicFramePr/>
          <p:nvPr/>
        </p:nvGraphicFramePr>
        <p:xfrm>
          <a:off x="5212080" y="2148840"/>
          <a:ext cx="6263640" cy="3154680"/>
        </p:xfrm>
        <a:graphic xmlns:a="http://schemas.openxmlformats.org/drawingml/2006/main">
          <a:graphicData uri="http://schemas.openxmlformats.org/drawingml/2006/chart">
            <c:chart xmlns:c="http://schemas.openxmlformats.org/drawingml/2006/chart" r:id="rId3"/>
          </a:graphicData>
        </a:graphic>
      </p:graphicFrame>
      <p:sp>
        <p:nvSpPr>
          <p:cNvPr id="17" name="card"/>
          <p:cNvSpPr/>
          <p:nvPr/>
        </p:nvSpPr>
        <p:spPr>
          <a:xfrm>
            <a:off x="548640" y="5577840"/>
            <a:ext cx="11091672" cy="594360"/>
          </a:xfrm>
          <a:prstGeom prst="roundRect">
            <a:avLst>
              <a:gd name="adj" fmla="val 18462"/>
            </a:avLst>
          </a:prstGeom>
          <a:solidFill>
            <a:schemeClr val="accent6"/>
          </a:solidFill>
          <a:ln w="9525">
            <a:solidFill>
              <a:schemeClr val="accent6"/>
            </a:solidFill>
            <a:prstDash val="solid"/>
          </a:ln>
        </p:spPr>
        <p:txBody>
          <a:bodyPr/>
          <a:p/>
        </p:txBody>
      </p:sp>
      <p:sp>
        <p:nvSpPr>
          <p:cNvPr id="18" name="Text 13"/>
          <p:cNvSpPr txBox="1"/>
          <p:nvPr/>
        </p:nvSpPr>
        <p:spPr>
          <a:xfrm>
            <a:off x="777240" y="5577840"/>
            <a:ext cx="10607040" cy="594360"/>
          </a:xfrm>
          <a:prstGeom prst="rect">
            <a:avLst/>
          </a:prstGeom>
          <a:noFill/>
          <a:ln/>
        </p:spPr>
        <p:txBody>
          <a:bodyPr wrap="square" lIns="0" tIns="0" rIns="0" bIns="0" rtlCol="0" anchor="ctr"/>
          <a:lstStyle/>
          <a:p>
            <a:pPr indent="0" marL="0">
              <a:buNone/>
            </a:pPr>
            <a:r>
              <a:rPr lang="en-US" sz="1500" b="1" dirty="0">
                <a:solidFill>
                  <a:schemeClr val="accent1"/>
                </a:solidFill>
              </a:rPr>
              <a:t>Our question: can recent readings give an inspectable signal of a likely rise above 180 mg/dL within two hours?</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400" b="1" dirty="0">
                <a:solidFill>
                  <a:schemeClr val="bg1"/>
                </a:solidFill>
              </a:rPr>
              <a:t>A digital twin built from profile and timeline</a:t>
            </a:r>
            <a:endParaRPr lang="en-US" sz="3400" dirty="0"/>
          </a:p>
        </p:txBody>
      </p:sp>
      <p:sp>
        <p:nvSpPr>
          <p:cNvPr id="3" name="Text 1"/>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OUR APPROACH</a:t>
            </a:r>
            <a:endParaRPr lang="en-US" sz="1200" dirty="0"/>
          </a:p>
        </p:txBody>
      </p:sp>
      <p:sp>
        <p:nvSpPr>
          <p:cNvPr id="4" name="card"/>
          <p:cNvSpPr/>
          <p:nvPr/>
        </p:nvSpPr>
        <p:spPr>
          <a:xfrm>
            <a:off x="548640" y="1737360"/>
            <a:ext cx="3291840" cy="1417320"/>
          </a:xfrm>
          <a:prstGeom prst="roundRect">
            <a:avLst>
              <a:gd name="adj" fmla="val 7742"/>
            </a:avLst>
          </a:prstGeom>
          <a:solidFill>
            <a:schemeClr val="tx2"/>
          </a:solidFill>
          <a:ln w="9525">
            <a:solidFill>
              <a:schemeClr val="accent6"/>
            </a:solidFill>
            <a:prstDash val="solid"/>
          </a:ln>
        </p:spPr>
        <p:txBody>
          <a:bodyPr/>
          <a:p/>
        </p:txBody>
      </p:sp>
      <p:sp>
        <p:nvSpPr>
          <p:cNvPr id="5" name="Shape 3"/>
          <p:cNvSpPr/>
          <p:nvPr/>
        </p:nvSpPr>
        <p:spPr>
          <a:xfrm>
            <a:off x="777240" y="1965960"/>
            <a:ext cx="502920" cy="502920"/>
          </a:xfrm>
          <a:prstGeom prst="ellipse">
            <a:avLst/>
          </a:prstGeom>
          <a:solidFill>
            <a:schemeClr val="accent5">
              <a:alpha val="20000"/>
            </a:schemeClr>
          </a:solidFill>
          <a:ln w="12700">
            <a:solidFill>
              <a:schemeClr val="accent5"/>
            </a:solidFill>
            <a:prstDash val="solid"/>
          </a:ln>
        </p:spPr>
        <p:txBody>
          <a:bodyPr/>
          <a:p/>
        </p:txBody>
      </p:sp>
      <p:pic>
        <p:nvPicPr>
          <p:cNvPr id="6" name="Image 0" descr="preencoded.png">    </p:cNvPr>
          <p:cNvPicPr>
            <a:picLocks noChangeAspect="1"/>
          </p:cNvPicPr>
          <p:nvPr/>
        </p:nvPicPr>
        <p:blipFill>
          <a:blip r:embed="rId1"/>
          <a:stretch>
            <a:fillRect/>
          </a:stretch>
        </p:blipFill>
        <p:spPr>
          <a:xfrm>
            <a:off x="902970" y="2091690"/>
            <a:ext cx="251460" cy="251460"/>
          </a:xfrm>
          <a:prstGeom prst="rect">
            <a:avLst/>
          </a:prstGeom>
        </p:spPr>
      </p:pic>
      <p:sp>
        <p:nvSpPr>
          <p:cNvPr id="7" name="Text 4"/>
          <p:cNvSpPr txBox="1"/>
          <p:nvPr/>
        </p:nvSpPr>
        <p:spPr>
          <a:xfrm>
            <a:off x="1417320" y="1938528"/>
            <a:ext cx="2240280" cy="320040"/>
          </a:xfrm>
          <a:prstGeom prst="rect">
            <a:avLst/>
          </a:prstGeom>
          <a:noFill/>
          <a:ln/>
        </p:spPr>
        <p:txBody>
          <a:bodyPr wrap="square" lIns="0" tIns="0" rIns="0" bIns="0" rtlCol="0" anchor="t"/>
          <a:lstStyle/>
          <a:p>
            <a:pPr indent="0" marL="0">
              <a:buNone/>
            </a:pPr>
            <a:r>
              <a:rPr lang="en-US" sz="1600" b="1" dirty="0">
                <a:solidFill>
                  <a:schemeClr val="bg1"/>
                </a:solidFill>
              </a:rPr>
              <a:t>Virtual patient profile</a:t>
            </a:r>
            <a:endParaRPr lang="en-US" sz="1600" dirty="0"/>
          </a:p>
        </p:txBody>
      </p:sp>
      <p:sp>
        <p:nvSpPr>
          <p:cNvPr id="8" name="Text 5"/>
          <p:cNvSpPr txBox="1"/>
          <p:nvPr/>
        </p:nvSpPr>
        <p:spPr>
          <a:xfrm>
            <a:off x="1417320" y="2286000"/>
            <a:ext cx="2240280" cy="731520"/>
          </a:xfrm>
          <a:prstGeom prst="rect">
            <a:avLst/>
          </a:prstGeom>
          <a:noFill/>
          <a:ln/>
        </p:spPr>
        <p:txBody>
          <a:bodyPr wrap="square" lIns="0" tIns="0" rIns="0" bIns="0" rtlCol="0" anchor="t"/>
          <a:lstStyle/>
          <a:p>
            <a:pPr indent="0" marL="0">
              <a:buNone/>
            </a:pPr>
            <a:r>
              <a:rPr lang="en-US" sz="1300" dirty="0">
                <a:solidFill>
                  <a:schemeClr val="bg2"/>
                </a:solidFill>
              </a:rPr>
              <a:t>Age, diagnosis, years since diagnosis, HbA1c, baseline glucose</a:t>
            </a:r>
            <a:endParaRPr lang="en-US" sz="1300" dirty="0"/>
          </a:p>
        </p:txBody>
      </p:sp>
      <p:sp>
        <p:nvSpPr>
          <p:cNvPr id="9" name="card"/>
          <p:cNvSpPr/>
          <p:nvPr/>
        </p:nvSpPr>
        <p:spPr>
          <a:xfrm>
            <a:off x="548640" y="3429000"/>
            <a:ext cx="3291840" cy="1417320"/>
          </a:xfrm>
          <a:prstGeom prst="roundRect">
            <a:avLst>
              <a:gd name="adj" fmla="val 7742"/>
            </a:avLst>
          </a:prstGeom>
          <a:solidFill>
            <a:schemeClr val="tx2"/>
          </a:solidFill>
          <a:ln w="9525">
            <a:solidFill>
              <a:schemeClr val="accent6"/>
            </a:solidFill>
            <a:prstDash val="solid"/>
          </a:ln>
        </p:spPr>
        <p:txBody>
          <a:bodyPr/>
          <a:p/>
        </p:txBody>
      </p:sp>
      <p:sp>
        <p:nvSpPr>
          <p:cNvPr id="10" name="Shape 7"/>
          <p:cNvSpPr/>
          <p:nvPr/>
        </p:nvSpPr>
        <p:spPr>
          <a:xfrm>
            <a:off x="777240" y="3657600"/>
            <a:ext cx="502920" cy="502920"/>
          </a:xfrm>
          <a:prstGeom prst="ellipse">
            <a:avLst/>
          </a:prstGeom>
          <a:solidFill>
            <a:schemeClr val="accent2">
              <a:alpha val="20000"/>
            </a:schemeClr>
          </a:solidFill>
          <a:ln w="12700">
            <a:solidFill>
              <a:schemeClr val="accent2"/>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902970" y="3783330"/>
            <a:ext cx="251460" cy="251460"/>
          </a:xfrm>
          <a:prstGeom prst="rect">
            <a:avLst/>
          </a:prstGeom>
        </p:spPr>
      </p:pic>
      <p:sp>
        <p:nvSpPr>
          <p:cNvPr id="12" name="Text 8"/>
          <p:cNvSpPr txBox="1"/>
          <p:nvPr/>
        </p:nvSpPr>
        <p:spPr>
          <a:xfrm>
            <a:off x="1417320" y="3630168"/>
            <a:ext cx="2240280" cy="320040"/>
          </a:xfrm>
          <a:prstGeom prst="rect">
            <a:avLst/>
          </a:prstGeom>
          <a:noFill/>
          <a:ln/>
        </p:spPr>
        <p:txBody>
          <a:bodyPr wrap="square" lIns="0" tIns="0" rIns="0" bIns="0" rtlCol="0" anchor="t"/>
          <a:lstStyle/>
          <a:p>
            <a:pPr indent="0" marL="0">
              <a:buNone/>
            </a:pPr>
            <a:r>
              <a:rPr lang="en-US" sz="1600" b="1" dirty="0">
                <a:solidFill>
                  <a:schemeClr val="bg1"/>
                </a:solidFill>
              </a:rPr>
              <a:t>Glucose timeline</a:t>
            </a:r>
            <a:endParaRPr lang="en-US" sz="1600" dirty="0"/>
          </a:p>
        </p:txBody>
      </p:sp>
      <p:sp>
        <p:nvSpPr>
          <p:cNvPr id="13" name="Text 9"/>
          <p:cNvSpPr txBox="1"/>
          <p:nvPr/>
        </p:nvSpPr>
        <p:spPr>
          <a:xfrm>
            <a:off x="1417320" y="3977640"/>
            <a:ext cx="2240280" cy="731520"/>
          </a:xfrm>
          <a:prstGeom prst="rect">
            <a:avLst/>
          </a:prstGeom>
          <a:noFill/>
          <a:ln/>
        </p:spPr>
        <p:txBody>
          <a:bodyPr wrap="square" lIns="0" tIns="0" rIns="0" bIns="0" rtlCol="0" anchor="t"/>
          <a:lstStyle/>
          <a:p>
            <a:pPr indent="0" marL="0">
              <a:buNone/>
            </a:pPr>
            <a:r>
              <a:rPr lang="en-US" sz="1300" dirty="0">
                <a:solidFill>
                  <a:schemeClr val="bg2"/>
                </a:solidFill>
              </a:rPr>
              <a:t>Timestamped readings every 15 minutes</a:t>
            </a:r>
            <a:endParaRPr lang="en-US" sz="1300" dirty="0"/>
          </a:p>
        </p:txBody>
      </p:sp>
      <p:sp>
        <p:nvSpPr>
          <p:cNvPr id="14" name="Shape 10"/>
          <p:cNvSpPr/>
          <p:nvPr/>
        </p:nvSpPr>
        <p:spPr>
          <a:xfrm>
            <a:off x="3840480" y="3291840"/>
            <a:ext cx="731520" cy="0"/>
          </a:xfrm>
          <a:prstGeom prst="line">
            <a:avLst/>
          </a:prstGeom>
          <a:noFill/>
          <a:ln w="25400">
            <a:solidFill>
              <a:schemeClr val="accent1"/>
            </a:solidFill>
            <a:prstDash val="solid"/>
            <a:tailEnd type="triangle"/>
          </a:ln>
        </p:spPr>
        <p:txBody>
          <a:bodyPr/>
          <a:p/>
        </p:txBody>
      </p:sp>
      <p:sp>
        <p:nvSpPr>
          <p:cNvPr id="15" name="Shape 11"/>
          <p:cNvSpPr/>
          <p:nvPr/>
        </p:nvSpPr>
        <p:spPr>
          <a:xfrm>
            <a:off x="7589520" y="3291840"/>
            <a:ext cx="731520" cy="0"/>
          </a:xfrm>
          <a:prstGeom prst="line">
            <a:avLst/>
          </a:prstGeom>
          <a:noFill/>
          <a:ln w="25400">
            <a:solidFill>
              <a:schemeClr val="accent1"/>
            </a:solidFill>
            <a:prstDash val="solid"/>
            <a:tailEnd type="triangle"/>
          </a:ln>
        </p:spPr>
        <p:txBody>
          <a:bodyPr/>
          <a:p/>
        </p:txBody>
      </p:sp>
      <p:sp>
        <p:nvSpPr>
          <p:cNvPr id="16" name="twin"/>
          <p:cNvSpPr/>
          <p:nvPr/>
        </p:nvSpPr>
        <p:spPr>
          <a:xfrm>
            <a:off x="4572000" y="1737360"/>
            <a:ext cx="3017520" cy="3108960"/>
          </a:xfrm>
          <a:prstGeom prst="roundRect">
            <a:avLst>
              <a:gd name="adj" fmla="val 3636"/>
            </a:avLst>
          </a:prstGeom>
          <a:solidFill>
            <a:schemeClr val="tx2"/>
          </a:solidFill>
          <a:ln w="22225">
            <a:solidFill>
              <a:schemeClr val="accent1"/>
            </a:solidFill>
            <a:prstDash val="solid"/>
          </a:ln>
        </p:spPr>
        <p:txBody>
          <a:bodyPr/>
          <a:p/>
        </p:txBody>
      </p:sp>
      <p:sp>
        <p:nvSpPr>
          <p:cNvPr id="17" name="Shape 13"/>
          <p:cNvSpPr/>
          <p:nvPr/>
        </p:nvSpPr>
        <p:spPr>
          <a:xfrm>
            <a:off x="5806440" y="2011680"/>
            <a:ext cx="548640" cy="548640"/>
          </a:xfrm>
          <a:prstGeom prst="ellipse">
            <a:avLst/>
          </a:prstGeom>
          <a:solidFill>
            <a:schemeClr val="accent1">
              <a:alpha val="20000"/>
            </a:schemeClr>
          </a:solidFill>
          <a:ln w="12700">
            <a:solidFill>
              <a:schemeClr val="accent1"/>
            </a:solidFill>
            <a:prstDash val="solid"/>
          </a:ln>
        </p:spPr>
        <p:txBody>
          <a:bodyPr/>
          <a:p/>
        </p:txBody>
      </p:sp>
      <p:pic>
        <p:nvPicPr>
          <p:cNvPr id="18" name="Image 2" descr="preencoded.png">    </p:cNvPr>
          <p:cNvPicPr>
            <a:picLocks noChangeAspect="1"/>
          </p:cNvPicPr>
          <p:nvPr/>
        </p:nvPicPr>
        <p:blipFill>
          <a:blip r:embed="rId3"/>
          <a:stretch>
            <a:fillRect/>
          </a:stretch>
        </p:blipFill>
        <p:spPr>
          <a:xfrm>
            <a:off x="5943600" y="2148840"/>
            <a:ext cx="274320" cy="274320"/>
          </a:xfrm>
          <a:prstGeom prst="rect">
            <a:avLst/>
          </a:prstGeom>
        </p:spPr>
      </p:pic>
      <p:sp>
        <p:nvSpPr>
          <p:cNvPr id="19" name="Text 14"/>
          <p:cNvSpPr txBox="1"/>
          <p:nvPr/>
        </p:nvSpPr>
        <p:spPr>
          <a:xfrm>
            <a:off x="4754880" y="2743200"/>
            <a:ext cx="2651760" cy="365760"/>
          </a:xfrm>
          <a:prstGeom prst="rect">
            <a:avLst/>
          </a:prstGeom>
          <a:noFill/>
          <a:ln/>
        </p:spPr>
        <p:txBody>
          <a:bodyPr wrap="square" lIns="0" tIns="0" rIns="0" bIns="0" rtlCol="0" anchor="t"/>
          <a:lstStyle/>
          <a:p>
            <a:pPr algn="ctr" indent="0" marL="0">
              <a:buNone/>
            </a:pPr>
            <a:r>
              <a:rPr lang="en-US" sz="2000" b="1" dirty="0">
                <a:solidFill>
                  <a:schemeClr val="bg1"/>
                </a:solidFill>
              </a:rPr>
              <a:t>Virtual patient twin</a:t>
            </a:r>
            <a:endParaRPr lang="en-US" sz="2000" dirty="0"/>
          </a:p>
        </p:txBody>
      </p:sp>
      <p:sp>
        <p:nvSpPr>
          <p:cNvPr id="20" name="Text 15"/>
          <p:cNvSpPr txBox="1"/>
          <p:nvPr/>
        </p:nvSpPr>
        <p:spPr>
          <a:xfrm>
            <a:off x="4800600" y="3200400"/>
            <a:ext cx="2560320" cy="1097280"/>
          </a:xfrm>
          <a:prstGeom prst="rect">
            <a:avLst/>
          </a:prstGeom>
          <a:noFill/>
          <a:ln/>
        </p:spPr>
        <p:txBody>
          <a:bodyPr wrap="square" lIns="0" tIns="0" rIns="0" bIns="0" rtlCol="0" anchor="t"/>
          <a:lstStyle/>
          <a:p>
            <a:pPr algn="ctr" indent="0" marL="0">
              <a:buNone/>
            </a:pPr>
            <a:r>
              <a:rPr lang="en-US" sz="1400" dirty="0">
                <a:solidFill>
                  <a:schemeClr val="bg2"/>
                </a:solidFill>
              </a:rPr>
              <a:t>Profile and recent timeline held together as one patient state</a:t>
            </a:r>
            <a:endParaRPr lang="en-US" sz="1400" dirty="0"/>
          </a:p>
        </p:txBody>
      </p:sp>
      <p:sp>
        <p:nvSpPr>
          <p:cNvPr id="21" name="card"/>
          <p:cNvSpPr/>
          <p:nvPr/>
        </p:nvSpPr>
        <p:spPr>
          <a:xfrm>
            <a:off x="8321040" y="1737360"/>
            <a:ext cx="3319272" cy="1417320"/>
          </a:xfrm>
          <a:prstGeom prst="roundRect">
            <a:avLst>
              <a:gd name="adj" fmla="val 7742"/>
            </a:avLst>
          </a:prstGeom>
          <a:solidFill>
            <a:schemeClr val="tx2"/>
          </a:solidFill>
          <a:ln w="9525">
            <a:solidFill>
              <a:schemeClr val="accent6"/>
            </a:solidFill>
            <a:prstDash val="solid"/>
          </a:ln>
        </p:spPr>
        <p:txBody>
          <a:bodyPr/>
          <a:p/>
        </p:txBody>
      </p:sp>
      <p:sp>
        <p:nvSpPr>
          <p:cNvPr id="22" name="Shape 17"/>
          <p:cNvSpPr/>
          <p:nvPr/>
        </p:nvSpPr>
        <p:spPr>
          <a:xfrm>
            <a:off x="8549640" y="1965960"/>
            <a:ext cx="502920" cy="502920"/>
          </a:xfrm>
          <a:prstGeom prst="ellipse">
            <a:avLst/>
          </a:prstGeom>
          <a:solidFill>
            <a:schemeClr val="accent4">
              <a:alpha val="20000"/>
            </a:schemeClr>
          </a:solidFill>
          <a:ln w="12700">
            <a:solidFill>
              <a:schemeClr val="accent4"/>
            </a:solidFill>
            <a:prstDash val="solid"/>
          </a:ln>
        </p:spPr>
        <p:txBody>
          <a:bodyPr/>
          <a:p/>
        </p:txBody>
      </p:sp>
      <p:pic>
        <p:nvPicPr>
          <p:cNvPr id="23" name="Image 3" descr="preencoded.png">    </p:cNvPr>
          <p:cNvPicPr>
            <a:picLocks noChangeAspect="1"/>
          </p:cNvPicPr>
          <p:nvPr/>
        </p:nvPicPr>
        <p:blipFill>
          <a:blip r:embed="rId4"/>
          <a:stretch>
            <a:fillRect/>
          </a:stretch>
        </p:blipFill>
        <p:spPr>
          <a:xfrm>
            <a:off x="8675370" y="2091690"/>
            <a:ext cx="251460" cy="251460"/>
          </a:xfrm>
          <a:prstGeom prst="rect">
            <a:avLst/>
          </a:prstGeom>
        </p:spPr>
      </p:pic>
      <p:sp>
        <p:nvSpPr>
          <p:cNvPr id="24" name="Text 18"/>
          <p:cNvSpPr txBox="1"/>
          <p:nvPr/>
        </p:nvSpPr>
        <p:spPr>
          <a:xfrm>
            <a:off x="9189720" y="1938528"/>
            <a:ext cx="2267712" cy="320040"/>
          </a:xfrm>
          <a:prstGeom prst="rect">
            <a:avLst/>
          </a:prstGeom>
          <a:noFill/>
          <a:ln/>
        </p:spPr>
        <p:txBody>
          <a:bodyPr wrap="square" lIns="0" tIns="0" rIns="0" bIns="0" rtlCol="0" anchor="t"/>
          <a:lstStyle/>
          <a:p>
            <a:pPr indent="0" marL="0">
              <a:buNone/>
            </a:pPr>
            <a:r>
              <a:rPr lang="en-US" sz="1600" b="1" dirty="0">
                <a:solidFill>
                  <a:schemeClr val="bg1"/>
                </a:solidFill>
              </a:rPr>
              <a:t>Experimental 2-hour score</a:t>
            </a:r>
            <a:endParaRPr lang="en-US" sz="1600" dirty="0"/>
          </a:p>
        </p:txBody>
      </p:sp>
      <p:sp>
        <p:nvSpPr>
          <p:cNvPr id="25" name="Text 19"/>
          <p:cNvSpPr txBox="1"/>
          <p:nvPr/>
        </p:nvSpPr>
        <p:spPr>
          <a:xfrm>
            <a:off x="9189720" y="2286000"/>
            <a:ext cx="2267712" cy="731520"/>
          </a:xfrm>
          <a:prstGeom prst="rect">
            <a:avLst/>
          </a:prstGeom>
          <a:noFill/>
          <a:ln/>
        </p:spPr>
        <p:txBody>
          <a:bodyPr wrap="square" lIns="0" tIns="0" rIns="0" bIns="0" rtlCol="0" anchor="t"/>
          <a:lstStyle/>
          <a:p>
            <a:pPr indent="0" marL="0">
              <a:buNone/>
            </a:pPr>
            <a:r>
              <a:rPr lang="en-US" sz="1300" dirty="0">
                <a:solidFill>
                  <a:schemeClr val="bg2"/>
                </a:solidFill>
              </a:rPr>
              <a:t>Probability of crossing 180 mg/dL</a:t>
            </a:r>
            <a:endParaRPr lang="en-US" sz="1300" dirty="0"/>
          </a:p>
        </p:txBody>
      </p:sp>
      <p:sp>
        <p:nvSpPr>
          <p:cNvPr id="26" name="card"/>
          <p:cNvSpPr/>
          <p:nvPr/>
        </p:nvSpPr>
        <p:spPr>
          <a:xfrm>
            <a:off x="8321040" y="3429000"/>
            <a:ext cx="3319272" cy="1417320"/>
          </a:xfrm>
          <a:prstGeom prst="roundRect">
            <a:avLst>
              <a:gd name="adj" fmla="val 7742"/>
            </a:avLst>
          </a:prstGeom>
          <a:solidFill>
            <a:schemeClr val="tx2"/>
          </a:solidFill>
          <a:ln w="9525">
            <a:solidFill>
              <a:schemeClr val="accent6"/>
            </a:solidFill>
            <a:prstDash val="solid"/>
          </a:ln>
        </p:spPr>
        <p:txBody>
          <a:bodyPr/>
          <a:p/>
        </p:txBody>
      </p:sp>
      <p:sp>
        <p:nvSpPr>
          <p:cNvPr id="27" name="Shape 21"/>
          <p:cNvSpPr/>
          <p:nvPr/>
        </p:nvSpPr>
        <p:spPr>
          <a:xfrm>
            <a:off x="8549640" y="3657600"/>
            <a:ext cx="502920" cy="502920"/>
          </a:xfrm>
          <a:prstGeom prst="ellipse">
            <a:avLst/>
          </a:prstGeom>
          <a:solidFill>
            <a:schemeClr val="accent2">
              <a:alpha val="20000"/>
            </a:schemeClr>
          </a:solidFill>
          <a:ln w="12700">
            <a:solidFill>
              <a:schemeClr val="accent2"/>
            </a:solidFill>
            <a:prstDash val="solid"/>
          </a:ln>
        </p:spPr>
        <p:txBody>
          <a:bodyPr/>
          <a:p/>
        </p:txBody>
      </p:sp>
      <p:pic>
        <p:nvPicPr>
          <p:cNvPr id="28" name="Image 4" descr="preencoded.png">    </p:cNvPr>
          <p:cNvPicPr>
            <a:picLocks noChangeAspect="1"/>
          </p:cNvPicPr>
          <p:nvPr/>
        </p:nvPicPr>
        <p:blipFill>
          <a:blip r:embed="rId5"/>
          <a:stretch>
            <a:fillRect/>
          </a:stretch>
        </p:blipFill>
        <p:spPr>
          <a:xfrm>
            <a:off x="8675370" y="3783330"/>
            <a:ext cx="251460" cy="251460"/>
          </a:xfrm>
          <a:prstGeom prst="rect">
            <a:avLst/>
          </a:prstGeom>
        </p:spPr>
      </p:pic>
      <p:sp>
        <p:nvSpPr>
          <p:cNvPr id="29" name="Text 22"/>
          <p:cNvSpPr txBox="1"/>
          <p:nvPr/>
        </p:nvSpPr>
        <p:spPr>
          <a:xfrm>
            <a:off x="9189720" y="3630168"/>
            <a:ext cx="2267712" cy="320040"/>
          </a:xfrm>
          <a:prstGeom prst="rect">
            <a:avLst/>
          </a:prstGeom>
          <a:noFill/>
          <a:ln/>
        </p:spPr>
        <p:txBody>
          <a:bodyPr wrap="square" lIns="0" tIns="0" rIns="0" bIns="0" rtlCol="0" anchor="t"/>
          <a:lstStyle/>
          <a:p>
            <a:pPr indent="0" marL="0">
              <a:buNone/>
            </a:pPr>
            <a:r>
              <a:rPr lang="en-US" sz="1600" b="1" dirty="0">
                <a:solidFill>
                  <a:schemeClr val="bg1"/>
                </a:solidFill>
              </a:rPr>
              <a:t>Historical replay</a:t>
            </a:r>
            <a:endParaRPr lang="en-US" sz="1600" dirty="0"/>
          </a:p>
        </p:txBody>
      </p:sp>
      <p:sp>
        <p:nvSpPr>
          <p:cNvPr id="30" name="Text 23"/>
          <p:cNvSpPr txBox="1"/>
          <p:nvPr/>
        </p:nvSpPr>
        <p:spPr>
          <a:xfrm>
            <a:off x="9189720" y="3977640"/>
            <a:ext cx="2267712" cy="731520"/>
          </a:xfrm>
          <a:prstGeom prst="rect">
            <a:avLst/>
          </a:prstGeom>
          <a:noFill/>
          <a:ln/>
        </p:spPr>
        <p:txBody>
          <a:bodyPr wrap="square" lIns="0" tIns="0" rIns="0" bIns="0" rtlCol="0" anchor="t"/>
          <a:lstStyle/>
          <a:p>
            <a:pPr indent="0" marL="0">
              <a:buNone/>
            </a:pPr>
            <a:r>
              <a:rPr lang="en-US" sz="1300" dirty="0">
                <a:solidFill>
                  <a:schemeClr val="bg2"/>
                </a:solidFill>
              </a:rPr>
              <a:t>Step through earlier readings</a:t>
            </a:r>
            <a:endParaRPr lang="en-US" sz="1300" dirty="0"/>
          </a:p>
        </p:txBody>
      </p:sp>
      <p:sp>
        <p:nvSpPr>
          <p:cNvPr id="31" name="card"/>
          <p:cNvSpPr/>
          <p:nvPr/>
        </p:nvSpPr>
        <p:spPr>
          <a:xfrm>
            <a:off x="548640" y="5257800"/>
            <a:ext cx="11091672" cy="731520"/>
          </a:xfrm>
          <a:prstGeom prst="roundRect">
            <a:avLst>
              <a:gd name="adj" fmla="val 15000"/>
            </a:avLst>
          </a:prstGeom>
          <a:solidFill>
            <a:schemeClr val="accent6"/>
          </a:solidFill>
          <a:ln w="9525">
            <a:solidFill>
              <a:schemeClr val="accent6"/>
            </a:solidFill>
            <a:prstDash val="solid"/>
          </a:ln>
        </p:spPr>
        <p:txBody>
          <a:bodyPr/>
          <a:p/>
        </p:txBody>
      </p:sp>
      <p:sp>
        <p:nvSpPr>
          <p:cNvPr id="32" name="Text 25"/>
          <p:cNvSpPr txBox="1"/>
          <p:nvPr/>
        </p:nvSpPr>
        <p:spPr>
          <a:xfrm>
            <a:off x="777240" y="5257800"/>
            <a:ext cx="10607040" cy="731520"/>
          </a:xfrm>
          <a:prstGeom prst="rect">
            <a:avLst/>
          </a:prstGeom>
          <a:noFill/>
          <a:ln/>
        </p:spPr>
        <p:txBody>
          <a:bodyPr wrap="square" lIns="0" tIns="0" rIns="0" bIns="0" rtlCol="0" anchor="ctr"/>
          <a:lstStyle/>
          <a:p>
            <a:pPr indent="0" marL="0">
              <a:buNone/>
            </a:pPr>
            <a:r>
              <a:rPr lang="en-US" sz="1600" b="1" dirty="0">
                <a:solidFill>
                  <a:schemeClr val="bg1"/>
                </a:solidFill>
              </a:rPr>
              <a:t>Today's twin is a data model, not a physiological simulation.</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400" b="1" dirty="0">
                <a:solidFill>
                  <a:schemeClr val="bg1"/>
                </a:solidFill>
              </a:rPr>
              <a:t>From virtual patient to prediction in five steps</a:t>
            </a:r>
            <a:endParaRPr lang="en-US" sz="3400" dirty="0"/>
          </a:p>
        </p:txBody>
      </p:sp>
      <p:sp>
        <p:nvSpPr>
          <p:cNvPr id="3" name="Text 1"/>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USER JOURNEY</a:t>
            </a:r>
            <a:endParaRPr lang="en-US" sz="1200" dirty="0"/>
          </a:p>
        </p:txBody>
      </p:sp>
      <p:sp>
        <p:nvSpPr>
          <p:cNvPr id="4" name="card"/>
          <p:cNvSpPr/>
          <p:nvPr/>
        </p:nvSpPr>
        <p:spPr>
          <a:xfrm>
            <a:off x="548640" y="1691640"/>
            <a:ext cx="2103120" cy="3383280"/>
          </a:xfrm>
          <a:prstGeom prst="roundRect">
            <a:avLst>
              <a:gd name="adj" fmla="val 5217"/>
            </a:avLst>
          </a:prstGeom>
          <a:solidFill>
            <a:schemeClr val="tx2"/>
          </a:solidFill>
          <a:ln w="9525">
            <a:solidFill>
              <a:schemeClr val="accent6"/>
            </a:solidFill>
            <a:prstDash val="solid"/>
          </a:ln>
        </p:spPr>
        <p:txBody>
          <a:bodyPr/>
          <a:p/>
        </p:txBody>
      </p:sp>
      <p:sp>
        <p:nvSpPr>
          <p:cNvPr id="5" name="Text 3"/>
          <p:cNvSpPr txBox="1"/>
          <p:nvPr/>
        </p:nvSpPr>
        <p:spPr>
          <a:xfrm>
            <a:off x="777240" y="1828800"/>
            <a:ext cx="914400" cy="457200"/>
          </a:xfrm>
          <a:prstGeom prst="rect">
            <a:avLst/>
          </a:prstGeom>
          <a:noFill/>
          <a:ln/>
        </p:spPr>
        <p:txBody>
          <a:bodyPr wrap="square" lIns="0" tIns="0" rIns="0" bIns="0" rtlCol="0" anchor="t"/>
          <a:lstStyle/>
          <a:p>
            <a:pPr indent="0" marL="0">
              <a:buNone/>
            </a:pPr>
            <a:r>
              <a:rPr lang="en-US" sz="2800" b="1" dirty="0">
                <a:solidFill>
                  <a:schemeClr val="accent1"/>
                </a:solidFill>
              </a:rPr>
              <a:t>01</a:t>
            </a:r>
            <a:endParaRPr lang="en-US" sz="2800" dirty="0"/>
          </a:p>
        </p:txBody>
      </p:sp>
      <p:sp>
        <p:nvSpPr>
          <p:cNvPr id="6" name="Shape 4"/>
          <p:cNvSpPr/>
          <p:nvPr/>
        </p:nvSpPr>
        <p:spPr>
          <a:xfrm>
            <a:off x="1874520" y="1874520"/>
            <a:ext cx="548640" cy="548640"/>
          </a:xfrm>
          <a:prstGeom prst="ellipse">
            <a:avLst/>
          </a:prstGeom>
          <a:solidFill>
            <a:schemeClr val="accent1">
              <a:alpha val="20000"/>
            </a:schemeClr>
          </a:solidFill>
          <a:ln w="12700">
            <a:solidFill>
              <a:schemeClr val="accent1"/>
            </a:solidFill>
            <a:prstDash val="solid"/>
          </a:ln>
        </p:spPr>
        <p:txBody>
          <a:bodyPr/>
          <a:p/>
        </p:txBody>
      </p:sp>
      <p:pic>
        <p:nvPicPr>
          <p:cNvPr id="7" name="Image 0" descr="preencoded.png">    </p:cNvPr>
          <p:cNvPicPr>
            <a:picLocks noChangeAspect="1"/>
          </p:cNvPicPr>
          <p:nvPr/>
        </p:nvPicPr>
        <p:blipFill>
          <a:blip r:embed="rId1"/>
          <a:stretch>
            <a:fillRect/>
          </a:stretch>
        </p:blipFill>
        <p:spPr>
          <a:xfrm>
            <a:off x="2011680" y="2011680"/>
            <a:ext cx="274320" cy="274320"/>
          </a:xfrm>
          <a:prstGeom prst="rect">
            <a:avLst/>
          </a:prstGeom>
        </p:spPr>
      </p:pic>
      <p:sp>
        <p:nvSpPr>
          <p:cNvPr id="8" name="Text 5"/>
          <p:cNvSpPr txBox="1"/>
          <p:nvPr/>
        </p:nvSpPr>
        <p:spPr>
          <a:xfrm>
            <a:off x="777240" y="2651760"/>
            <a:ext cx="1737360" cy="365760"/>
          </a:xfrm>
          <a:prstGeom prst="rect">
            <a:avLst/>
          </a:prstGeom>
          <a:noFill/>
          <a:ln/>
        </p:spPr>
        <p:txBody>
          <a:bodyPr wrap="square" lIns="0" tIns="0" rIns="0" bIns="0" rtlCol="0" anchor="t"/>
          <a:lstStyle/>
          <a:p>
            <a:pPr indent="0" marL="0">
              <a:buNone/>
            </a:pPr>
            <a:r>
              <a:rPr lang="en-US" sz="1700" b="1" dirty="0">
                <a:solidFill>
                  <a:schemeClr val="bg1"/>
                </a:solidFill>
              </a:rPr>
              <a:t>Select patient</a:t>
            </a:r>
            <a:endParaRPr lang="en-US" sz="1700" dirty="0"/>
          </a:p>
        </p:txBody>
      </p:sp>
      <p:sp>
        <p:nvSpPr>
          <p:cNvPr id="9" name="Text 6"/>
          <p:cNvSpPr txBox="1"/>
          <p:nvPr/>
        </p:nvSpPr>
        <p:spPr>
          <a:xfrm>
            <a:off x="777240" y="3108960"/>
            <a:ext cx="1691640" cy="914400"/>
          </a:xfrm>
          <a:prstGeom prst="rect">
            <a:avLst/>
          </a:prstGeom>
          <a:noFill/>
          <a:ln/>
        </p:spPr>
        <p:txBody>
          <a:bodyPr wrap="square" lIns="0" tIns="0" rIns="0" bIns="0" rtlCol="0" anchor="t"/>
          <a:lstStyle/>
          <a:p>
            <a:pPr indent="0" marL="0">
              <a:buNone/>
            </a:pPr>
            <a:r>
              <a:rPr lang="en-US" sz="1300" dirty="0">
                <a:solidFill>
                  <a:schemeClr val="bg2"/>
                </a:solidFill>
              </a:rPr>
              <a:t>Choose from 36 synthetic virtual patients</a:t>
            </a:r>
            <a:endParaRPr lang="en-US" sz="1300" dirty="0"/>
          </a:p>
        </p:txBody>
      </p:sp>
      <p:sp>
        <p:nvSpPr>
          <p:cNvPr id="10" name="Text 7"/>
          <p:cNvSpPr txBox="1"/>
          <p:nvPr/>
        </p:nvSpPr>
        <p:spPr>
          <a:xfrm>
            <a:off x="777240" y="4434840"/>
            <a:ext cx="1737360" cy="365760"/>
          </a:xfrm>
          <a:prstGeom prst="rect">
            <a:avLst/>
          </a:prstGeom>
          <a:noFill/>
          <a:ln/>
        </p:spPr>
        <p:txBody>
          <a:bodyPr wrap="square" lIns="0" tIns="0" rIns="0" bIns="0" rtlCol="0" anchor="ctr"/>
          <a:lstStyle/>
          <a:p>
            <a:pPr indent="0" marL="0">
              <a:buNone/>
            </a:pPr>
            <a:r>
              <a:rPr lang="en-US" sz="1100" dirty="0">
                <a:solidFill>
                  <a:schemeClr val="accent2"/>
                </a:solidFill>
                <a:latin typeface="Courier New" pitchFamily="34" charset="0"/>
                <a:ea typeface="Courier New" pitchFamily="34" charset="-122"/>
                <a:cs typeface="Courier New" pitchFamily="34" charset="-120"/>
              </a:rPr>
              <a:t>GET /api/patients</a:t>
            </a:r>
            <a:endParaRPr lang="en-US" sz="1100" dirty="0"/>
          </a:p>
        </p:txBody>
      </p:sp>
      <p:sp>
        <p:nvSpPr>
          <p:cNvPr id="11" name="card"/>
          <p:cNvSpPr/>
          <p:nvPr/>
        </p:nvSpPr>
        <p:spPr>
          <a:xfrm>
            <a:off x="2834640" y="1691640"/>
            <a:ext cx="2103120" cy="3383280"/>
          </a:xfrm>
          <a:prstGeom prst="roundRect">
            <a:avLst>
              <a:gd name="adj" fmla="val 5217"/>
            </a:avLst>
          </a:prstGeom>
          <a:solidFill>
            <a:schemeClr val="tx2"/>
          </a:solidFill>
          <a:ln w="9525">
            <a:solidFill>
              <a:schemeClr val="accent6"/>
            </a:solidFill>
            <a:prstDash val="solid"/>
          </a:ln>
        </p:spPr>
        <p:txBody>
          <a:bodyPr/>
          <a:p/>
        </p:txBody>
      </p:sp>
      <p:sp>
        <p:nvSpPr>
          <p:cNvPr id="12" name="Text 9"/>
          <p:cNvSpPr txBox="1"/>
          <p:nvPr/>
        </p:nvSpPr>
        <p:spPr>
          <a:xfrm>
            <a:off x="3063240" y="1828800"/>
            <a:ext cx="914400" cy="457200"/>
          </a:xfrm>
          <a:prstGeom prst="rect">
            <a:avLst/>
          </a:prstGeom>
          <a:noFill/>
          <a:ln/>
        </p:spPr>
        <p:txBody>
          <a:bodyPr wrap="square" lIns="0" tIns="0" rIns="0" bIns="0" rtlCol="0" anchor="t"/>
          <a:lstStyle/>
          <a:p>
            <a:pPr indent="0" marL="0">
              <a:buNone/>
            </a:pPr>
            <a:r>
              <a:rPr lang="en-US" sz="2800" b="1" dirty="0">
                <a:solidFill>
                  <a:schemeClr val="accent1"/>
                </a:solidFill>
              </a:rPr>
              <a:t>02</a:t>
            </a:r>
            <a:endParaRPr lang="en-US" sz="2800" dirty="0"/>
          </a:p>
        </p:txBody>
      </p:sp>
      <p:sp>
        <p:nvSpPr>
          <p:cNvPr id="13" name="Shape 10"/>
          <p:cNvSpPr/>
          <p:nvPr/>
        </p:nvSpPr>
        <p:spPr>
          <a:xfrm>
            <a:off x="4160520" y="1874520"/>
            <a:ext cx="548640" cy="548640"/>
          </a:xfrm>
          <a:prstGeom prst="ellipse">
            <a:avLst/>
          </a:prstGeom>
          <a:solidFill>
            <a:schemeClr val="accent1">
              <a:alpha val="20000"/>
            </a:schemeClr>
          </a:solidFill>
          <a:ln w="12700">
            <a:solidFill>
              <a:schemeClr val="accent1"/>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4297680" y="2011680"/>
            <a:ext cx="274320" cy="274320"/>
          </a:xfrm>
          <a:prstGeom prst="rect">
            <a:avLst/>
          </a:prstGeom>
        </p:spPr>
      </p:pic>
      <p:sp>
        <p:nvSpPr>
          <p:cNvPr id="15" name="Text 11"/>
          <p:cNvSpPr txBox="1"/>
          <p:nvPr/>
        </p:nvSpPr>
        <p:spPr>
          <a:xfrm>
            <a:off x="3063240" y="2651760"/>
            <a:ext cx="1737360" cy="365760"/>
          </a:xfrm>
          <a:prstGeom prst="rect">
            <a:avLst/>
          </a:prstGeom>
          <a:noFill/>
          <a:ln/>
        </p:spPr>
        <p:txBody>
          <a:bodyPr wrap="square" lIns="0" tIns="0" rIns="0" bIns="0" rtlCol="0" anchor="t"/>
          <a:lstStyle/>
          <a:p>
            <a:pPr indent="0" marL="0">
              <a:buNone/>
            </a:pPr>
            <a:r>
              <a:rPr lang="en-US" sz="1700" b="1" dirty="0">
                <a:solidFill>
                  <a:schemeClr val="bg1"/>
                </a:solidFill>
              </a:rPr>
              <a:t>Review profile</a:t>
            </a:r>
            <a:endParaRPr lang="en-US" sz="1700" dirty="0"/>
          </a:p>
        </p:txBody>
      </p:sp>
      <p:sp>
        <p:nvSpPr>
          <p:cNvPr id="16" name="Text 12"/>
          <p:cNvSpPr txBox="1"/>
          <p:nvPr/>
        </p:nvSpPr>
        <p:spPr>
          <a:xfrm>
            <a:off x="3063240" y="3108960"/>
            <a:ext cx="1691640" cy="914400"/>
          </a:xfrm>
          <a:prstGeom prst="rect">
            <a:avLst/>
          </a:prstGeom>
          <a:noFill/>
          <a:ln/>
        </p:spPr>
        <p:txBody>
          <a:bodyPr wrap="square" lIns="0" tIns="0" rIns="0" bIns="0" rtlCol="0" anchor="t"/>
          <a:lstStyle/>
          <a:p>
            <a:pPr indent="0" marL="0">
              <a:buNone/>
            </a:pPr>
            <a:r>
              <a:rPr lang="en-US" sz="1300" dirty="0">
                <a:solidFill>
                  <a:schemeClr val="bg2"/>
                </a:solidFill>
              </a:rPr>
              <a:t>Age, diagnosis, HbA1c, baseline</a:t>
            </a:r>
            <a:endParaRPr lang="en-US" sz="1300" dirty="0"/>
          </a:p>
        </p:txBody>
      </p:sp>
      <p:sp>
        <p:nvSpPr>
          <p:cNvPr id="17" name="Text 13"/>
          <p:cNvSpPr txBox="1"/>
          <p:nvPr/>
        </p:nvSpPr>
        <p:spPr>
          <a:xfrm>
            <a:off x="3063240" y="4434840"/>
            <a:ext cx="1737360" cy="365760"/>
          </a:xfrm>
          <a:prstGeom prst="rect">
            <a:avLst/>
          </a:prstGeom>
          <a:noFill/>
          <a:ln/>
        </p:spPr>
        <p:txBody>
          <a:bodyPr wrap="square" lIns="0" tIns="0" rIns="0" bIns="0" rtlCol="0" anchor="ctr"/>
          <a:lstStyle/>
          <a:p>
            <a:pPr indent="0" marL="0">
              <a:buNone/>
            </a:pPr>
            <a:r>
              <a:rPr lang="en-US" sz="1100" dirty="0">
                <a:solidFill>
                  <a:schemeClr val="accent2"/>
                </a:solidFill>
                <a:latin typeface="Courier New" pitchFamily="34" charset="0"/>
                <a:ea typeface="Courier New" pitchFamily="34" charset="-122"/>
                <a:cs typeface="Courier New" pitchFamily="34" charset="-120"/>
              </a:rPr>
              <a:t>GET /api/patients</a:t>
            </a:r>
            <a:endParaRPr lang="en-US" sz="1100" dirty="0"/>
          </a:p>
        </p:txBody>
      </p:sp>
      <p:sp>
        <p:nvSpPr>
          <p:cNvPr id="18" name="card"/>
          <p:cNvSpPr/>
          <p:nvPr/>
        </p:nvSpPr>
        <p:spPr>
          <a:xfrm>
            <a:off x="5120640" y="1691640"/>
            <a:ext cx="2103120" cy="3383280"/>
          </a:xfrm>
          <a:prstGeom prst="roundRect">
            <a:avLst>
              <a:gd name="adj" fmla="val 5217"/>
            </a:avLst>
          </a:prstGeom>
          <a:solidFill>
            <a:schemeClr val="tx2"/>
          </a:solidFill>
          <a:ln w="9525">
            <a:solidFill>
              <a:schemeClr val="accent6"/>
            </a:solidFill>
            <a:prstDash val="solid"/>
          </a:ln>
        </p:spPr>
        <p:txBody>
          <a:bodyPr/>
          <a:p/>
        </p:txBody>
      </p:sp>
      <p:sp>
        <p:nvSpPr>
          <p:cNvPr id="19" name="Text 15"/>
          <p:cNvSpPr txBox="1"/>
          <p:nvPr/>
        </p:nvSpPr>
        <p:spPr>
          <a:xfrm>
            <a:off x="5349240" y="1828800"/>
            <a:ext cx="914400" cy="457200"/>
          </a:xfrm>
          <a:prstGeom prst="rect">
            <a:avLst/>
          </a:prstGeom>
          <a:noFill/>
          <a:ln/>
        </p:spPr>
        <p:txBody>
          <a:bodyPr wrap="square" lIns="0" tIns="0" rIns="0" bIns="0" rtlCol="0" anchor="t"/>
          <a:lstStyle/>
          <a:p>
            <a:pPr indent="0" marL="0">
              <a:buNone/>
            </a:pPr>
            <a:r>
              <a:rPr lang="en-US" sz="2800" b="1" dirty="0">
                <a:solidFill>
                  <a:schemeClr val="accent1"/>
                </a:solidFill>
              </a:rPr>
              <a:t>03</a:t>
            </a:r>
            <a:endParaRPr lang="en-US" sz="2800" dirty="0"/>
          </a:p>
        </p:txBody>
      </p:sp>
      <p:sp>
        <p:nvSpPr>
          <p:cNvPr id="20" name="Shape 16"/>
          <p:cNvSpPr/>
          <p:nvPr/>
        </p:nvSpPr>
        <p:spPr>
          <a:xfrm>
            <a:off x="6446520" y="1874520"/>
            <a:ext cx="548640" cy="548640"/>
          </a:xfrm>
          <a:prstGeom prst="ellipse">
            <a:avLst/>
          </a:prstGeom>
          <a:solidFill>
            <a:schemeClr val="accent1">
              <a:alpha val="20000"/>
            </a:schemeClr>
          </a:solidFill>
          <a:ln w="12700">
            <a:solidFill>
              <a:schemeClr val="accent1"/>
            </a:solidFill>
            <a:prstDash val="solid"/>
          </a:ln>
        </p:spPr>
        <p:txBody>
          <a:bodyPr/>
          <a:p/>
        </p:txBody>
      </p:sp>
      <p:pic>
        <p:nvPicPr>
          <p:cNvPr id="21" name="Image 2" descr="preencoded.png">    </p:cNvPr>
          <p:cNvPicPr>
            <a:picLocks noChangeAspect="1"/>
          </p:cNvPicPr>
          <p:nvPr/>
        </p:nvPicPr>
        <p:blipFill>
          <a:blip r:embed="rId3"/>
          <a:stretch>
            <a:fillRect/>
          </a:stretch>
        </p:blipFill>
        <p:spPr>
          <a:xfrm>
            <a:off x="6583680" y="2011680"/>
            <a:ext cx="274320" cy="274320"/>
          </a:xfrm>
          <a:prstGeom prst="rect">
            <a:avLst/>
          </a:prstGeom>
        </p:spPr>
      </p:pic>
      <p:sp>
        <p:nvSpPr>
          <p:cNvPr id="22" name="Text 17"/>
          <p:cNvSpPr txBox="1"/>
          <p:nvPr/>
        </p:nvSpPr>
        <p:spPr>
          <a:xfrm>
            <a:off x="5349240" y="2651760"/>
            <a:ext cx="1737360" cy="365760"/>
          </a:xfrm>
          <a:prstGeom prst="rect">
            <a:avLst/>
          </a:prstGeom>
          <a:noFill/>
          <a:ln/>
        </p:spPr>
        <p:txBody>
          <a:bodyPr wrap="square" lIns="0" tIns="0" rIns="0" bIns="0" rtlCol="0" anchor="t"/>
          <a:lstStyle/>
          <a:p>
            <a:pPr indent="0" marL="0">
              <a:buNone/>
            </a:pPr>
            <a:r>
              <a:rPr lang="en-US" sz="1700" b="1" dirty="0">
                <a:solidFill>
                  <a:schemeClr val="bg1"/>
                </a:solidFill>
              </a:rPr>
              <a:t>View history</a:t>
            </a:r>
            <a:endParaRPr lang="en-US" sz="1700" dirty="0"/>
          </a:p>
        </p:txBody>
      </p:sp>
      <p:sp>
        <p:nvSpPr>
          <p:cNvPr id="23" name="Text 18"/>
          <p:cNvSpPr txBox="1"/>
          <p:nvPr/>
        </p:nvSpPr>
        <p:spPr>
          <a:xfrm>
            <a:off x="5349240" y="3108960"/>
            <a:ext cx="1691640" cy="914400"/>
          </a:xfrm>
          <a:prstGeom prst="rect">
            <a:avLst/>
          </a:prstGeom>
          <a:noFill/>
          <a:ln/>
        </p:spPr>
        <p:txBody>
          <a:bodyPr wrap="square" lIns="0" tIns="0" rIns="0" bIns="0" rtlCol="0" anchor="t"/>
          <a:lstStyle/>
          <a:p>
            <a:pPr indent="0" marL="0">
              <a:buNone/>
            </a:pPr>
            <a:r>
              <a:rPr lang="en-US" sz="1300" dirty="0">
                <a:solidFill>
                  <a:schemeClr val="bg2"/>
                </a:solidFill>
              </a:rPr>
              <a:t>Recent readings from a 15-minute sensor stream</a:t>
            </a:r>
            <a:endParaRPr lang="en-US" sz="1300" dirty="0"/>
          </a:p>
        </p:txBody>
      </p:sp>
      <p:sp>
        <p:nvSpPr>
          <p:cNvPr id="24" name="Text 19"/>
          <p:cNvSpPr txBox="1"/>
          <p:nvPr/>
        </p:nvSpPr>
        <p:spPr>
          <a:xfrm>
            <a:off x="5349240" y="4434840"/>
            <a:ext cx="1737360" cy="365760"/>
          </a:xfrm>
          <a:prstGeom prst="rect">
            <a:avLst/>
          </a:prstGeom>
          <a:noFill/>
          <a:ln/>
        </p:spPr>
        <p:txBody>
          <a:bodyPr wrap="square" lIns="0" tIns="0" rIns="0" bIns="0" rtlCol="0" anchor="ctr"/>
          <a:lstStyle/>
          <a:p>
            <a:pPr indent="0" marL="0">
              <a:buNone/>
            </a:pPr>
            <a:r>
              <a:rPr lang="en-US" sz="1100" dirty="0">
                <a:solidFill>
                  <a:schemeClr val="accent2"/>
                </a:solidFill>
                <a:latin typeface="Courier New" pitchFamily="34" charset="0"/>
                <a:ea typeface="Courier New" pitchFamily="34" charset="-122"/>
                <a:cs typeface="Courier New" pitchFamily="34" charset="-120"/>
              </a:rPr>
              <a:t>GET …/timeline</a:t>
            </a:r>
            <a:endParaRPr lang="en-US" sz="1100" dirty="0"/>
          </a:p>
        </p:txBody>
      </p:sp>
      <p:sp>
        <p:nvSpPr>
          <p:cNvPr id="25" name="card"/>
          <p:cNvSpPr/>
          <p:nvPr/>
        </p:nvSpPr>
        <p:spPr>
          <a:xfrm>
            <a:off x="7406640" y="1691640"/>
            <a:ext cx="2103120" cy="3383280"/>
          </a:xfrm>
          <a:prstGeom prst="roundRect">
            <a:avLst>
              <a:gd name="adj" fmla="val 5217"/>
            </a:avLst>
          </a:prstGeom>
          <a:solidFill>
            <a:schemeClr val="tx2"/>
          </a:solidFill>
          <a:ln w="9525">
            <a:solidFill>
              <a:schemeClr val="accent6"/>
            </a:solidFill>
            <a:prstDash val="solid"/>
          </a:ln>
        </p:spPr>
        <p:txBody>
          <a:bodyPr/>
          <a:p/>
        </p:txBody>
      </p:sp>
      <p:sp>
        <p:nvSpPr>
          <p:cNvPr id="26" name="Text 21"/>
          <p:cNvSpPr txBox="1"/>
          <p:nvPr/>
        </p:nvSpPr>
        <p:spPr>
          <a:xfrm>
            <a:off x="7635240" y="1828800"/>
            <a:ext cx="914400" cy="457200"/>
          </a:xfrm>
          <a:prstGeom prst="rect">
            <a:avLst/>
          </a:prstGeom>
          <a:noFill/>
          <a:ln/>
        </p:spPr>
        <p:txBody>
          <a:bodyPr wrap="square" lIns="0" tIns="0" rIns="0" bIns="0" rtlCol="0" anchor="t"/>
          <a:lstStyle/>
          <a:p>
            <a:pPr indent="0" marL="0">
              <a:buNone/>
            </a:pPr>
            <a:r>
              <a:rPr lang="en-US" sz="2800" b="1" dirty="0">
                <a:solidFill>
                  <a:schemeClr val="accent1"/>
                </a:solidFill>
              </a:rPr>
              <a:t>04</a:t>
            </a:r>
            <a:endParaRPr lang="en-US" sz="2800" dirty="0"/>
          </a:p>
        </p:txBody>
      </p:sp>
      <p:sp>
        <p:nvSpPr>
          <p:cNvPr id="27" name="Shape 22"/>
          <p:cNvSpPr/>
          <p:nvPr/>
        </p:nvSpPr>
        <p:spPr>
          <a:xfrm>
            <a:off x="8732520" y="1874520"/>
            <a:ext cx="548640" cy="548640"/>
          </a:xfrm>
          <a:prstGeom prst="ellipse">
            <a:avLst/>
          </a:prstGeom>
          <a:solidFill>
            <a:schemeClr val="accent1">
              <a:alpha val="20000"/>
            </a:schemeClr>
          </a:solidFill>
          <a:ln w="12700">
            <a:solidFill>
              <a:schemeClr val="accent1"/>
            </a:solidFill>
            <a:prstDash val="solid"/>
          </a:ln>
        </p:spPr>
        <p:txBody>
          <a:bodyPr/>
          <a:p/>
        </p:txBody>
      </p:sp>
      <p:pic>
        <p:nvPicPr>
          <p:cNvPr id="28" name="Image 3" descr="preencoded.png">    </p:cNvPr>
          <p:cNvPicPr>
            <a:picLocks noChangeAspect="1"/>
          </p:cNvPicPr>
          <p:nvPr/>
        </p:nvPicPr>
        <p:blipFill>
          <a:blip r:embed="rId4"/>
          <a:stretch>
            <a:fillRect/>
          </a:stretch>
        </p:blipFill>
        <p:spPr>
          <a:xfrm>
            <a:off x="8869680" y="2011680"/>
            <a:ext cx="274320" cy="274320"/>
          </a:xfrm>
          <a:prstGeom prst="rect">
            <a:avLst/>
          </a:prstGeom>
        </p:spPr>
      </p:pic>
      <p:sp>
        <p:nvSpPr>
          <p:cNvPr id="29" name="Text 23"/>
          <p:cNvSpPr txBox="1"/>
          <p:nvPr/>
        </p:nvSpPr>
        <p:spPr>
          <a:xfrm>
            <a:off x="7635240" y="2651760"/>
            <a:ext cx="1737360" cy="365760"/>
          </a:xfrm>
          <a:prstGeom prst="rect">
            <a:avLst/>
          </a:prstGeom>
          <a:noFill/>
          <a:ln/>
        </p:spPr>
        <p:txBody>
          <a:bodyPr wrap="square" lIns="0" tIns="0" rIns="0" bIns="0" rtlCol="0" anchor="t"/>
          <a:lstStyle/>
          <a:p>
            <a:pPr indent="0" marL="0">
              <a:buNone/>
            </a:pPr>
            <a:r>
              <a:rPr lang="en-US" sz="1700" b="1" dirty="0">
                <a:solidFill>
                  <a:schemeClr val="bg1"/>
                </a:solidFill>
              </a:rPr>
              <a:t>Inspect prediction</a:t>
            </a:r>
            <a:endParaRPr lang="en-US" sz="1700" dirty="0"/>
          </a:p>
        </p:txBody>
      </p:sp>
      <p:sp>
        <p:nvSpPr>
          <p:cNvPr id="30" name="Text 24"/>
          <p:cNvSpPr txBox="1"/>
          <p:nvPr/>
        </p:nvSpPr>
        <p:spPr>
          <a:xfrm>
            <a:off x="7635240" y="3108960"/>
            <a:ext cx="1691640" cy="914400"/>
          </a:xfrm>
          <a:prstGeom prst="rect">
            <a:avLst/>
          </a:prstGeom>
          <a:noFill/>
          <a:ln/>
        </p:spPr>
        <p:txBody>
          <a:bodyPr wrap="square" lIns="0" tIns="0" rIns="0" bIns="0" rtlCol="0" anchor="t"/>
          <a:lstStyle/>
          <a:p>
            <a:pPr indent="0" marL="0">
              <a:buNone/>
            </a:pPr>
            <a:r>
              <a:rPr lang="en-US" sz="1300" dirty="0">
                <a:solidFill>
                  <a:schemeClr val="bg2"/>
                </a:solidFill>
              </a:rPr>
              <a:t>Score and experimental risk band</a:t>
            </a:r>
            <a:endParaRPr lang="en-US" sz="1300" dirty="0"/>
          </a:p>
        </p:txBody>
      </p:sp>
      <p:sp>
        <p:nvSpPr>
          <p:cNvPr id="31" name="Text 25"/>
          <p:cNvSpPr txBox="1"/>
          <p:nvPr/>
        </p:nvSpPr>
        <p:spPr>
          <a:xfrm>
            <a:off x="7635240" y="4434840"/>
            <a:ext cx="1737360" cy="365760"/>
          </a:xfrm>
          <a:prstGeom prst="rect">
            <a:avLst/>
          </a:prstGeom>
          <a:noFill/>
          <a:ln/>
        </p:spPr>
        <p:txBody>
          <a:bodyPr wrap="square" lIns="0" tIns="0" rIns="0" bIns="0" rtlCol="0" anchor="ctr"/>
          <a:lstStyle/>
          <a:p>
            <a:pPr indent="0" marL="0">
              <a:buNone/>
            </a:pPr>
            <a:r>
              <a:rPr lang="en-US" sz="1100" dirty="0">
                <a:solidFill>
                  <a:schemeClr val="accent2"/>
                </a:solidFill>
                <a:latin typeface="Courier New" pitchFamily="34" charset="0"/>
                <a:ea typeface="Courier New" pitchFamily="34" charset="-122"/>
                <a:cs typeface="Courier New" pitchFamily="34" charset="-120"/>
              </a:rPr>
              <a:t>GET …/predict</a:t>
            </a:r>
            <a:endParaRPr lang="en-US" sz="1100" dirty="0"/>
          </a:p>
        </p:txBody>
      </p:sp>
      <p:sp>
        <p:nvSpPr>
          <p:cNvPr id="32" name="card"/>
          <p:cNvSpPr/>
          <p:nvPr/>
        </p:nvSpPr>
        <p:spPr>
          <a:xfrm>
            <a:off x="9692640" y="1691640"/>
            <a:ext cx="2103120" cy="3383280"/>
          </a:xfrm>
          <a:prstGeom prst="roundRect">
            <a:avLst>
              <a:gd name="adj" fmla="val 5217"/>
            </a:avLst>
          </a:prstGeom>
          <a:solidFill>
            <a:schemeClr val="tx2"/>
          </a:solidFill>
          <a:ln w="9525">
            <a:solidFill>
              <a:schemeClr val="accent6"/>
            </a:solidFill>
            <a:prstDash val="solid"/>
          </a:ln>
        </p:spPr>
        <p:txBody>
          <a:bodyPr/>
          <a:p/>
        </p:txBody>
      </p:sp>
      <p:sp>
        <p:nvSpPr>
          <p:cNvPr id="33" name="Text 27"/>
          <p:cNvSpPr txBox="1"/>
          <p:nvPr/>
        </p:nvSpPr>
        <p:spPr>
          <a:xfrm>
            <a:off x="9921240" y="1828800"/>
            <a:ext cx="914400" cy="457200"/>
          </a:xfrm>
          <a:prstGeom prst="rect">
            <a:avLst/>
          </a:prstGeom>
          <a:noFill/>
          <a:ln/>
        </p:spPr>
        <p:txBody>
          <a:bodyPr wrap="square" lIns="0" tIns="0" rIns="0" bIns="0" rtlCol="0" anchor="t"/>
          <a:lstStyle/>
          <a:p>
            <a:pPr indent="0" marL="0">
              <a:buNone/>
            </a:pPr>
            <a:r>
              <a:rPr lang="en-US" sz="2800" b="1" dirty="0">
                <a:solidFill>
                  <a:schemeClr val="accent1"/>
                </a:solidFill>
              </a:rPr>
              <a:t>05</a:t>
            </a:r>
            <a:endParaRPr lang="en-US" sz="2800" dirty="0"/>
          </a:p>
        </p:txBody>
      </p:sp>
      <p:sp>
        <p:nvSpPr>
          <p:cNvPr id="34" name="Shape 28"/>
          <p:cNvSpPr/>
          <p:nvPr/>
        </p:nvSpPr>
        <p:spPr>
          <a:xfrm>
            <a:off x="11018520" y="1874520"/>
            <a:ext cx="548640" cy="548640"/>
          </a:xfrm>
          <a:prstGeom prst="ellipse">
            <a:avLst/>
          </a:prstGeom>
          <a:solidFill>
            <a:schemeClr val="accent5">
              <a:alpha val="20000"/>
            </a:schemeClr>
          </a:solidFill>
          <a:ln w="12700">
            <a:solidFill>
              <a:schemeClr val="accent5"/>
            </a:solidFill>
            <a:prstDash val="solid"/>
          </a:ln>
        </p:spPr>
        <p:txBody>
          <a:bodyPr/>
          <a:p/>
        </p:txBody>
      </p:sp>
      <p:pic>
        <p:nvPicPr>
          <p:cNvPr id="35" name="Image 4" descr="preencoded.png">    </p:cNvPr>
          <p:cNvPicPr>
            <a:picLocks noChangeAspect="1"/>
          </p:cNvPicPr>
          <p:nvPr/>
        </p:nvPicPr>
        <p:blipFill>
          <a:blip r:embed="rId5"/>
          <a:stretch>
            <a:fillRect/>
          </a:stretch>
        </p:blipFill>
        <p:spPr>
          <a:xfrm>
            <a:off x="11155680" y="2011680"/>
            <a:ext cx="274320" cy="274320"/>
          </a:xfrm>
          <a:prstGeom prst="rect">
            <a:avLst/>
          </a:prstGeom>
        </p:spPr>
      </p:pic>
      <p:sp>
        <p:nvSpPr>
          <p:cNvPr id="36" name="Text 29"/>
          <p:cNvSpPr txBox="1"/>
          <p:nvPr/>
        </p:nvSpPr>
        <p:spPr>
          <a:xfrm>
            <a:off x="9921240" y="2651760"/>
            <a:ext cx="1737360" cy="365760"/>
          </a:xfrm>
          <a:prstGeom prst="rect">
            <a:avLst/>
          </a:prstGeom>
          <a:noFill/>
          <a:ln/>
        </p:spPr>
        <p:txBody>
          <a:bodyPr wrap="square" lIns="0" tIns="0" rIns="0" bIns="0" rtlCol="0" anchor="t"/>
          <a:lstStyle/>
          <a:p>
            <a:pPr indent="0" marL="0">
              <a:buNone/>
            </a:pPr>
            <a:r>
              <a:rPr lang="en-US" sz="1700" b="1" dirty="0">
                <a:solidFill>
                  <a:schemeClr val="bg1"/>
                </a:solidFill>
              </a:rPr>
              <a:t>Replay a point</a:t>
            </a:r>
            <a:endParaRPr lang="en-US" sz="1700" dirty="0"/>
          </a:p>
        </p:txBody>
      </p:sp>
      <p:sp>
        <p:nvSpPr>
          <p:cNvPr id="37" name="Text 30"/>
          <p:cNvSpPr txBox="1"/>
          <p:nvPr/>
        </p:nvSpPr>
        <p:spPr>
          <a:xfrm>
            <a:off x="9921240" y="3108960"/>
            <a:ext cx="1691640" cy="914400"/>
          </a:xfrm>
          <a:prstGeom prst="rect">
            <a:avLst/>
          </a:prstGeom>
          <a:noFill/>
          <a:ln/>
        </p:spPr>
        <p:txBody>
          <a:bodyPr wrap="square" lIns="0" tIns="0" rIns="0" bIns="0" rtlCol="0" anchor="t"/>
          <a:lstStyle/>
          <a:p>
            <a:pPr indent="0" marL="0">
              <a:buNone/>
            </a:pPr>
            <a:r>
              <a:rPr lang="en-US" sz="1300" dirty="0">
                <a:solidFill>
                  <a:schemeClr val="bg2"/>
                </a:solidFill>
              </a:rPr>
              <a:t>Pick an earlier reading</a:t>
            </a:r>
            <a:endParaRPr lang="en-US" sz="1300" dirty="0"/>
          </a:p>
        </p:txBody>
      </p:sp>
      <p:sp>
        <p:nvSpPr>
          <p:cNvPr id="38" name="Text 31"/>
          <p:cNvSpPr txBox="1"/>
          <p:nvPr/>
        </p:nvSpPr>
        <p:spPr>
          <a:xfrm>
            <a:off x="9921240" y="4434840"/>
            <a:ext cx="1737360" cy="365760"/>
          </a:xfrm>
          <a:prstGeom prst="rect">
            <a:avLst/>
          </a:prstGeom>
          <a:noFill/>
          <a:ln/>
        </p:spPr>
        <p:txBody>
          <a:bodyPr wrap="square" lIns="0" tIns="0" rIns="0" bIns="0" rtlCol="0" anchor="ctr"/>
          <a:lstStyle/>
          <a:p>
            <a:pPr indent="0" marL="0">
              <a:buNone/>
            </a:pPr>
            <a:r>
              <a:rPr lang="en-US" sz="1100" dirty="0">
                <a:solidFill>
                  <a:schemeClr val="accent2"/>
                </a:solidFill>
                <a:latin typeface="Courier New" pitchFamily="34" charset="0"/>
                <a:ea typeface="Courier New" pitchFamily="34" charset="-122"/>
                <a:cs typeface="Courier New" pitchFamily="34" charset="-120"/>
              </a:rPr>
              <a:t>POST /api/simulate</a:t>
            </a:r>
            <a:endParaRPr lang="en-US" sz="1100" dirty="0"/>
          </a:p>
        </p:txBody>
      </p:sp>
      <p:sp>
        <p:nvSpPr>
          <p:cNvPr id="39" name="card"/>
          <p:cNvSpPr/>
          <p:nvPr/>
        </p:nvSpPr>
        <p:spPr>
          <a:xfrm>
            <a:off x="548640" y="5303520"/>
            <a:ext cx="11091672" cy="777240"/>
          </a:xfrm>
          <a:prstGeom prst="roundRect">
            <a:avLst>
              <a:gd name="adj" fmla="val 14118"/>
            </a:avLst>
          </a:prstGeom>
          <a:solidFill>
            <a:schemeClr val="accent6"/>
          </a:solidFill>
          <a:ln w="9525">
            <a:solidFill>
              <a:schemeClr val="accent6"/>
            </a:solidFill>
            <a:prstDash val="solid"/>
          </a:ln>
        </p:spPr>
        <p:txBody>
          <a:bodyPr/>
          <a:p/>
        </p:txBody>
      </p:sp>
      <p:sp>
        <p:nvSpPr>
          <p:cNvPr id="40" name="Text 33"/>
          <p:cNvSpPr txBox="1"/>
          <p:nvPr/>
        </p:nvSpPr>
        <p:spPr>
          <a:xfrm>
            <a:off x="777240" y="5303520"/>
            <a:ext cx="10607040" cy="777240"/>
          </a:xfrm>
          <a:prstGeom prst="rect">
            <a:avLst/>
          </a:prstGeom>
          <a:noFill/>
          <a:ln/>
        </p:spPr>
        <p:txBody>
          <a:bodyPr wrap="square" lIns="0" tIns="0" rIns="0" bIns="0" rtlCol="0" anchor="ctr"/>
          <a:lstStyle/>
          <a:p>
            <a:pPr indent="0" marL="0">
              <a:buNone/>
            </a:pPr>
            <a:r>
              <a:rPr lang="en-US" sz="1500" dirty="0">
                <a:solidFill>
                  <a:schemeClr val="bg1"/>
                </a:solidFill>
              </a:rPr>
              <a:t>Example outputs vary by patient and current model run. Use the live dashboard for actual displayed values; all data are synthetic.</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400" b="1" dirty="0">
                <a:solidFill>
                  <a:schemeClr val="bg1"/>
                </a:solidFill>
              </a:rPr>
              <a:t>The prototype, running end to end</a:t>
            </a:r>
            <a:endParaRPr lang="en-US" sz="3400" dirty="0"/>
          </a:p>
        </p:txBody>
      </p:sp>
      <p:sp>
        <p:nvSpPr>
          <p:cNvPr id="3" name="Text 1"/>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LIVE PROTOTYPE</a:t>
            </a:r>
            <a:endParaRPr lang="en-US" sz="1200" dirty="0"/>
          </a:p>
        </p:txBody>
      </p:sp>
      <p:sp>
        <p:nvSpPr>
          <p:cNvPr id="4" name="card"/>
          <p:cNvSpPr/>
          <p:nvPr/>
        </p:nvSpPr>
        <p:spPr>
          <a:xfrm>
            <a:off x="475488" y="1527048"/>
            <a:ext cx="7827264" cy="3776472"/>
          </a:xfrm>
          <a:prstGeom prst="roundRect">
            <a:avLst>
              <a:gd name="adj" fmla="val 2906"/>
            </a:avLst>
          </a:prstGeom>
          <a:solidFill>
            <a:schemeClr val="tx2"/>
          </a:solidFill>
          <a:ln w="12700">
            <a:solidFill>
              <a:schemeClr val="accent1"/>
            </a:solidFill>
            <a:prstDash val="solid"/>
          </a:ln>
        </p:spPr>
        <p:txBody>
          <a:bodyPr/>
          <a:p/>
        </p:txBody>
      </p:sp>
      <p:pic>
        <p:nvPicPr>
          <p:cNvPr id="5" name="Image 0" descr="/mnt/user-data/uploads/1792333414667_image.png">    </p:cNvPr>
          <p:cNvPicPr>
            <a:picLocks noChangeAspect="1"/>
          </p:cNvPicPr>
          <p:nvPr/>
        </p:nvPicPr>
        <p:blipFill>
          <a:blip r:embed="rId1"/>
          <a:stretch>
            <a:fillRect/>
          </a:stretch>
        </p:blipFill>
        <p:spPr>
          <a:xfrm>
            <a:off x="548640" y="1600200"/>
            <a:ext cx="7680960" cy="3626118"/>
          </a:xfrm>
          <a:prstGeom prst="rect">
            <a:avLst/>
          </a:prstGeom>
        </p:spPr>
      </p:pic>
      <p:sp>
        <p:nvSpPr>
          <p:cNvPr id="6" name="Shape 3"/>
          <p:cNvSpPr/>
          <p:nvPr/>
        </p:nvSpPr>
        <p:spPr>
          <a:xfrm>
            <a:off x="1795558" y="1957617"/>
            <a:ext cx="310896" cy="310896"/>
          </a:xfrm>
          <a:prstGeom prst="ellipse">
            <a:avLst/>
          </a:prstGeom>
          <a:solidFill>
            <a:schemeClr val="accent1"/>
          </a:solidFill>
          <a:ln w="19050">
            <a:solidFill>
              <a:schemeClr val="tx1"/>
            </a:solidFill>
            <a:prstDash val="solid"/>
          </a:ln>
        </p:spPr>
        <p:txBody>
          <a:bodyPr/>
          <a:p/>
        </p:txBody>
      </p:sp>
      <p:sp>
        <p:nvSpPr>
          <p:cNvPr id="7" name="Text 4"/>
          <p:cNvSpPr txBox="1"/>
          <p:nvPr/>
        </p:nvSpPr>
        <p:spPr>
          <a:xfrm>
            <a:off x="1795558" y="1957617"/>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Shape 5"/>
          <p:cNvSpPr/>
          <p:nvPr/>
        </p:nvSpPr>
        <p:spPr>
          <a:xfrm>
            <a:off x="8503920" y="1645920"/>
            <a:ext cx="310896" cy="310896"/>
          </a:xfrm>
          <a:prstGeom prst="ellipse">
            <a:avLst/>
          </a:prstGeom>
          <a:solidFill>
            <a:schemeClr val="accent1">
              <a:alpha val="20000"/>
            </a:schemeClr>
          </a:solidFill>
          <a:ln w="12700">
            <a:solidFill>
              <a:schemeClr val="accent1"/>
            </a:solidFill>
            <a:prstDash val="solid"/>
          </a:ln>
        </p:spPr>
        <p:txBody>
          <a:bodyPr/>
          <a:p/>
        </p:txBody>
      </p:sp>
      <p:sp>
        <p:nvSpPr>
          <p:cNvPr id="9" name="Text 6"/>
          <p:cNvSpPr txBox="1"/>
          <p:nvPr/>
        </p:nvSpPr>
        <p:spPr>
          <a:xfrm>
            <a:off x="8503920" y="1645920"/>
            <a:ext cx="310896" cy="310896"/>
          </a:xfrm>
          <a:prstGeom prst="rect">
            <a:avLst/>
          </a:prstGeom>
          <a:noFill/>
          <a:ln/>
        </p:spPr>
        <p:txBody>
          <a:bodyPr wrap="square" lIns="0" tIns="0" rIns="0" bIns="0" rtlCol="0" anchor="ctr"/>
          <a:lstStyle/>
          <a:p>
            <a:pPr algn="ctr" indent="0" marL="0">
              <a:buNone/>
            </a:pPr>
            <a:r>
              <a:rPr lang="en-US" sz="1200" b="1" dirty="0">
                <a:solidFill>
                  <a:schemeClr val="accent1"/>
                </a:solidFill>
              </a:rPr>
              <a:t>1</a:t>
            </a:r>
            <a:endParaRPr lang="en-US" sz="1200" dirty="0"/>
          </a:p>
        </p:txBody>
      </p:sp>
      <p:sp>
        <p:nvSpPr>
          <p:cNvPr id="10" name="Text 7"/>
          <p:cNvSpPr txBox="1"/>
          <p:nvPr/>
        </p:nvSpPr>
        <p:spPr>
          <a:xfrm>
            <a:off x="8961120" y="1600200"/>
            <a:ext cx="2697480" cy="274320"/>
          </a:xfrm>
          <a:prstGeom prst="rect">
            <a:avLst/>
          </a:prstGeom>
          <a:noFill/>
          <a:ln/>
        </p:spPr>
        <p:txBody>
          <a:bodyPr wrap="square" lIns="0" tIns="0" rIns="0" bIns="0" rtlCol="0" anchor="t"/>
          <a:lstStyle/>
          <a:p>
            <a:pPr indent="0" marL="0">
              <a:buNone/>
            </a:pPr>
            <a:r>
              <a:rPr lang="en-US" sz="1500" b="1" dirty="0">
                <a:solidFill>
                  <a:schemeClr val="bg1"/>
                </a:solidFill>
              </a:rPr>
              <a:t>Virtual patient selector</a:t>
            </a:r>
            <a:endParaRPr lang="en-US" sz="1500" dirty="0"/>
          </a:p>
        </p:txBody>
      </p:sp>
      <p:sp>
        <p:nvSpPr>
          <p:cNvPr id="11" name="Text 8"/>
          <p:cNvSpPr txBox="1"/>
          <p:nvPr/>
        </p:nvSpPr>
        <p:spPr>
          <a:xfrm>
            <a:off x="8961120" y="1901952"/>
            <a:ext cx="2697480" cy="365760"/>
          </a:xfrm>
          <a:prstGeom prst="rect">
            <a:avLst/>
          </a:prstGeom>
          <a:noFill/>
          <a:ln/>
        </p:spPr>
        <p:txBody>
          <a:bodyPr wrap="square" lIns="0" tIns="0" rIns="0" bIns="0" rtlCol="0" anchor="t"/>
          <a:lstStyle/>
          <a:p>
            <a:pPr indent="0" marL="0">
              <a:buNone/>
            </a:pPr>
            <a:r>
              <a:rPr lang="en-US" sz="1200" dirty="0">
                <a:solidFill>
                  <a:schemeClr val="bg2"/>
                </a:solidFill>
              </a:rPr>
              <a:t>Switch between 36 synthetic patient profiles</a:t>
            </a:r>
            <a:endParaRPr lang="en-US" sz="1200" dirty="0"/>
          </a:p>
        </p:txBody>
      </p:sp>
      <p:sp>
        <p:nvSpPr>
          <p:cNvPr id="12" name="Shape 9"/>
          <p:cNvSpPr/>
          <p:nvPr/>
        </p:nvSpPr>
        <p:spPr>
          <a:xfrm>
            <a:off x="1715423" y="2586679"/>
            <a:ext cx="310896" cy="310896"/>
          </a:xfrm>
          <a:prstGeom prst="ellipse">
            <a:avLst/>
          </a:prstGeom>
          <a:solidFill>
            <a:schemeClr val="accent1"/>
          </a:solidFill>
          <a:ln w="19050">
            <a:solidFill>
              <a:schemeClr val="tx1"/>
            </a:solidFill>
            <a:prstDash val="solid"/>
          </a:ln>
        </p:spPr>
        <p:txBody>
          <a:bodyPr/>
          <a:p/>
        </p:txBody>
      </p:sp>
      <p:sp>
        <p:nvSpPr>
          <p:cNvPr id="13" name="Text 10"/>
          <p:cNvSpPr txBox="1"/>
          <p:nvPr/>
        </p:nvSpPr>
        <p:spPr>
          <a:xfrm>
            <a:off x="1715423" y="2586679"/>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4" name="Shape 11"/>
          <p:cNvSpPr/>
          <p:nvPr/>
        </p:nvSpPr>
        <p:spPr>
          <a:xfrm>
            <a:off x="8503920" y="2414016"/>
            <a:ext cx="310896" cy="310896"/>
          </a:xfrm>
          <a:prstGeom prst="ellipse">
            <a:avLst/>
          </a:prstGeom>
          <a:solidFill>
            <a:schemeClr val="accent1">
              <a:alpha val="20000"/>
            </a:schemeClr>
          </a:solidFill>
          <a:ln w="12700">
            <a:solidFill>
              <a:schemeClr val="accent1"/>
            </a:solidFill>
            <a:prstDash val="solid"/>
          </a:ln>
        </p:spPr>
        <p:txBody>
          <a:bodyPr/>
          <a:p/>
        </p:txBody>
      </p:sp>
      <p:sp>
        <p:nvSpPr>
          <p:cNvPr id="15" name="Text 12"/>
          <p:cNvSpPr txBox="1"/>
          <p:nvPr/>
        </p:nvSpPr>
        <p:spPr>
          <a:xfrm>
            <a:off x="8503920" y="2414016"/>
            <a:ext cx="310896" cy="310896"/>
          </a:xfrm>
          <a:prstGeom prst="rect">
            <a:avLst/>
          </a:prstGeom>
          <a:noFill/>
          <a:ln/>
        </p:spPr>
        <p:txBody>
          <a:bodyPr wrap="square" lIns="0" tIns="0" rIns="0" bIns="0" rtlCol="0" anchor="ctr"/>
          <a:lstStyle/>
          <a:p>
            <a:pPr algn="ctr" indent="0" marL="0">
              <a:buNone/>
            </a:pPr>
            <a:r>
              <a:rPr lang="en-US" sz="1200" b="1" dirty="0">
                <a:solidFill>
                  <a:schemeClr val="accent1"/>
                </a:solidFill>
              </a:rPr>
              <a:t>2</a:t>
            </a:r>
            <a:endParaRPr lang="en-US" sz="1200" dirty="0"/>
          </a:p>
        </p:txBody>
      </p:sp>
      <p:sp>
        <p:nvSpPr>
          <p:cNvPr id="16" name="Text 13"/>
          <p:cNvSpPr txBox="1"/>
          <p:nvPr/>
        </p:nvSpPr>
        <p:spPr>
          <a:xfrm>
            <a:off x="8961120" y="2368296"/>
            <a:ext cx="2697480" cy="274320"/>
          </a:xfrm>
          <a:prstGeom prst="rect">
            <a:avLst/>
          </a:prstGeom>
          <a:noFill/>
          <a:ln/>
        </p:spPr>
        <p:txBody>
          <a:bodyPr wrap="square" lIns="0" tIns="0" rIns="0" bIns="0" rtlCol="0" anchor="t"/>
          <a:lstStyle/>
          <a:p>
            <a:pPr indent="0" marL="0">
              <a:buNone/>
            </a:pPr>
            <a:r>
              <a:rPr lang="en-US" sz="1500" b="1" dirty="0">
                <a:solidFill>
                  <a:schemeClr val="bg1"/>
                </a:solidFill>
              </a:rPr>
              <a:t>Prediction target</a:t>
            </a:r>
            <a:endParaRPr lang="en-US" sz="1500" dirty="0"/>
          </a:p>
        </p:txBody>
      </p:sp>
      <p:sp>
        <p:nvSpPr>
          <p:cNvPr id="17" name="Text 14"/>
          <p:cNvSpPr txBox="1"/>
          <p:nvPr/>
        </p:nvSpPr>
        <p:spPr>
          <a:xfrm>
            <a:off x="8961120" y="2670048"/>
            <a:ext cx="2697480" cy="365760"/>
          </a:xfrm>
          <a:prstGeom prst="rect">
            <a:avLst/>
          </a:prstGeom>
          <a:noFill/>
          <a:ln/>
        </p:spPr>
        <p:txBody>
          <a:bodyPr wrap="square" lIns="0" tIns="0" rIns="0" bIns="0" rtlCol="0" anchor="t"/>
          <a:lstStyle/>
          <a:p>
            <a:pPr indent="0" marL="0">
              <a:buNone/>
            </a:pPr>
            <a:r>
              <a:rPr lang="en-US" sz="1200" dirty="0">
                <a:solidFill>
                  <a:schemeClr val="bg2"/>
                </a:solidFill>
              </a:rPr>
              <a:t>180 mg/dL within 120 minutes</a:t>
            </a:r>
            <a:endParaRPr lang="en-US" sz="1200" dirty="0"/>
          </a:p>
        </p:txBody>
      </p:sp>
      <p:sp>
        <p:nvSpPr>
          <p:cNvPr id="18" name="Shape 15"/>
          <p:cNvSpPr/>
          <p:nvPr/>
        </p:nvSpPr>
        <p:spPr>
          <a:xfrm>
            <a:off x="7525226" y="2266138"/>
            <a:ext cx="310896" cy="310896"/>
          </a:xfrm>
          <a:prstGeom prst="ellipse">
            <a:avLst/>
          </a:prstGeom>
          <a:solidFill>
            <a:schemeClr val="accent1"/>
          </a:solidFill>
          <a:ln w="19050">
            <a:solidFill>
              <a:schemeClr val="tx1"/>
            </a:solidFill>
            <a:prstDash val="solid"/>
          </a:ln>
        </p:spPr>
        <p:txBody>
          <a:bodyPr/>
          <a:p/>
        </p:txBody>
      </p:sp>
      <p:sp>
        <p:nvSpPr>
          <p:cNvPr id="19" name="Text 16"/>
          <p:cNvSpPr txBox="1"/>
          <p:nvPr/>
        </p:nvSpPr>
        <p:spPr>
          <a:xfrm>
            <a:off x="7525226" y="2266138"/>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20" name="Shape 17"/>
          <p:cNvSpPr/>
          <p:nvPr/>
        </p:nvSpPr>
        <p:spPr>
          <a:xfrm>
            <a:off x="8503920" y="3182112"/>
            <a:ext cx="310896" cy="310896"/>
          </a:xfrm>
          <a:prstGeom prst="ellipse">
            <a:avLst/>
          </a:prstGeom>
          <a:solidFill>
            <a:schemeClr val="accent1">
              <a:alpha val="20000"/>
            </a:schemeClr>
          </a:solidFill>
          <a:ln w="12700">
            <a:solidFill>
              <a:schemeClr val="accent1"/>
            </a:solidFill>
            <a:prstDash val="solid"/>
          </a:ln>
        </p:spPr>
        <p:txBody>
          <a:bodyPr/>
          <a:p/>
        </p:txBody>
      </p:sp>
      <p:sp>
        <p:nvSpPr>
          <p:cNvPr id="21" name="Text 18"/>
          <p:cNvSpPr txBox="1"/>
          <p:nvPr/>
        </p:nvSpPr>
        <p:spPr>
          <a:xfrm>
            <a:off x="8503920" y="3182112"/>
            <a:ext cx="310896" cy="310896"/>
          </a:xfrm>
          <a:prstGeom prst="rect">
            <a:avLst/>
          </a:prstGeom>
          <a:noFill/>
          <a:ln/>
        </p:spPr>
        <p:txBody>
          <a:bodyPr wrap="square" lIns="0" tIns="0" rIns="0" bIns="0" rtlCol="0" anchor="ctr"/>
          <a:lstStyle/>
          <a:p>
            <a:pPr algn="ctr" indent="0" marL="0">
              <a:buNone/>
            </a:pPr>
            <a:r>
              <a:rPr lang="en-US" sz="1200" b="1" dirty="0">
                <a:solidFill>
                  <a:schemeClr val="accent1"/>
                </a:solidFill>
              </a:rPr>
              <a:t>3</a:t>
            </a:r>
            <a:endParaRPr lang="en-US" sz="1200" dirty="0"/>
          </a:p>
        </p:txBody>
      </p:sp>
      <p:sp>
        <p:nvSpPr>
          <p:cNvPr id="22" name="Text 19"/>
          <p:cNvSpPr txBox="1"/>
          <p:nvPr/>
        </p:nvSpPr>
        <p:spPr>
          <a:xfrm>
            <a:off x="8961120" y="3136392"/>
            <a:ext cx="2697480" cy="274320"/>
          </a:xfrm>
          <a:prstGeom prst="rect">
            <a:avLst/>
          </a:prstGeom>
          <a:noFill/>
          <a:ln/>
        </p:spPr>
        <p:txBody>
          <a:bodyPr wrap="square" lIns="0" tIns="0" rIns="0" bIns="0" rtlCol="0" anchor="t"/>
          <a:lstStyle/>
          <a:p>
            <a:pPr indent="0" marL="0">
              <a:buNone/>
            </a:pPr>
            <a:r>
              <a:rPr lang="en-US" sz="1500" b="1" dirty="0">
                <a:solidFill>
                  <a:schemeClr val="bg1"/>
                </a:solidFill>
              </a:rPr>
              <a:t>Safety banner</a:t>
            </a:r>
            <a:endParaRPr lang="en-US" sz="1500" dirty="0"/>
          </a:p>
        </p:txBody>
      </p:sp>
      <p:sp>
        <p:nvSpPr>
          <p:cNvPr id="23" name="Text 20"/>
          <p:cNvSpPr txBox="1"/>
          <p:nvPr/>
        </p:nvSpPr>
        <p:spPr>
          <a:xfrm>
            <a:off x="8961120" y="3438144"/>
            <a:ext cx="2697480" cy="365760"/>
          </a:xfrm>
          <a:prstGeom prst="rect">
            <a:avLst/>
          </a:prstGeom>
          <a:noFill/>
          <a:ln/>
        </p:spPr>
        <p:txBody>
          <a:bodyPr wrap="square" lIns="0" tIns="0" rIns="0" bIns="0" rtlCol="0" anchor="t"/>
          <a:lstStyle/>
          <a:p>
            <a:pPr indent="0" marL="0">
              <a:buNone/>
            </a:pPr>
            <a:r>
              <a:rPr lang="en-US" sz="1200" dirty="0">
                <a:solidFill>
                  <a:schemeClr val="bg2"/>
                </a:solidFill>
              </a:rPr>
              <a:t>Synthetic, experimental, non-clinical</a:t>
            </a:r>
            <a:endParaRPr lang="en-US" sz="1200" dirty="0"/>
          </a:p>
        </p:txBody>
      </p:sp>
      <p:sp>
        <p:nvSpPr>
          <p:cNvPr id="24" name="Shape 21"/>
          <p:cNvSpPr/>
          <p:nvPr/>
        </p:nvSpPr>
        <p:spPr>
          <a:xfrm>
            <a:off x="7525226" y="3295875"/>
            <a:ext cx="310896" cy="310896"/>
          </a:xfrm>
          <a:prstGeom prst="ellipse">
            <a:avLst/>
          </a:prstGeom>
          <a:solidFill>
            <a:schemeClr val="accent1"/>
          </a:solidFill>
          <a:ln w="19050">
            <a:solidFill>
              <a:schemeClr val="tx1"/>
            </a:solidFill>
            <a:prstDash val="solid"/>
          </a:ln>
        </p:spPr>
        <p:txBody>
          <a:bodyPr/>
          <a:p/>
        </p:txBody>
      </p:sp>
      <p:sp>
        <p:nvSpPr>
          <p:cNvPr id="25" name="Text 22"/>
          <p:cNvSpPr txBox="1"/>
          <p:nvPr/>
        </p:nvSpPr>
        <p:spPr>
          <a:xfrm>
            <a:off x="7525226" y="3295875"/>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26" name="Shape 23"/>
          <p:cNvSpPr/>
          <p:nvPr/>
        </p:nvSpPr>
        <p:spPr>
          <a:xfrm>
            <a:off x="8503920" y="3950208"/>
            <a:ext cx="310896" cy="310896"/>
          </a:xfrm>
          <a:prstGeom prst="ellipse">
            <a:avLst/>
          </a:prstGeom>
          <a:solidFill>
            <a:schemeClr val="accent1">
              <a:alpha val="20000"/>
            </a:schemeClr>
          </a:solidFill>
          <a:ln w="12700">
            <a:solidFill>
              <a:schemeClr val="accent1"/>
            </a:solidFill>
            <a:prstDash val="solid"/>
          </a:ln>
        </p:spPr>
        <p:txBody>
          <a:bodyPr/>
          <a:p/>
        </p:txBody>
      </p:sp>
      <p:sp>
        <p:nvSpPr>
          <p:cNvPr id="27" name="Text 24"/>
          <p:cNvSpPr txBox="1"/>
          <p:nvPr/>
        </p:nvSpPr>
        <p:spPr>
          <a:xfrm>
            <a:off x="8503920" y="3950208"/>
            <a:ext cx="310896" cy="310896"/>
          </a:xfrm>
          <a:prstGeom prst="rect">
            <a:avLst/>
          </a:prstGeom>
          <a:noFill/>
          <a:ln/>
        </p:spPr>
        <p:txBody>
          <a:bodyPr wrap="square" lIns="0" tIns="0" rIns="0" bIns="0" rtlCol="0" anchor="ctr"/>
          <a:lstStyle/>
          <a:p>
            <a:pPr algn="ctr" indent="0" marL="0">
              <a:buNone/>
            </a:pPr>
            <a:r>
              <a:rPr lang="en-US" sz="1200" b="1" dirty="0">
                <a:solidFill>
                  <a:schemeClr val="accent1"/>
                </a:solidFill>
              </a:rPr>
              <a:t>4</a:t>
            </a:r>
            <a:endParaRPr lang="en-US" sz="1200" dirty="0"/>
          </a:p>
        </p:txBody>
      </p:sp>
      <p:sp>
        <p:nvSpPr>
          <p:cNvPr id="28" name="Text 25"/>
          <p:cNvSpPr txBox="1"/>
          <p:nvPr/>
        </p:nvSpPr>
        <p:spPr>
          <a:xfrm>
            <a:off x="8961120" y="3904488"/>
            <a:ext cx="2697480" cy="274320"/>
          </a:xfrm>
          <a:prstGeom prst="rect">
            <a:avLst/>
          </a:prstGeom>
          <a:noFill/>
          <a:ln/>
        </p:spPr>
        <p:txBody>
          <a:bodyPr wrap="square" lIns="0" tIns="0" rIns="0" bIns="0" rtlCol="0" anchor="t"/>
          <a:lstStyle/>
          <a:p>
            <a:pPr indent="0" marL="0">
              <a:buNone/>
            </a:pPr>
            <a:r>
              <a:rPr lang="en-US" sz="1500" b="1" dirty="0">
                <a:solidFill>
                  <a:schemeClr val="bg1"/>
                </a:solidFill>
              </a:rPr>
              <a:t>Overview metrics</a:t>
            </a:r>
            <a:endParaRPr lang="en-US" sz="1500" dirty="0"/>
          </a:p>
        </p:txBody>
      </p:sp>
      <p:sp>
        <p:nvSpPr>
          <p:cNvPr id="29" name="Text 26"/>
          <p:cNvSpPr txBox="1"/>
          <p:nvPr/>
        </p:nvSpPr>
        <p:spPr>
          <a:xfrm>
            <a:off x="8961120" y="4206240"/>
            <a:ext cx="2697480" cy="365760"/>
          </a:xfrm>
          <a:prstGeom prst="rect">
            <a:avLst/>
          </a:prstGeom>
          <a:noFill/>
          <a:ln/>
        </p:spPr>
        <p:txBody>
          <a:bodyPr wrap="square" lIns="0" tIns="0" rIns="0" bIns="0" rtlCol="0" anchor="t"/>
          <a:lstStyle/>
          <a:p>
            <a:pPr indent="0" marL="0">
              <a:buNone/>
            </a:pPr>
            <a:r>
              <a:rPr lang="en-US" sz="1200" dirty="0">
                <a:solidFill>
                  <a:schemeClr val="bg2"/>
                </a:solidFill>
              </a:rPr>
              <a:t>Glucose, probability, band, time</a:t>
            </a:r>
            <a:endParaRPr lang="en-US" sz="1200" dirty="0"/>
          </a:p>
        </p:txBody>
      </p:sp>
      <p:sp>
        <p:nvSpPr>
          <p:cNvPr id="30" name="Shape 27"/>
          <p:cNvSpPr/>
          <p:nvPr/>
        </p:nvSpPr>
        <p:spPr>
          <a:xfrm>
            <a:off x="4440020" y="4017092"/>
            <a:ext cx="310896" cy="310896"/>
          </a:xfrm>
          <a:prstGeom prst="ellipse">
            <a:avLst/>
          </a:prstGeom>
          <a:solidFill>
            <a:schemeClr val="accent1"/>
          </a:solidFill>
          <a:ln w="19050">
            <a:solidFill>
              <a:schemeClr val="tx1"/>
            </a:solidFill>
            <a:prstDash val="solid"/>
          </a:ln>
        </p:spPr>
        <p:txBody>
          <a:bodyPr/>
          <a:p/>
        </p:txBody>
      </p:sp>
      <p:sp>
        <p:nvSpPr>
          <p:cNvPr id="31" name="Text 28"/>
          <p:cNvSpPr txBox="1"/>
          <p:nvPr/>
        </p:nvSpPr>
        <p:spPr>
          <a:xfrm>
            <a:off x="4440020" y="4017092"/>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5</a:t>
            </a:r>
            <a:endParaRPr lang="en-US" sz="1200" dirty="0"/>
          </a:p>
        </p:txBody>
      </p:sp>
      <p:sp>
        <p:nvSpPr>
          <p:cNvPr id="32" name="Shape 29"/>
          <p:cNvSpPr/>
          <p:nvPr/>
        </p:nvSpPr>
        <p:spPr>
          <a:xfrm>
            <a:off x="8503920" y="4718304"/>
            <a:ext cx="310896" cy="310896"/>
          </a:xfrm>
          <a:prstGeom prst="ellipse">
            <a:avLst/>
          </a:prstGeom>
          <a:solidFill>
            <a:schemeClr val="accent1">
              <a:alpha val="20000"/>
            </a:schemeClr>
          </a:solidFill>
          <a:ln w="12700">
            <a:solidFill>
              <a:schemeClr val="accent1"/>
            </a:solidFill>
            <a:prstDash val="solid"/>
          </a:ln>
        </p:spPr>
        <p:txBody>
          <a:bodyPr/>
          <a:p/>
        </p:txBody>
      </p:sp>
      <p:sp>
        <p:nvSpPr>
          <p:cNvPr id="33" name="Text 30"/>
          <p:cNvSpPr txBox="1"/>
          <p:nvPr/>
        </p:nvSpPr>
        <p:spPr>
          <a:xfrm>
            <a:off x="8503920" y="4718304"/>
            <a:ext cx="310896" cy="310896"/>
          </a:xfrm>
          <a:prstGeom prst="rect">
            <a:avLst/>
          </a:prstGeom>
          <a:noFill/>
          <a:ln/>
        </p:spPr>
        <p:txBody>
          <a:bodyPr wrap="square" lIns="0" tIns="0" rIns="0" bIns="0" rtlCol="0" anchor="ctr"/>
          <a:lstStyle/>
          <a:p>
            <a:pPr algn="ctr" indent="0" marL="0">
              <a:buNone/>
            </a:pPr>
            <a:r>
              <a:rPr lang="en-US" sz="1200" b="1" dirty="0">
                <a:solidFill>
                  <a:schemeClr val="accent1"/>
                </a:solidFill>
              </a:rPr>
              <a:t>5</a:t>
            </a:r>
            <a:endParaRPr lang="en-US" sz="1200" dirty="0"/>
          </a:p>
        </p:txBody>
      </p:sp>
      <p:sp>
        <p:nvSpPr>
          <p:cNvPr id="34" name="Text 31"/>
          <p:cNvSpPr txBox="1"/>
          <p:nvPr/>
        </p:nvSpPr>
        <p:spPr>
          <a:xfrm>
            <a:off x="8961120" y="4672584"/>
            <a:ext cx="2697480" cy="274320"/>
          </a:xfrm>
          <a:prstGeom prst="rect">
            <a:avLst/>
          </a:prstGeom>
          <a:noFill/>
          <a:ln/>
        </p:spPr>
        <p:txBody>
          <a:bodyPr wrap="square" lIns="0" tIns="0" rIns="0" bIns="0" rtlCol="0" anchor="t"/>
          <a:lstStyle/>
          <a:p>
            <a:pPr indent="0" marL="0">
              <a:buNone/>
            </a:pPr>
            <a:r>
              <a:rPr lang="en-US" sz="1500" b="1" dirty="0">
                <a:solidFill>
                  <a:schemeClr val="bg1"/>
                </a:solidFill>
              </a:rPr>
              <a:t>Virtual patient profile</a:t>
            </a:r>
            <a:endParaRPr lang="en-US" sz="1500" dirty="0"/>
          </a:p>
        </p:txBody>
      </p:sp>
      <p:sp>
        <p:nvSpPr>
          <p:cNvPr id="35" name="Text 32"/>
          <p:cNvSpPr txBox="1"/>
          <p:nvPr/>
        </p:nvSpPr>
        <p:spPr>
          <a:xfrm>
            <a:off x="8961120" y="4974336"/>
            <a:ext cx="2697480" cy="365760"/>
          </a:xfrm>
          <a:prstGeom prst="rect">
            <a:avLst/>
          </a:prstGeom>
          <a:noFill/>
          <a:ln/>
        </p:spPr>
        <p:txBody>
          <a:bodyPr wrap="square" lIns="0" tIns="0" rIns="0" bIns="0" rtlCol="0" anchor="t"/>
          <a:lstStyle/>
          <a:p>
            <a:pPr indent="0" marL="0">
              <a:buNone/>
            </a:pPr>
            <a:r>
              <a:rPr lang="en-US" sz="1200" dirty="0">
                <a:solidFill>
                  <a:schemeClr val="bg2"/>
                </a:solidFill>
              </a:rPr>
              <a:t>Age, diagnosis, HbA1c, baseline</a:t>
            </a:r>
            <a:endParaRPr lang="en-US" sz="1200" dirty="0"/>
          </a:p>
        </p:txBody>
      </p:sp>
      <p:sp>
        <p:nvSpPr>
          <p:cNvPr id="36" name="Text 33"/>
          <p:cNvSpPr txBox="1"/>
          <p:nvPr/>
        </p:nvSpPr>
        <p:spPr>
          <a:xfrm>
            <a:off x="548640" y="5486400"/>
            <a:ext cx="7680960" cy="274320"/>
          </a:xfrm>
          <a:prstGeom prst="rect">
            <a:avLst/>
          </a:prstGeom>
          <a:noFill/>
          <a:ln/>
        </p:spPr>
        <p:txBody>
          <a:bodyPr wrap="square" lIns="0" tIns="0" rIns="0" bIns="0" rtlCol="0" anchor="t"/>
          <a:lstStyle/>
          <a:p>
            <a:pPr indent="0" marL="0">
              <a:buNone/>
            </a:pPr>
            <a:r>
              <a:rPr lang="en-US" sz="1100" dirty="0">
                <a:solidFill>
                  <a:schemeClr val="bg2"/>
                </a:solidFill>
              </a:rPr>
              <a:t>Dashboard illustration · synthetic data</a:t>
            </a:r>
            <a:endParaRPr lang="en-US" sz="1100" dirty="0"/>
          </a:p>
        </p:txBody>
      </p:sp>
      <p:sp>
        <p:nvSpPr>
          <p:cNvPr id="37" name="Shape 34"/>
          <p:cNvSpPr/>
          <p:nvPr/>
        </p:nvSpPr>
        <p:spPr>
          <a:xfrm>
            <a:off x="8503920" y="5486400"/>
            <a:ext cx="2011680" cy="292608"/>
          </a:xfrm>
          <a:prstGeom prst="roundRect">
            <a:avLst>
              <a:gd name="adj" fmla="val 50000"/>
            </a:avLst>
          </a:prstGeom>
          <a:solidFill>
            <a:schemeClr val="accent2">
              <a:alpha val="18000"/>
            </a:schemeClr>
          </a:solidFill>
          <a:ln w="9525">
            <a:solidFill>
              <a:schemeClr val="accent2"/>
            </a:solidFill>
            <a:prstDash val="solid"/>
          </a:ln>
        </p:spPr>
        <p:txBody>
          <a:bodyPr/>
          <a:p/>
        </p:txBody>
      </p:sp>
      <p:sp>
        <p:nvSpPr>
          <p:cNvPr id="38" name="Text 35"/>
          <p:cNvSpPr txBox="1"/>
          <p:nvPr/>
        </p:nvSpPr>
        <p:spPr>
          <a:xfrm>
            <a:off x="8503920" y="5486400"/>
            <a:ext cx="2011680" cy="292608"/>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IMPLEMENTED NOW</a:t>
            </a:r>
            <a:endParaRPr lang="en-US" sz="1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400" b="1" dirty="0">
                <a:solidFill>
                  <a:schemeClr val="bg1"/>
                </a:solidFill>
              </a:rPr>
              <a:t>Three layers, one clear data path</a:t>
            </a:r>
            <a:endParaRPr lang="en-US" sz="3400" dirty="0"/>
          </a:p>
        </p:txBody>
      </p:sp>
      <p:sp>
        <p:nvSpPr>
          <p:cNvPr id="3" name="Text 1"/>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SYSTEM ARCHITECTURE</a:t>
            </a:r>
            <a:endParaRPr lang="en-US" sz="1200" dirty="0"/>
          </a:p>
        </p:txBody>
      </p:sp>
      <p:sp>
        <p:nvSpPr>
          <p:cNvPr id="4" name="card"/>
          <p:cNvSpPr/>
          <p:nvPr/>
        </p:nvSpPr>
        <p:spPr>
          <a:xfrm>
            <a:off x="548640" y="1645920"/>
            <a:ext cx="3017520" cy="3429000"/>
          </a:xfrm>
          <a:prstGeom prst="roundRect">
            <a:avLst>
              <a:gd name="adj" fmla="val 3636"/>
            </a:avLst>
          </a:prstGeom>
          <a:solidFill>
            <a:schemeClr val="tx2"/>
          </a:solidFill>
          <a:ln w="9525">
            <a:solidFill>
              <a:schemeClr val="accent6"/>
            </a:solidFill>
            <a:prstDash val="solid"/>
          </a:ln>
        </p:spPr>
        <p:txBody>
          <a:bodyPr/>
          <a:p/>
        </p:txBody>
      </p:sp>
      <p:sp>
        <p:nvSpPr>
          <p:cNvPr id="5" name="Text 3"/>
          <p:cNvSpPr txBox="1"/>
          <p:nvPr/>
        </p:nvSpPr>
        <p:spPr>
          <a:xfrm>
            <a:off x="822960" y="1828800"/>
            <a:ext cx="246888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PRESENTATION</a:t>
            </a:r>
            <a:endParaRPr lang="en-US" sz="1100" dirty="0"/>
          </a:p>
        </p:txBody>
      </p:sp>
      <p:sp>
        <p:nvSpPr>
          <p:cNvPr id="6" name="Text 4"/>
          <p:cNvSpPr txBox="1"/>
          <p:nvPr/>
        </p:nvSpPr>
        <p:spPr>
          <a:xfrm>
            <a:off x="822960" y="2148840"/>
            <a:ext cx="2468880" cy="365760"/>
          </a:xfrm>
          <a:prstGeom prst="rect">
            <a:avLst/>
          </a:prstGeom>
          <a:noFill/>
          <a:ln/>
        </p:spPr>
        <p:txBody>
          <a:bodyPr wrap="square" lIns="0" tIns="0" rIns="0" bIns="0" rtlCol="0" anchor="t"/>
          <a:lstStyle/>
          <a:p>
            <a:pPr indent="0" marL="0">
              <a:buNone/>
            </a:pPr>
            <a:r>
              <a:rPr lang="en-US" sz="1900" b="1" dirty="0">
                <a:solidFill>
                  <a:schemeClr val="bg1"/>
                </a:solidFill>
              </a:rPr>
              <a:t>Streamlit dashboard</a:t>
            </a:r>
            <a:endParaRPr lang="en-US" sz="1900" dirty="0"/>
          </a:p>
        </p:txBody>
      </p:sp>
      <p:sp>
        <p:nvSpPr>
          <p:cNvPr id="7" name="Shape 5"/>
          <p:cNvSpPr/>
          <p:nvPr/>
        </p:nvSpPr>
        <p:spPr>
          <a:xfrm>
            <a:off x="822960" y="2743200"/>
            <a:ext cx="2468880" cy="365760"/>
          </a:xfrm>
          <a:prstGeom prst="roundRect">
            <a:avLst>
              <a:gd name="adj" fmla="val 20000"/>
            </a:avLst>
          </a:prstGeom>
          <a:solidFill>
            <a:schemeClr val="accent6"/>
          </a:solidFill>
          <a:ln w="6350">
            <a:solidFill>
              <a:schemeClr val="accent6"/>
            </a:solidFill>
            <a:prstDash val="solid"/>
          </a:ln>
        </p:spPr>
        <p:txBody>
          <a:bodyPr/>
          <a:p/>
        </p:txBody>
      </p:sp>
      <p:sp>
        <p:nvSpPr>
          <p:cNvPr id="8" name="Text 6"/>
          <p:cNvSpPr txBox="1"/>
          <p:nvPr/>
        </p:nvSpPr>
        <p:spPr>
          <a:xfrm>
            <a:off x="932688" y="2743200"/>
            <a:ext cx="2286000" cy="365760"/>
          </a:xfrm>
          <a:prstGeom prst="rect">
            <a:avLst/>
          </a:prstGeom>
          <a:noFill/>
          <a:ln/>
        </p:spPr>
        <p:txBody>
          <a:bodyPr wrap="square" lIns="0" tIns="0" rIns="0" bIns="0" rtlCol="0" anchor="ctr"/>
          <a:lstStyle/>
          <a:p>
            <a:pPr indent="0" marL="0">
              <a:buNone/>
            </a:pPr>
            <a:r>
              <a:rPr lang="en-US" sz="1300" dirty="0">
                <a:solidFill>
                  <a:schemeClr val="bg1"/>
                </a:solidFill>
              </a:rPr>
              <a:t>Patient selector</a:t>
            </a:r>
            <a:endParaRPr lang="en-US" sz="1300" dirty="0"/>
          </a:p>
        </p:txBody>
      </p:sp>
      <p:sp>
        <p:nvSpPr>
          <p:cNvPr id="9" name="Shape 7"/>
          <p:cNvSpPr/>
          <p:nvPr/>
        </p:nvSpPr>
        <p:spPr>
          <a:xfrm>
            <a:off x="822960" y="3200400"/>
            <a:ext cx="2468880" cy="365760"/>
          </a:xfrm>
          <a:prstGeom prst="roundRect">
            <a:avLst>
              <a:gd name="adj" fmla="val 20000"/>
            </a:avLst>
          </a:prstGeom>
          <a:solidFill>
            <a:schemeClr val="accent6"/>
          </a:solidFill>
          <a:ln w="6350">
            <a:solidFill>
              <a:schemeClr val="accent6"/>
            </a:solidFill>
            <a:prstDash val="solid"/>
          </a:ln>
        </p:spPr>
        <p:txBody>
          <a:bodyPr/>
          <a:p/>
        </p:txBody>
      </p:sp>
      <p:sp>
        <p:nvSpPr>
          <p:cNvPr id="10" name="Text 8"/>
          <p:cNvSpPr txBox="1"/>
          <p:nvPr/>
        </p:nvSpPr>
        <p:spPr>
          <a:xfrm>
            <a:off x="932688" y="3200400"/>
            <a:ext cx="2286000" cy="365760"/>
          </a:xfrm>
          <a:prstGeom prst="rect">
            <a:avLst/>
          </a:prstGeom>
          <a:noFill/>
          <a:ln/>
        </p:spPr>
        <p:txBody>
          <a:bodyPr wrap="square" lIns="0" tIns="0" rIns="0" bIns="0" rtlCol="0" anchor="ctr"/>
          <a:lstStyle/>
          <a:p>
            <a:pPr indent="0" marL="0">
              <a:buNone/>
            </a:pPr>
            <a:r>
              <a:rPr lang="en-US" sz="1300" dirty="0">
                <a:solidFill>
                  <a:schemeClr val="bg1"/>
                </a:solidFill>
              </a:rPr>
              <a:t>Overview metrics</a:t>
            </a:r>
            <a:endParaRPr lang="en-US" sz="1300" dirty="0"/>
          </a:p>
        </p:txBody>
      </p:sp>
      <p:sp>
        <p:nvSpPr>
          <p:cNvPr id="11" name="Shape 9"/>
          <p:cNvSpPr/>
          <p:nvPr/>
        </p:nvSpPr>
        <p:spPr>
          <a:xfrm>
            <a:off x="822960" y="3657600"/>
            <a:ext cx="2468880" cy="365760"/>
          </a:xfrm>
          <a:prstGeom prst="roundRect">
            <a:avLst>
              <a:gd name="adj" fmla="val 20000"/>
            </a:avLst>
          </a:prstGeom>
          <a:solidFill>
            <a:schemeClr val="accent6"/>
          </a:solidFill>
          <a:ln w="6350">
            <a:solidFill>
              <a:schemeClr val="accent6"/>
            </a:solidFill>
            <a:prstDash val="solid"/>
          </a:ln>
        </p:spPr>
        <p:txBody>
          <a:bodyPr/>
          <a:p/>
        </p:txBody>
      </p:sp>
      <p:sp>
        <p:nvSpPr>
          <p:cNvPr id="12" name="Text 10"/>
          <p:cNvSpPr txBox="1"/>
          <p:nvPr/>
        </p:nvSpPr>
        <p:spPr>
          <a:xfrm>
            <a:off x="932688" y="3657600"/>
            <a:ext cx="2286000" cy="365760"/>
          </a:xfrm>
          <a:prstGeom prst="rect">
            <a:avLst/>
          </a:prstGeom>
          <a:noFill/>
          <a:ln/>
        </p:spPr>
        <p:txBody>
          <a:bodyPr wrap="square" lIns="0" tIns="0" rIns="0" bIns="0" rtlCol="0" anchor="ctr"/>
          <a:lstStyle/>
          <a:p>
            <a:pPr indent="0" marL="0">
              <a:buNone/>
            </a:pPr>
            <a:r>
              <a:rPr lang="en-US" sz="1300" dirty="0">
                <a:solidFill>
                  <a:schemeClr val="bg1"/>
                </a:solidFill>
              </a:rPr>
              <a:t>Virtual patient profile</a:t>
            </a:r>
            <a:endParaRPr lang="en-US" sz="1300" dirty="0"/>
          </a:p>
        </p:txBody>
      </p:sp>
      <p:sp>
        <p:nvSpPr>
          <p:cNvPr id="13" name="Shape 11"/>
          <p:cNvSpPr/>
          <p:nvPr/>
        </p:nvSpPr>
        <p:spPr>
          <a:xfrm>
            <a:off x="822960" y="4114800"/>
            <a:ext cx="2468880" cy="365760"/>
          </a:xfrm>
          <a:prstGeom prst="roundRect">
            <a:avLst>
              <a:gd name="adj" fmla="val 20000"/>
            </a:avLst>
          </a:prstGeom>
          <a:solidFill>
            <a:schemeClr val="accent6"/>
          </a:solidFill>
          <a:ln w="6350">
            <a:solidFill>
              <a:schemeClr val="accent6"/>
            </a:solidFill>
            <a:prstDash val="solid"/>
          </a:ln>
        </p:spPr>
        <p:txBody>
          <a:bodyPr/>
          <a:p/>
        </p:txBody>
      </p:sp>
      <p:sp>
        <p:nvSpPr>
          <p:cNvPr id="14" name="Text 12"/>
          <p:cNvSpPr txBox="1"/>
          <p:nvPr/>
        </p:nvSpPr>
        <p:spPr>
          <a:xfrm>
            <a:off x="932688" y="4114800"/>
            <a:ext cx="2286000" cy="365760"/>
          </a:xfrm>
          <a:prstGeom prst="rect">
            <a:avLst/>
          </a:prstGeom>
          <a:noFill/>
          <a:ln/>
        </p:spPr>
        <p:txBody>
          <a:bodyPr wrap="square" lIns="0" tIns="0" rIns="0" bIns="0" rtlCol="0" anchor="ctr"/>
          <a:lstStyle/>
          <a:p>
            <a:pPr indent="0" marL="0">
              <a:buNone/>
            </a:pPr>
            <a:r>
              <a:rPr lang="en-US" sz="1300" dirty="0">
                <a:solidFill>
                  <a:schemeClr val="bg1"/>
                </a:solidFill>
              </a:rPr>
              <a:t>Glucose timeline</a:t>
            </a:r>
            <a:endParaRPr lang="en-US" sz="1300" dirty="0"/>
          </a:p>
        </p:txBody>
      </p:sp>
      <p:sp>
        <p:nvSpPr>
          <p:cNvPr id="15" name="card"/>
          <p:cNvSpPr/>
          <p:nvPr/>
        </p:nvSpPr>
        <p:spPr>
          <a:xfrm>
            <a:off x="4114800" y="1645920"/>
            <a:ext cx="3566160" cy="3429000"/>
          </a:xfrm>
          <a:prstGeom prst="roundRect">
            <a:avLst>
              <a:gd name="adj" fmla="val 3200"/>
            </a:avLst>
          </a:prstGeom>
          <a:solidFill>
            <a:schemeClr val="tx2"/>
          </a:solidFill>
          <a:ln w="9525">
            <a:solidFill>
              <a:schemeClr val="accent6"/>
            </a:solidFill>
            <a:prstDash val="solid"/>
          </a:ln>
        </p:spPr>
        <p:txBody>
          <a:bodyPr/>
          <a:p/>
        </p:txBody>
      </p:sp>
      <p:sp>
        <p:nvSpPr>
          <p:cNvPr id="16" name="Text 14"/>
          <p:cNvSpPr txBox="1"/>
          <p:nvPr/>
        </p:nvSpPr>
        <p:spPr>
          <a:xfrm>
            <a:off x="4389120" y="1828800"/>
            <a:ext cx="301752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SERVICE</a:t>
            </a:r>
            <a:endParaRPr lang="en-US" sz="1100" dirty="0"/>
          </a:p>
        </p:txBody>
      </p:sp>
      <p:sp>
        <p:nvSpPr>
          <p:cNvPr id="17" name="Text 15"/>
          <p:cNvSpPr txBox="1"/>
          <p:nvPr/>
        </p:nvSpPr>
        <p:spPr>
          <a:xfrm>
            <a:off x="4389120" y="2148840"/>
            <a:ext cx="3017520" cy="365760"/>
          </a:xfrm>
          <a:prstGeom prst="rect">
            <a:avLst/>
          </a:prstGeom>
          <a:noFill/>
          <a:ln/>
        </p:spPr>
        <p:txBody>
          <a:bodyPr wrap="square" lIns="0" tIns="0" rIns="0" bIns="0" rtlCol="0" anchor="t"/>
          <a:lstStyle/>
          <a:p>
            <a:pPr indent="0" marL="0">
              <a:buNone/>
            </a:pPr>
            <a:r>
              <a:rPr lang="en-US" sz="1900" b="1" dirty="0">
                <a:solidFill>
                  <a:schemeClr val="bg1"/>
                </a:solidFill>
              </a:rPr>
              <a:t>FastAPI service</a:t>
            </a:r>
            <a:endParaRPr lang="en-US" sz="1900" dirty="0"/>
          </a:p>
        </p:txBody>
      </p:sp>
      <p:sp>
        <p:nvSpPr>
          <p:cNvPr id="18" name="Shape 16"/>
          <p:cNvSpPr/>
          <p:nvPr/>
        </p:nvSpPr>
        <p:spPr>
          <a:xfrm>
            <a:off x="4389120" y="2743200"/>
            <a:ext cx="3017520" cy="365760"/>
          </a:xfrm>
          <a:prstGeom prst="roundRect">
            <a:avLst>
              <a:gd name="adj" fmla="val 20000"/>
            </a:avLst>
          </a:prstGeom>
          <a:solidFill>
            <a:schemeClr val="accent6"/>
          </a:solidFill>
          <a:ln w="6350">
            <a:solidFill>
              <a:schemeClr val="accent6"/>
            </a:solidFill>
            <a:prstDash val="solid"/>
          </a:ln>
        </p:spPr>
        <p:txBody>
          <a:bodyPr/>
          <a:p/>
        </p:txBody>
      </p:sp>
      <p:sp>
        <p:nvSpPr>
          <p:cNvPr id="19" name="Text 17"/>
          <p:cNvSpPr txBox="1"/>
          <p:nvPr/>
        </p:nvSpPr>
        <p:spPr>
          <a:xfrm>
            <a:off x="4498848" y="2743200"/>
            <a:ext cx="2834640" cy="365760"/>
          </a:xfrm>
          <a:prstGeom prst="rect">
            <a:avLst/>
          </a:prstGeom>
          <a:noFill/>
          <a:ln/>
        </p:spPr>
        <p:txBody>
          <a:bodyPr wrap="square" lIns="0" tIns="0" rIns="0" bIns="0" rtlCol="0" anchor="ctr"/>
          <a:lstStyle/>
          <a:p>
            <a:pPr indent="0" marL="0">
              <a:buNone/>
            </a:pPr>
            <a:r>
              <a:rPr lang="en-US" sz="1150" dirty="0">
                <a:solidFill>
                  <a:schemeClr val="accent2"/>
                </a:solidFill>
                <a:latin typeface="Courier New" pitchFamily="34" charset="0"/>
                <a:ea typeface="Courier New" pitchFamily="34" charset="-122"/>
                <a:cs typeface="Courier New" pitchFamily="34" charset="-120"/>
              </a:rPr>
              <a:t>GET /health</a:t>
            </a:r>
            <a:endParaRPr lang="en-US" sz="1150" dirty="0"/>
          </a:p>
        </p:txBody>
      </p:sp>
      <p:sp>
        <p:nvSpPr>
          <p:cNvPr id="20" name="Shape 18"/>
          <p:cNvSpPr/>
          <p:nvPr/>
        </p:nvSpPr>
        <p:spPr>
          <a:xfrm>
            <a:off x="4389120" y="3200400"/>
            <a:ext cx="3017520" cy="365760"/>
          </a:xfrm>
          <a:prstGeom prst="roundRect">
            <a:avLst>
              <a:gd name="adj" fmla="val 20000"/>
            </a:avLst>
          </a:prstGeom>
          <a:solidFill>
            <a:schemeClr val="accent6"/>
          </a:solidFill>
          <a:ln w="6350">
            <a:solidFill>
              <a:schemeClr val="accent6"/>
            </a:solidFill>
            <a:prstDash val="solid"/>
          </a:ln>
        </p:spPr>
        <p:txBody>
          <a:bodyPr/>
          <a:p/>
        </p:txBody>
      </p:sp>
      <p:sp>
        <p:nvSpPr>
          <p:cNvPr id="21" name="Text 19"/>
          <p:cNvSpPr txBox="1"/>
          <p:nvPr/>
        </p:nvSpPr>
        <p:spPr>
          <a:xfrm>
            <a:off x="4498848" y="3200400"/>
            <a:ext cx="2834640" cy="365760"/>
          </a:xfrm>
          <a:prstGeom prst="rect">
            <a:avLst/>
          </a:prstGeom>
          <a:noFill/>
          <a:ln/>
        </p:spPr>
        <p:txBody>
          <a:bodyPr wrap="square" lIns="0" tIns="0" rIns="0" bIns="0" rtlCol="0" anchor="ctr"/>
          <a:lstStyle/>
          <a:p>
            <a:pPr indent="0" marL="0">
              <a:buNone/>
            </a:pPr>
            <a:r>
              <a:rPr lang="en-US" sz="1150" dirty="0">
                <a:solidFill>
                  <a:schemeClr val="accent2"/>
                </a:solidFill>
                <a:latin typeface="Courier New" pitchFamily="34" charset="0"/>
                <a:ea typeface="Courier New" pitchFamily="34" charset="-122"/>
                <a:cs typeface="Courier New" pitchFamily="34" charset="-120"/>
              </a:rPr>
              <a:t>GET /api/patients</a:t>
            </a:r>
            <a:endParaRPr lang="en-US" sz="1150" dirty="0"/>
          </a:p>
        </p:txBody>
      </p:sp>
      <p:sp>
        <p:nvSpPr>
          <p:cNvPr id="22" name="Shape 20"/>
          <p:cNvSpPr/>
          <p:nvPr/>
        </p:nvSpPr>
        <p:spPr>
          <a:xfrm>
            <a:off x="4389120" y="3657600"/>
            <a:ext cx="3017520" cy="365760"/>
          </a:xfrm>
          <a:prstGeom prst="roundRect">
            <a:avLst>
              <a:gd name="adj" fmla="val 20000"/>
            </a:avLst>
          </a:prstGeom>
          <a:solidFill>
            <a:schemeClr val="accent6"/>
          </a:solidFill>
          <a:ln w="6350">
            <a:solidFill>
              <a:schemeClr val="accent6"/>
            </a:solidFill>
            <a:prstDash val="solid"/>
          </a:ln>
        </p:spPr>
        <p:txBody>
          <a:bodyPr/>
          <a:p/>
        </p:txBody>
      </p:sp>
      <p:sp>
        <p:nvSpPr>
          <p:cNvPr id="23" name="Text 21"/>
          <p:cNvSpPr txBox="1"/>
          <p:nvPr/>
        </p:nvSpPr>
        <p:spPr>
          <a:xfrm>
            <a:off x="4498848" y="3657600"/>
            <a:ext cx="2834640" cy="365760"/>
          </a:xfrm>
          <a:prstGeom prst="rect">
            <a:avLst/>
          </a:prstGeom>
          <a:noFill/>
          <a:ln/>
        </p:spPr>
        <p:txBody>
          <a:bodyPr wrap="square" lIns="0" tIns="0" rIns="0" bIns="0" rtlCol="0" anchor="ctr"/>
          <a:lstStyle/>
          <a:p>
            <a:pPr indent="0" marL="0">
              <a:buNone/>
            </a:pPr>
            <a:r>
              <a:rPr lang="en-US" sz="1150" dirty="0">
                <a:solidFill>
                  <a:schemeClr val="accent2"/>
                </a:solidFill>
                <a:latin typeface="Courier New" pitchFamily="34" charset="0"/>
                <a:ea typeface="Courier New" pitchFamily="34" charset="-122"/>
                <a:cs typeface="Courier New" pitchFamily="34" charset="-120"/>
              </a:rPr>
              <a:t>GET /api/patient/{id}/timeline</a:t>
            </a:r>
            <a:endParaRPr lang="en-US" sz="1150" dirty="0"/>
          </a:p>
        </p:txBody>
      </p:sp>
      <p:sp>
        <p:nvSpPr>
          <p:cNvPr id="24" name="Shape 22"/>
          <p:cNvSpPr/>
          <p:nvPr/>
        </p:nvSpPr>
        <p:spPr>
          <a:xfrm>
            <a:off x="4389120" y="4114800"/>
            <a:ext cx="3017520" cy="365760"/>
          </a:xfrm>
          <a:prstGeom prst="roundRect">
            <a:avLst>
              <a:gd name="adj" fmla="val 20000"/>
            </a:avLst>
          </a:prstGeom>
          <a:solidFill>
            <a:schemeClr val="accent6"/>
          </a:solidFill>
          <a:ln w="6350">
            <a:solidFill>
              <a:schemeClr val="accent6"/>
            </a:solidFill>
            <a:prstDash val="solid"/>
          </a:ln>
        </p:spPr>
        <p:txBody>
          <a:bodyPr/>
          <a:p/>
        </p:txBody>
      </p:sp>
      <p:sp>
        <p:nvSpPr>
          <p:cNvPr id="25" name="Text 23"/>
          <p:cNvSpPr txBox="1"/>
          <p:nvPr/>
        </p:nvSpPr>
        <p:spPr>
          <a:xfrm>
            <a:off x="4498848" y="4114800"/>
            <a:ext cx="2834640" cy="365760"/>
          </a:xfrm>
          <a:prstGeom prst="rect">
            <a:avLst/>
          </a:prstGeom>
          <a:noFill/>
          <a:ln/>
        </p:spPr>
        <p:txBody>
          <a:bodyPr wrap="square" lIns="0" tIns="0" rIns="0" bIns="0" rtlCol="0" anchor="ctr"/>
          <a:lstStyle/>
          <a:p>
            <a:pPr indent="0" marL="0">
              <a:buNone/>
            </a:pPr>
            <a:r>
              <a:rPr lang="en-US" sz="1150" dirty="0">
                <a:solidFill>
                  <a:schemeClr val="accent2"/>
                </a:solidFill>
                <a:latin typeface="Courier New" pitchFamily="34" charset="0"/>
                <a:ea typeface="Courier New" pitchFamily="34" charset="-122"/>
                <a:cs typeface="Courier New" pitchFamily="34" charset="-120"/>
              </a:rPr>
              <a:t>GET /api/patient/{id}/predict</a:t>
            </a:r>
            <a:endParaRPr lang="en-US" sz="1150" dirty="0"/>
          </a:p>
        </p:txBody>
      </p:sp>
      <p:sp>
        <p:nvSpPr>
          <p:cNvPr id="26" name="Shape 24"/>
          <p:cNvSpPr/>
          <p:nvPr/>
        </p:nvSpPr>
        <p:spPr>
          <a:xfrm>
            <a:off x="4389120" y="4572000"/>
            <a:ext cx="3017520" cy="365760"/>
          </a:xfrm>
          <a:prstGeom prst="roundRect">
            <a:avLst>
              <a:gd name="adj" fmla="val 20000"/>
            </a:avLst>
          </a:prstGeom>
          <a:solidFill>
            <a:schemeClr val="accent6"/>
          </a:solidFill>
          <a:ln w="6350">
            <a:solidFill>
              <a:schemeClr val="accent6"/>
            </a:solidFill>
            <a:prstDash val="solid"/>
          </a:ln>
        </p:spPr>
        <p:txBody>
          <a:bodyPr/>
          <a:p/>
        </p:txBody>
      </p:sp>
      <p:sp>
        <p:nvSpPr>
          <p:cNvPr id="27" name="Text 25"/>
          <p:cNvSpPr txBox="1"/>
          <p:nvPr/>
        </p:nvSpPr>
        <p:spPr>
          <a:xfrm>
            <a:off x="4498848" y="4572000"/>
            <a:ext cx="2834640" cy="365760"/>
          </a:xfrm>
          <a:prstGeom prst="rect">
            <a:avLst/>
          </a:prstGeom>
          <a:noFill/>
          <a:ln/>
        </p:spPr>
        <p:txBody>
          <a:bodyPr wrap="square" lIns="0" tIns="0" rIns="0" bIns="0" rtlCol="0" anchor="ctr"/>
          <a:lstStyle/>
          <a:p>
            <a:pPr indent="0" marL="0">
              <a:buNone/>
            </a:pPr>
            <a:r>
              <a:rPr lang="en-US" sz="1150" dirty="0">
                <a:solidFill>
                  <a:schemeClr val="accent2"/>
                </a:solidFill>
                <a:latin typeface="Courier New" pitchFamily="34" charset="0"/>
                <a:ea typeface="Courier New" pitchFamily="34" charset="-122"/>
                <a:cs typeface="Courier New" pitchFamily="34" charset="-120"/>
              </a:rPr>
              <a:t>POST /api/simulate</a:t>
            </a:r>
            <a:endParaRPr lang="en-US" sz="1150" dirty="0"/>
          </a:p>
        </p:txBody>
      </p:sp>
      <p:sp>
        <p:nvSpPr>
          <p:cNvPr id="28" name="card"/>
          <p:cNvSpPr/>
          <p:nvPr/>
        </p:nvSpPr>
        <p:spPr>
          <a:xfrm>
            <a:off x="8229600" y="1645920"/>
            <a:ext cx="3410712" cy="3429000"/>
          </a:xfrm>
          <a:prstGeom prst="roundRect">
            <a:avLst>
              <a:gd name="adj" fmla="val 3217"/>
            </a:avLst>
          </a:prstGeom>
          <a:solidFill>
            <a:schemeClr val="tx2"/>
          </a:solidFill>
          <a:ln w="9525">
            <a:solidFill>
              <a:schemeClr val="accent6"/>
            </a:solidFill>
            <a:prstDash val="solid"/>
          </a:ln>
        </p:spPr>
        <p:txBody>
          <a:bodyPr/>
          <a:p/>
        </p:txBody>
      </p:sp>
      <p:sp>
        <p:nvSpPr>
          <p:cNvPr id="29" name="Text 27"/>
          <p:cNvSpPr txBox="1"/>
          <p:nvPr/>
        </p:nvSpPr>
        <p:spPr>
          <a:xfrm>
            <a:off x="8503920" y="1828800"/>
            <a:ext cx="2862072"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DATA &amp; LOGIC</a:t>
            </a:r>
            <a:endParaRPr lang="en-US" sz="1100" dirty="0"/>
          </a:p>
        </p:txBody>
      </p:sp>
      <p:sp>
        <p:nvSpPr>
          <p:cNvPr id="30" name="Text 28"/>
          <p:cNvSpPr txBox="1"/>
          <p:nvPr/>
        </p:nvSpPr>
        <p:spPr>
          <a:xfrm>
            <a:off x="8503920" y="2148840"/>
            <a:ext cx="2862072" cy="365760"/>
          </a:xfrm>
          <a:prstGeom prst="rect">
            <a:avLst/>
          </a:prstGeom>
          <a:noFill/>
          <a:ln/>
        </p:spPr>
        <p:txBody>
          <a:bodyPr wrap="square" lIns="0" tIns="0" rIns="0" bIns="0" rtlCol="0" anchor="t"/>
          <a:lstStyle/>
          <a:p>
            <a:pPr indent="0" marL="0">
              <a:buNone/>
            </a:pPr>
            <a:r>
              <a:rPr lang="en-US" sz="1900" b="1" dirty="0">
                <a:solidFill>
                  <a:schemeClr val="bg1"/>
                </a:solidFill>
              </a:rPr>
              <a:t>Synthetic data + trained ML</a:t>
            </a:r>
            <a:endParaRPr lang="en-US" sz="1900" dirty="0"/>
          </a:p>
        </p:txBody>
      </p:sp>
      <p:sp>
        <p:nvSpPr>
          <p:cNvPr id="31" name="Shape 29"/>
          <p:cNvSpPr/>
          <p:nvPr/>
        </p:nvSpPr>
        <p:spPr>
          <a:xfrm>
            <a:off x="8503920" y="2743200"/>
            <a:ext cx="2862072" cy="365760"/>
          </a:xfrm>
          <a:prstGeom prst="roundRect">
            <a:avLst>
              <a:gd name="adj" fmla="val 20000"/>
            </a:avLst>
          </a:prstGeom>
          <a:solidFill>
            <a:schemeClr val="accent6"/>
          </a:solidFill>
          <a:ln w="6350">
            <a:solidFill>
              <a:schemeClr val="accent6"/>
            </a:solidFill>
            <a:prstDash val="solid"/>
          </a:ln>
        </p:spPr>
        <p:txBody>
          <a:bodyPr/>
          <a:p/>
        </p:txBody>
      </p:sp>
      <p:sp>
        <p:nvSpPr>
          <p:cNvPr id="32" name="Text 30"/>
          <p:cNvSpPr txBox="1"/>
          <p:nvPr/>
        </p:nvSpPr>
        <p:spPr>
          <a:xfrm>
            <a:off x="8613648" y="2743200"/>
            <a:ext cx="2679192" cy="365760"/>
          </a:xfrm>
          <a:prstGeom prst="rect">
            <a:avLst/>
          </a:prstGeom>
          <a:noFill/>
          <a:ln/>
        </p:spPr>
        <p:txBody>
          <a:bodyPr wrap="square" lIns="0" tIns="0" rIns="0" bIns="0" rtlCol="0" anchor="ctr"/>
          <a:lstStyle/>
          <a:p>
            <a:pPr indent="0" marL="0">
              <a:buNone/>
            </a:pPr>
            <a:r>
              <a:rPr lang="en-US" sz="1300" dirty="0">
                <a:solidFill>
                  <a:schemeClr val="bg1"/>
                </a:solidFill>
              </a:rPr>
              <a:t>36 generated virtual patients</a:t>
            </a:r>
            <a:endParaRPr lang="en-US" sz="1300" dirty="0"/>
          </a:p>
        </p:txBody>
      </p:sp>
      <p:sp>
        <p:nvSpPr>
          <p:cNvPr id="33" name="Shape 31"/>
          <p:cNvSpPr/>
          <p:nvPr/>
        </p:nvSpPr>
        <p:spPr>
          <a:xfrm>
            <a:off x="8503920" y="3200400"/>
            <a:ext cx="2862072" cy="365760"/>
          </a:xfrm>
          <a:prstGeom prst="roundRect">
            <a:avLst>
              <a:gd name="adj" fmla="val 20000"/>
            </a:avLst>
          </a:prstGeom>
          <a:solidFill>
            <a:schemeClr val="accent6"/>
          </a:solidFill>
          <a:ln w="6350">
            <a:solidFill>
              <a:schemeClr val="accent6"/>
            </a:solidFill>
            <a:prstDash val="solid"/>
          </a:ln>
        </p:spPr>
        <p:txBody>
          <a:bodyPr/>
          <a:p/>
        </p:txBody>
      </p:sp>
      <p:sp>
        <p:nvSpPr>
          <p:cNvPr id="34" name="Text 32"/>
          <p:cNvSpPr txBox="1"/>
          <p:nvPr/>
        </p:nvSpPr>
        <p:spPr>
          <a:xfrm>
            <a:off x="8613648" y="3200400"/>
            <a:ext cx="2679192" cy="365760"/>
          </a:xfrm>
          <a:prstGeom prst="rect">
            <a:avLst/>
          </a:prstGeom>
          <a:noFill/>
          <a:ln/>
        </p:spPr>
        <p:txBody>
          <a:bodyPr wrap="square" lIns="0" tIns="0" rIns="0" bIns="0" rtlCol="0" anchor="ctr"/>
          <a:lstStyle/>
          <a:p>
            <a:pPr indent="0" marL="0">
              <a:buNone/>
            </a:pPr>
            <a:r>
              <a:rPr lang="en-US" sz="1300" dirty="0">
                <a:solidFill>
                  <a:schemeClr val="bg1"/>
                </a:solidFill>
              </a:rPr>
              <a:t>CGM-like stream: 15-minute readings</a:t>
            </a:r>
            <a:endParaRPr lang="en-US" sz="1300" dirty="0"/>
          </a:p>
        </p:txBody>
      </p:sp>
      <p:sp>
        <p:nvSpPr>
          <p:cNvPr id="35" name="Shape 33"/>
          <p:cNvSpPr/>
          <p:nvPr/>
        </p:nvSpPr>
        <p:spPr>
          <a:xfrm>
            <a:off x="8503920" y="3657600"/>
            <a:ext cx="2862072" cy="365760"/>
          </a:xfrm>
          <a:prstGeom prst="roundRect">
            <a:avLst>
              <a:gd name="adj" fmla="val 20000"/>
            </a:avLst>
          </a:prstGeom>
          <a:solidFill>
            <a:schemeClr val="accent6"/>
          </a:solidFill>
          <a:ln w="6350">
            <a:solidFill>
              <a:schemeClr val="accent6"/>
            </a:solidFill>
            <a:prstDash val="solid"/>
          </a:ln>
        </p:spPr>
        <p:txBody>
          <a:bodyPr/>
          <a:p/>
        </p:txBody>
      </p:sp>
      <p:sp>
        <p:nvSpPr>
          <p:cNvPr id="36" name="Text 34"/>
          <p:cNvSpPr txBox="1"/>
          <p:nvPr/>
        </p:nvSpPr>
        <p:spPr>
          <a:xfrm>
            <a:off x="8613648" y="3657600"/>
            <a:ext cx="2679192" cy="365760"/>
          </a:xfrm>
          <a:prstGeom prst="rect">
            <a:avLst/>
          </a:prstGeom>
          <a:noFill/>
          <a:ln/>
        </p:spPr>
        <p:txBody>
          <a:bodyPr wrap="square" lIns="0" tIns="0" rIns="0" bIns="0" rtlCol="0" anchor="ctr"/>
          <a:lstStyle/>
          <a:p>
            <a:pPr indent="0" marL="0">
              <a:buNone/>
            </a:pPr>
            <a:r>
              <a:rPr lang="en-US" sz="1300" dirty="0">
                <a:solidFill>
                  <a:schemeClr val="bg1"/>
                </a:solidFill>
              </a:rPr>
              <a:t>Random Forest model (experimental)</a:t>
            </a:r>
            <a:endParaRPr lang="en-US" sz="1300" dirty="0"/>
          </a:p>
        </p:txBody>
      </p:sp>
      <p:sp>
        <p:nvSpPr>
          <p:cNvPr id="37" name="Shape 35"/>
          <p:cNvSpPr/>
          <p:nvPr/>
        </p:nvSpPr>
        <p:spPr>
          <a:xfrm>
            <a:off x="3566160" y="3291840"/>
            <a:ext cx="548640" cy="0"/>
          </a:xfrm>
          <a:prstGeom prst="line">
            <a:avLst/>
          </a:prstGeom>
          <a:noFill/>
          <a:ln w="25400">
            <a:solidFill>
              <a:schemeClr val="accent1"/>
            </a:solidFill>
            <a:prstDash val="solid"/>
            <a:tailEnd type="triangle"/>
          </a:ln>
        </p:spPr>
        <p:txBody>
          <a:bodyPr/>
          <a:p/>
        </p:txBody>
      </p:sp>
      <p:sp>
        <p:nvSpPr>
          <p:cNvPr id="38" name="Shape 36"/>
          <p:cNvSpPr/>
          <p:nvPr/>
        </p:nvSpPr>
        <p:spPr>
          <a:xfrm>
            <a:off x="7680960" y="3291840"/>
            <a:ext cx="548640" cy="0"/>
          </a:xfrm>
          <a:prstGeom prst="line">
            <a:avLst/>
          </a:prstGeom>
          <a:noFill/>
          <a:ln w="25400">
            <a:solidFill>
              <a:schemeClr val="accent1"/>
            </a:solidFill>
            <a:prstDash val="solid"/>
            <a:tailEnd type="triangle"/>
          </a:ln>
        </p:spPr>
        <p:txBody>
          <a:bodyPr/>
          <a:p/>
        </p:txBody>
      </p:sp>
      <p:sp>
        <p:nvSpPr>
          <p:cNvPr id="39" name="Text 37"/>
          <p:cNvSpPr txBox="1"/>
          <p:nvPr/>
        </p:nvSpPr>
        <p:spPr>
          <a:xfrm>
            <a:off x="3429000" y="2926080"/>
            <a:ext cx="822960" cy="274320"/>
          </a:xfrm>
          <a:prstGeom prst="rect">
            <a:avLst/>
          </a:prstGeom>
          <a:noFill/>
          <a:ln/>
        </p:spPr>
        <p:txBody>
          <a:bodyPr wrap="square" lIns="0" tIns="0" rIns="0" bIns="0" rtlCol="0" anchor="t"/>
          <a:lstStyle/>
          <a:p>
            <a:pPr algn="ctr" indent="0" marL="0">
              <a:buNone/>
            </a:pPr>
            <a:r>
              <a:rPr lang="en-US" sz="1000" dirty="0">
                <a:solidFill>
                  <a:schemeClr val="bg2"/>
                </a:solidFill>
              </a:rPr>
              <a:t>HTTP · JSON</a:t>
            </a:r>
            <a:endParaRPr lang="en-US" sz="1000" dirty="0"/>
          </a:p>
        </p:txBody>
      </p:sp>
      <p:sp>
        <p:nvSpPr>
          <p:cNvPr id="40" name="Text 38"/>
          <p:cNvSpPr txBox="1"/>
          <p:nvPr/>
        </p:nvSpPr>
        <p:spPr>
          <a:xfrm>
            <a:off x="7543800" y="2926080"/>
            <a:ext cx="822960" cy="274320"/>
          </a:xfrm>
          <a:prstGeom prst="rect">
            <a:avLst/>
          </a:prstGeom>
          <a:noFill/>
          <a:ln/>
        </p:spPr>
        <p:txBody>
          <a:bodyPr wrap="square" lIns="0" tIns="0" rIns="0" bIns="0" rtlCol="0" anchor="t"/>
          <a:lstStyle/>
          <a:p>
            <a:pPr algn="ctr" indent="0" marL="0">
              <a:buNone/>
            </a:pPr>
            <a:r>
              <a:rPr lang="en-US" sz="1000" dirty="0">
                <a:solidFill>
                  <a:schemeClr val="bg2"/>
                </a:solidFill>
              </a:rPr>
              <a:t>HTTP · JSON</a:t>
            </a:r>
            <a:endParaRPr lang="en-US" sz="1000" dirty="0"/>
          </a:p>
        </p:txBody>
      </p:sp>
      <p:sp>
        <p:nvSpPr>
          <p:cNvPr id="41" name="card"/>
          <p:cNvSpPr/>
          <p:nvPr/>
        </p:nvSpPr>
        <p:spPr>
          <a:xfrm>
            <a:off x="548640" y="5349240"/>
            <a:ext cx="11091672" cy="731520"/>
          </a:xfrm>
          <a:prstGeom prst="roundRect">
            <a:avLst>
              <a:gd name="adj" fmla="val 15000"/>
            </a:avLst>
          </a:prstGeom>
          <a:solidFill>
            <a:schemeClr val="tx1"/>
          </a:solidFill>
          <a:ln w="9525">
            <a:solidFill>
              <a:schemeClr val="accent5"/>
            </a:solidFill>
            <a:prstDash val="dash"/>
          </a:ln>
        </p:spPr>
        <p:txBody>
          <a:bodyPr/>
          <a:p/>
        </p:txBody>
      </p:sp>
      <p:sp>
        <p:nvSpPr>
          <p:cNvPr id="42" name="Shape 40"/>
          <p:cNvSpPr/>
          <p:nvPr/>
        </p:nvSpPr>
        <p:spPr>
          <a:xfrm>
            <a:off x="777240" y="5568696"/>
            <a:ext cx="1005840" cy="292608"/>
          </a:xfrm>
          <a:prstGeom prst="roundRect">
            <a:avLst>
              <a:gd name="adj" fmla="val 50000"/>
            </a:avLst>
          </a:prstGeom>
          <a:solidFill>
            <a:schemeClr val="accent5">
              <a:alpha val="18000"/>
            </a:schemeClr>
          </a:solidFill>
          <a:ln w="9525">
            <a:solidFill>
              <a:schemeClr val="accent5"/>
            </a:solidFill>
            <a:prstDash val="solid"/>
          </a:ln>
        </p:spPr>
        <p:txBody>
          <a:bodyPr/>
          <a:p/>
        </p:txBody>
      </p:sp>
      <p:sp>
        <p:nvSpPr>
          <p:cNvPr id="43" name="Text 41"/>
          <p:cNvSpPr txBox="1"/>
          <p:nvPr/>
        </p:nvSpPr>
        <p:spPr>
          <a:xfrm>
            <a:off x="777240" y="5568696"/>
            <a:ext cx="1005840" cy="292608"/>
          </a:xfrm>
          <a:prstGeom prst="rect">
            <a:avLst/>
          </a:prstGeom>
          <a:noFill/>
          <a:ln/>
        </p:spPr>
        <p:txBody>
          <a:bodyPr wrap="square" lIns="0" tIns="0" rIns="0" bIns="0" rtlCol="0" anchor="ctr"/>
          <a:lstStyle/>
          <a:p>
            <a:pPr algn="ctr" indent="0" marL="0">
              <a:buNone/>
            </a:pPr>
            <a:r>
              <a:rPr lang="en-US" sz="1100" b="1" spc="100" kern="0" dirty="0">
                <a:solidFill>
                  <a:schemeClr val="accent5"/>
                </a:solidFill>
              </a:rPr>
              <a:t>PLANNED</a:t>
            </a:r>
            <a:endParaRPr lang="en-US" sz="1100" dirty="0"/>
          </a:p>
        </p:txBody>
      </p:sp>
      <p:sp>
        <p:nvSpPr>
          <p:cNvPr id="44" name="Text 42"/>
          <p:cNvSpPr txBox="1"/>
          <p:nvPr/>
        </p:nvSpPr>
        <p:spPr>
          <a:xfrm>
            <a:off x="1965960" y="5349240"/>
            <a:ext cx="9509760" cy="731520"/>
          </a:xfrm>
          <a:prstGeom prst="rect">
            <a:avLst/>
          </a:prstGeom>
          <a:noFill/>
          <a:ln/>
        </p:spPr>
        <p:txBody>
          <a:bodyPr wrap="square" lIns="0" tIns="0" rIns="0" bIns="0" rtlCol="0" anchor="ctr"/>
          <a:lstStyle/>
          <a:p>
            <a:pPr indent="0" marL="0">
              <a:buNone/>
            </a:pPr>
            <a:r>
              <a:rPr lang="en-US" sz="1500" dirty="0">
                <a:solidFill>
                  <a:schemeClr val="bg2"/>
                </a:solidFill>
              </a:rPr>
              <a:t>Not built yet: database · authentication · external clinical validation</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400" b="1" dirty="0">
                <a:solidFill>
                  <a:schemeClr val="bg1"/>
                </a:solidFill>
              </a:rPr>
              <a:t>How the model estimates future risk</a:t>
            </a:r>
            <a:endParaRPr lang="en-US" sz="3400" dirty="0"/>
          </a:p>
        </p:txBody>
      </p:sp>
      <p:sp>
        <p:nvSpPr>
          <p:cNvPr id="3" name="Text 1"/>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SYNTHETIC-DATA MODEL</a:t>
            </a:r>
            <a:endParaRPr lang="en-US" sz="1200" dirty="0"/>
          </a:p>
        </p:txBody>
      </p:sp>
      <p:sp>
        <p:nvSpPr>
          <p:cNvPr id="4" name="card"/>
          <p:cNvSpPr/>
          <p:nvPr/>
        </p:nvSpPr>
        <p:spPr>
          <a:xfrm>
            <a:off x="548640" y="1645920"/>
            <a:ext cx="6766560" cy="1600200"/>
          </a:xfrm>
          <a:prstGeom prst="roundRect">
            <a:avLst>
              <a:gd name="adj" fmla="val 6857"/>
            </a:avLst>
          </a:prstGeom>
          <a:solidFill>
            <a:schemeClr val="tx2"/>
          </a:solidFill>
          <a:ln w="9525">
            <a:solidFill>
              <a:schemeClr val="accent6"/>
            </a:solidFill>
            <a:prstDash val="solid"/>
          </a:ln>
        </p:spPr>
        <p:txBody>
          <a:bodyPr/>
          <a:p/>
        </p:txBody>
      </p:sp>
      <p:sp>
        <p:nvSpPr>
          <p:cNvPr id="5" name="Shape 3"/>
          <p:cNvSpPr/>
          <p:nvPr/>
        </p:nvSpPr>
        <p:spPr>
          <a:xfrm>
            <a:off x="777240" y="1810512"/>
            <a:ext cx="2286000" cy="292608"/>
          </a:xfrm>
          <a:prstGeom prst="roundRect">
            <a:avLst>
              <a:gd name="adj" fmla="val 50000"/>
            </a:avLst>
          </a:prstGeom>
          <a:solidFill>
            <a:schemeClr val="accent4">
              <a:alpha val="18000"/>
            </a:schemeClr>
          </a:solidFill>
          <a:ln w="9525">
            <a:solidFill>
              <a:schemeClr val="accent4"/>
            </a:solidFill>
            <a:prstDash val="solid"/>
          </a:ln>
        </p:spPr>
        <p:txBody>
          <a:bodyPr/>
          <a:p/>
        </p:txBody>
      </p:sp>
      <p:sp>
        <p:nvSpPr>
          <p:cNvPr id="6" name="Text 4"/>
          <p:cNvSpPr txBox="1"/>
          <p:nvPr/>
        </p:nvSpPr>
        <p:spPr>
          <a:xfrm>
            <a:off x="777240" y="1810512"/>
            <a:ext cx="2286000" cy="292608"/>
          </a:xfrm>
          <a:prstGeom prst="rect">
            <a:avLst/>
          </a:prstGeom>
          <a:noFill/>
          <a:ln/>
        </p:spPr>
        <p:txBody>
          <a:bodyPr wrap="square" lIns="0" tIns="0" rIns="0" bIns="0" rtlCol="0" anchor="ctr"/>
          <a:lstStyle/>
          <a:p>
            <a:pPr algn="ctr" indent="0" marL="0">
              <a:buNone/>
            </a:pPr>
            <a:r>
              <a:rPr lang="en-US" sz="1100" b="1" spc="100" kern="0" dirty="0">
                <a:solidFill>
                  <a:schemeClr val="accent4"/>
                </a:solidFill>
              </a:rPr>
              <a:t>RANDOM FOREST · EXPERIMENTAL</a:t>
            </a:r>
            <a:endParaRPr lang="en-US" sz="1100" dirty="0"/>
          </a:p>
        </p:txBody>
      </p:sp>
      <p:sp>
        <p:nvSpPr>
          <p:cNvPr id="7" name="Text 5"/>
          <p:cNvSpPr txBox="1"/>
          <p:nvPr/>
        </p:nvSpPr>
        <p:spPr>
          <a:xfrm>
            <a:off x="777240" y="2212848"/>
            <a:ext cx="6400800" cy="960120"/>
          </a:xfrm>
          <a:prstGeom prst="rect">
            <a:avLst/>
          </a:prstGeom>
          <a:noFill/>
          <a:ln/>
        </p:spPr>
        <p:txBody>
          <a:bodyPr wrap="square" lIns="0" tIns="0" rIns="0" bIns="0" rtlCol="0" anchor="t"/>
          <a:lstStyle/>
          <a:p>
            <a:pPr indent="0" marL="0">
              <a:buNone/>
            </a:pPr>
            <a:r>
              <a:rPr lang="en-US" sz="1400" dirty="0">
                <a:solidFill>
                  <a:schemeClr val="accent1"/>
                </a:solidFill>
                <a:latin typeface="Courier New" pitchFamily="34" charset="0"/>
                <a:ea typeface="Courier New" pitchFamily="34" charset="-122"/>
                <a:cs typeface="Courier New" pitchFamily="34" charset="-120"/>
              </a:rPr>
              <a:t>Random Forest classifier
Uses past-only rolling glucose features
Fuses sensor history with EHR context</a:t>
            </a:r>
            <a:endParaRPr lang="en-US" sz="1400" dirty="0"/>
          </a:p>
          <a:p>
            <a:pPr indent="0" marL="0">
              <a:buNone/>
            </a:pPr>
            <a:r>
              <a:rPr lang="en-US" sz="1400" dirty="0">
                <a:solidFill>
                  <a:schemeClr val="accent1"/>
                </a:solidFill>
                <a:latin typeface="Courier New" pitchFamily="34" charset="0"/>
                <a:ea typeface="Courier New" pitchFamily="34" charset="-122"/>
                <a:cs typeface="Courier New" pitchFamily="34" charset="-120"/>
              </a:rPr>
              <a:t/>
            </a:r>
            <a:endParaRPr lang="en-US" sz="1400" dirty="0"/>
          </a:p>
          <a:p>
            <a:pPr indent="0" marL="0">
              <a:buNone/>
            </a:pPr>
            <a:r>
              <a:rPr lang="en-US" sz="1400" dirty="0">
                <a:solidFill>
                  <a:schemeClr val="accent1"/>
                </a:solidFill>
                <a:latin typeface="Courier New" pitchFamily="34" charset="0"/>
                <a:ea typeface="Courier New" pitchFamily="34" charset="-122"/>
                <a:cs typeface="Courier New" pitchFamily="34" charset="-120"/>
              </a:rPr>
              <a:t/>
            </a:r>
            <a:endParaRPr lang="en-US" sz="1400" dirty="0"/>
          </a:p>
        </p:txBody>
      </p:sp>
      <p:sp>
        <p:nvSpPr>
          <p:cNvPr id="8" name="card"/>
          <p:cNvSpPr/>
          <p:nvPr/>
        </p:nvSpPr>
        <p:spPr>
          <a:xfrm>
            <a:off x="548640" y="3429000"/>
            <a:ext cx="6766560" cy="1828800"/>
          </a:xfrm>
          <a:prstGeom prst="roundRect">
            <a:avLst>
              <a:gd name="adj" fmla="val 6000"/>
            </a:avLst>
          </a:prstGeom>
          <a:solidFill>
            <a:schemeClr val="tx2"/>
          </a:solidFill>
          <a:ln w="9525">
            <a:solidFill>
              <a:schemeClr val="accent6"/>
            </a:solidFill>
            <a:prstDash val="solid"/>
          </a:ln>
        </p:spPr>
        <p:txBody>
          <a:bodyPr/>
          <a:p/>
        </p:txBody>
      </p:sp>
      <p:sp>
        <p:nvSpPr>
          <p:cNvPr id="9" name="Text 7"/>
          <p:cNvSpPr txBox="1"/>
          <p:nvPr/>
        </p:nvSpPr>
        <p:spPr>
          <a:xfrm>
            <a:off x="777240" y="3584448"/>
            <a:ext cx="45720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MODEL EVALUATION · HELD-OUT PATIENTS</a:t>
            </a:r>
            <a:endParaRPr lang="en-US" sz="1100" dirty="0"/>
          </a:p>
        </p:txBody>
      </p:sp>
      <p:sp>
        <p:nvSpPr>
          <p:cNvPr id="10" name="Text 8"/>
          <p:cNvSpPr txBox="1"/>
          <p:nvPr/>
        </p:nvSpPr>
        <p:spPr>
          <a:xfrm>
            <a:off x="777240" y="3931920"/>
            <a:ext cx="6400800" cy="320040"/>
          </a:xfrm>
          <a:prstGeom prst="rect">
            <a:avLst/>
          </a:prstGeom>
          <a:noFill/>
          <a:ln/>
        </p:spPr>
        <p:txBody>
          <a:bodyPr wrap="square" lIns="0" tIns="0" rIns="0" bIns="0" rtlCol="0" anchor="t"/>
          <a:lstStyle/>
          <a:p>
            <a:pPr indent="0" marL="0">
              <a:buNone/>
            </a:pPr>
            <a:r>
              <a:rPr lang="en-US" sz="1500" dirty="0">
                <a:solidFill>
                  <a:schemeClr val="bg1"/>
                </a:solidFill>
              </a:rPr>
              <a:t>Test set: 9 synthetic patients; 6,804 time points</a:t>
            </a:r>
            <a:endParaRPr lang="en-US" sz="1500" dirty="0"/>
          </a:p>
        </p:txBody>
      </p:sp>
      <p:sp>
        <p:nvSpPr>
          <p:cNvPr id="11" name="Text 9"/>
          <p:cNvSpPr txBox="1"/>
          <p:nvPr/>
        </p:nvSpPr>
        <p:spPr>
          <a:xfrm>
            <a:off x="777240" y="4343400"/>
            <a:ext cx="6400800" cy="365760"/>
          </a:xfrm>
          <a:prstGeom prst="rect">
            <a:avLst/>
          </a:prstGeom>
          <a:noFill/>
          <a:ln/>
        </p:spPr>
        <p:txBody>
          <a:bodyPr wrap="square" lIns="0" tIns="0" rIns="0" bIns="0" rtlCol="0" anchor="t"/>
          <a:lstStyle/>
          <a:p>
            <a:pPr indent="0" marL="0">
              <a:buNone/>
            </a:pPr>
            <a:r>
              <a:rPr lang="en-US" sz="2000" b="1" dirty="0">
                <a:solidFill>
                  <a:schemeClr val="accent2"/>
                </a:solidFill>
                <a:latin typeface="Courier New" pitchFamily="34" charset="0"/>
                <a:ea typeface="Courier New" pitchFamily="34" charset="-122"/>
                <a:cs typeface="Courier New" pitchFamily="34" charset="-120"/>
              </a:rPr>
              <a:t>ROC-AUC 0.9608 · Average precision 0.2258</a:t>
            </a:r>
            <a:endParaRPr lang="en-US" sz="2000" dirty="0"/>
          </a:p>
        </p:txBody>
      </p:sp>
      <p:sp>
        <p:nvSpPr>
          <p:cNvPr id="12" name="Text 10"/>
          <p:cNvSpPr txBox="1"/>
          <p:nvPr/>
        </p:nvSpPr>
        <p:spPr>
          <a:xfrm>
            <a:off x="777240" y="4800600"/>
            <a:ext cx="6400800" cy="320040"/>
          </a:xfrm>
          <a:prstGeom prst="rect">
            <a:avLst/>
          </a:prstGeom>
          <a:noFill/>
          <a:ln/>
        </p:spPr>
        <p:txBody>
          <a:bodyPr wrap="square" lIns="0" tIns="0" rIns="0" bIns="0" rtlCol="0" anchor="t"/>
          <a:lstStyle/>
          <a:p>
            <a:pPr indent="0" marL="0">
              <a:buNone/>
            </a:pPr>
            <a:r>
              <a:rPr lang="en-US" sz="1300" dirty="0">
                <a:solidFill>
                  <a:schemeClr val="bg2"/>
                </a:solidFill>
              </a:rPr>
              <a:t>Precision 47.6% · Recall 19.2% at threshold 0.5</a:t>
            </a:r>
            <a:endParaRPr lang="en-US" sz="1300" dirty="0"/>
          </a:p>
        </p:txBody>
      </p:sp>
      <p:sp>
        <p:nvSpPr>
          <p:cNvPr id="13" name="card"/>
          <p:cNvSpPr/>
          <p:nvPr/>
        </p:nvSpPr>
        <p:spPr>
          <a:xfrm>
            <a:off x="7589520" y="1645920"/>
            <a:ext cx="4050792" cy="2240280"/>
          </a:xfrm>
          <a:prstGeom prst="roundRect">
            <a:avLst>
              <a:gd name="adj" fmla="val 4898"/>
            </a:avLst>
          </a:prstGeom>
          <a:solidFill>
            <a:schemeClr val="tx2"/>
          </a:solidFill>
          <a:ln w="9525">
            <a:solidFill>
              <a:schemeClr val="accent6"/>
            </a:solidFill>
            <a:prstDash val="solid"/>
          </a:ln>
        </p:spPr>
        <p:txBody>
          <a:bodyPr/>
          <a:p/>
        </p:txBody>
      </p:sp>
      <p:sp>
        <p:nvSpPr>
          <p:cNvPr id="14" name="Text 12"/>
          <p:cNvSpPr txBox="1"/>
          <p:nvPr/>
        </p:nvSpPr>
        <p:spPr>
          <a:xfrm>
            <a:off x="7818120" y="1810512"/>
            <a:ext cx="27432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RISK BANDS</a:t>
            </a:r>
            <a:endParaRPr lang="en-US" sz="1100" dirty="0"/>
          </a:p>
        </p:txBody>
      </p:sp>
      <p:sp>
        <p:nvSpPr>
          <p:cNvPr id="15" name="Shape 13"/>
          <p:cNvSpPr/>
          <p:nvPr/>
        </p:nvSpPr>
        <p:spPr>
          <a:xfrm>
            <a:off x="7818120" y="2514600"/>
            <a:ext cx="1231751" cy="292608"/>
          </a:xfrm>
          <a:prstGeom prst="rect">
            <a:avLst/>
          </a:prstGeom>
          <a:solidFill>
            <a:srgbClr val="2DD4BF">
              <a:alpha val="75000"/>
            </a:srgbClr>
          </a:solidFill>
          <a:ln w="6350">
            <a:solidFill>
              <a:srgbClr val="2DD4BF"/>
            </a:solidFill>
            <a:prstDash val="solid"/>
          </a:ln>
        </p:spPr>
        <p:txBody>
          <a:bodyPr/>
          <a:p/>
        </p:txBody>
      </p:sp>
      <p:sp>
        <p:nvSpPr>
          <p:cNvPr id="16" name="Text 14"/>
          <p:cNvSpPr txBox="1"/>
          <p:nvPr/>
        </p:nvSpPr>
        <p:spPr>
          <a:xfrm>
            <a:off x="7818120" y="2852928"/>
            <a:ext cx="1268327" cy="274320"/>
          </a:xfrm>
          <a:prstGeom prst="rect">
            <a:avLst/>
          </a:prstGeom>
          <a:noFill/>
          <a:ln/>
        </p:spPr>
        <p:txBody>
          <a:bodyPr wrap="square" lIns="0" tIns="0" rIns="0" bIns="0" rtlCol="0" anchor="t"/>
          <a:lstStyle/>
          <a:p>
            <a:pPr algn="ctr" indent="0" marL="0">
              <a:buNone/>
            </a:pPr>
            <a:r>
              <a:rPr lang="en-US" sz="1200" dirty="0">
                <a:solidFill>
                  <a:schemeClr val="bg2"/>
                </a:solidFill>
              </a:rPr>
              <a:t>Low</a:t>
            </a:r>
            <a:endParaRPr lang="en-US" sz="1200" dirty="0"/>
          </a:p>
        </p:txBody>
      </p:sp>
      <p:sp>
        <p:nvSpPr>
          <p:cNvPr id="17" name="Shape 15"/>
          <p:cNvSpPr/>
          <p:nvPr/>
        </p:nvSpPr>
        <p:spPr>
          <a:xfrm>
            <a:off x="9086447" y="2514600"/>
            <a:ext cx="1231751" cy="292608"/>
          </a:xfrm>
          <a:prstGeom prst="rect">
            <a:avLst/>
          </a:prstGeom>
          <a:solidFill>
            <a:srgbClr val="F5B84B">
              <a:alpha val="75000"/>
            </a:srgbClr>
          </a:solidFill>
          <a:ln w="6350">
            <a:solidFill>
              <a:srgbClr val="F5B84B"/>
            </a:solidFill>
            <a:prstDash val="solid"/>
          </a:ln>
        </p:spPr>
        <p:txBody>
          <a:bodyPr/>
          <a:p/>
        </p:txBody>
      </p:sp>
      <p:sp>
        <p:nvSpPr>
          <p:cNvPr id="18" name="Text 16"/>
          <p:cNvSpPr txBox="1"/>
          <p:nvPr/>
        </p:nvSpPr>
        <p:spPr>
          <a:xfrm>
            <a:off x="9086447" y="2852928"/>
            <a:ext cx="1268327" cy="274320"/>
          </a:xfrm>
          <a:prstGeom prst="rect">
            <a:avLst/>
          </a:prstGeom>
          <a:noFill/>
          <a:ln/>
        </p:spPr>
        <p:txBody>
          <a:bodyPr wrap="square" lIns="0" tIns="0" rIns="0" bIns="0" rtlCol="0" anchor="t"/>
          <a:lstStyle/>
          <a:p>
            <a:pPr algn="ctr" indent="0" marL="0">
              <a:buNone/>
            </a:pPr>
            <a:r>
              <a:rPr lang="en-US" sz="1200" dirty="0">
                <a:solidFill>
                  <a:schemeClr val="bg2"/>
                </a:solidFill>
              </a:rPr>
              <a:t>Moderate</a:t>
            </a:r>
            <a:endParaRPr lang="en-US" sz="1200" dirty="0"/>
          </a:p>
        </p:txBody>
      </p:sp>
      <p:sp>
        <p:nvSpPr>
          <p:cNvPr id="19" name="Shape 17"/>
          <p:cNvSpPr/>
          <p:nvPr/>
        </p:nvSpPr>
        <p:spPr>
          <a:xfrm>
            <a:off x="10354773" y="2514600"/>
            <a:ext cx="1020363" cy="292608"/>
          </a:xfrm>
          <a:prstGeom prst="rect">
            <a:avLst/>
          </a:prstGeom>
          <a:solidFill>
            <a:srgbClr val="F87171">
              <a:alpha val="75000"/>
            </a:srgbClr>
          </a:solidFill>
          <a:ln w="6350">
            <a:solidFill>
              <a:srgbClr val="F87171"/>
            </a:solidFill>
            <a:prstDash val="solid"/>
          </a:ln>
        </p:spPr>
        <p:txBody>
          <a:bodyPr/>
          <a:p/>
        </p:txBody>
      </p:sp>
      <p:sp>
        <p:nvSpPr>
          <p:cNvPr id="20" name="Text 18"/>
          <p:cNvSpPr txBox="1"/>
          <p:nvPr/>
        </p:nvSpPr>
        <p:spPr>
          <a:xfrm>
            <a:off x="10354773" y="2852928"/>
            <a:ext cx="1056939" cy="274320"/>
          </a:xfrm>
          <a:prstGeom prst="rect">
            <a:avLst/>
          </a:prstGeom>
          <a:noFill/>
          <a:ln/>
        </p:spPr>
        <p:txBody>
          <a:bodyPr wrap="square" lIns="0" tIns="0" rIns="0" bIns="0" rtlCol="0" anchor="t"/>
          <a:lstStyle/>
          <a:p>
            <a:pPr algn="ctr" indent="0" marL="0">
              <a:buNone/>
            </a:pPr>
            <a:r>
              <a:rPr lang="en-US" sz="1200" dirty="0">
                <a:solidFill>
                  <a:schemeClr val="bg2"/>
                </a:solidFill>
              </a:rPr>
              <a:t>High</a:t>
            </a:r>
            <a:endParaRPr lang="en-US" sz="1200" dirty="0"/>
          </a:p>
        </p:txBody>
      </p:sp>
      <p:sp>
        <p:nvSpPr>
          <p:cNvPr id="21" name="Shape 19"/>
          <p:cNvSpPr/>
          <p:nvPr/>
        </p:nvSpPr>
        <p:spPr>
          <a:xfrm flipV="1">
            <a:off x="9515020" y="2212848"/>
            <a:ext cx="182880" cy="182880"/>
          </a:xfrm>
          <a:prstGeom prst="triangle">
            <a:avLst/>
          </a:prstGeom>
          <a:solidFill>
            <a:schemeClr val="bg1"/>
          </a:solidFill>
          <a:ln w="6350">
            <a:solidFill>
              <a:schemeClr val="bg1"/>
            </a:solidFill>
            <a:prstDash val="solid"/>
          </a:ln>
        </p:spPr>
        <p:txBody>
          <a:bodyPr/>
          <a:p/>
        </p:txBody>
      </p:sp>
      <p:sp>
        <p:nvSpPr>
          <p:cNvPr id="22" name="Text 20"/>
          <p:cNvSpPr txBox="1"/>
          <p:nvPr/>
        </p:nvSpPr>
        <p:spPr>
          <a:xfrm>
            <a:off x="9240700" y="2011680"/>
            <a:ext cx="731520" cy="201168"/>
          </a:xfrm>
          <a:prstGeom prst="rect">
            <a:avLst/>
          </a:prstGeom>
          <a:noFill/>
          <a:ln/>
        </p:spPr>
        <p:txBody>
          <a:bodyPr wrap="square" lIns="0" tIns="0" rIns="0" bIns="0" rtlCol="0" anchor="t"/>
          <a:lstStyle/>
          <a:p>
            <a:pPr algn="ctr" indent="0" marL="0">
              <a:buNone/>
            </a:pPr>
            <a:r>
              <a:rPr lang="en-US" sz="1100" b="1" dirty="0">
                <a:solidFill>
                  <a:schemeClr val="bg1"/>
                </a:solidFill>
              </a:rPr>
              <a:t>0.9608</a:t>
            </a:r>
            <a:endParaRPr lang="en-US" sz="1100" dirty="0"/>
          </a:p>
        </p:txBody>
      </p:sp>
      <p:sp>
        <p:nvSpPr>
          <p:cNvPr id="23" name="Text 21"/>
          <p:cNvSpPr txBox="1"/>
          <p:nvPr/>
        </p:nvSpPr>
        <p:spPr>
          <a:xfrm>
            <a:off x="7818120" y="3291840"/>
            <a:ext cx="3611880" cy="365760"/>
          </a:xfrm>
          <a:prstGeom prst="rect">
            <a:avLst/>
          </a:prstGeom>
          <a:noFill/>
          <a:ln/>
        </p:spPr>
        <p:txBody>
          <a:bodyPr wrap="square" lIns="0" tIns="0" rIns="0" bIns="0" rtlCol="0" anchor="t"/>
          <a:lstStyle/>
          <a:p>
            <a:pPr indent="0" marL="0">
              <a:buNone/>
            </a:pPr>
            <a:r>
              <a:rPr lang="en-US" sz="1100" dirty="0">
                <a:solidFill>
                  <a:schemeClr val="bg2"/>
                </a:solidFill>
              </a:rPr>
              <a:t>Display bands are UI categories, not clinical classifications.</a:t>
            </a:r>
            <a:endParaRPr lang="en-US" sz="1100" dirty="0"/>
          </a:p>
        </p:txBody>
      </p:sp>
      <p:sp>
        <p:nvSpPr>
          <p:cNvPr id="24" name="card"/>
          <p:cNvSpPr/>
          <p:nvPr/>
        </p:nvSpPr>
        <p:spPr>
          <a:xfrm>
            <a:off x="7589520" y="4069080"/>
            <a:ext cx="4050792" cy="1188720"/>
          </a:xfrm>
          <a:prstGeom prst="roundRect">
            <a:avLst>
              <a:gd name="adj" fmla="val 9231"/>
            </a:avLst>
          </a:prstGeom>
          <a:solidFill>
            <a:schemeClr val="tx2"/>
          </a:solidFill>
          <a:ln w="9525">
            <a:solidFill>
              <a:schemeClr val="accent6"/>
            </a:solidFill>
            <a:prstDash val="solid"/>
          </a:ln>
        </p:spPr>
        <p:txBody>
          <a:bodyPr/>
          <a:p/>
        </p:txBody>
      </p:sp>
      <p:sp>
        <p:nvSpPr>
          <p:cNvPr id="25" name="Text 23"/>
          <p:cNvSpPr txBox="1"/>
          <p:nvPr/>
        </p:nvSpPr>
        <p:spPr>
          <a:xfrm>
            <a:off x="7818120" y="4187952"/>
            <a:ext cx="3657600" cy="274320"/>
          </a:xfrm>
          <a:prstGeom prst="rect">
            <a:avLst/>
          </a:prstGeom>
          <a:noFill/>
          <a:ln/>
        </p:spPr>
        <p:txBody>
          <a:bodyPr wrap="square" lIns="0" tIns="0" rIns="0" bIns="0" rtlCol="0" anchor="t"/>
          <a:lstStyle/>
          <a:p>
            <a:pPr indent="0" marL="0">
              <a:buNone/>
            </a:pPr>
            <a:r>
              <a:rPr lang="en-US" sz="1500" b="1" dirty="0">
                <a:solidFill>
                  <a:schemeClr val="bg1"/>
                </a:solidFill>
              </a:rPr>
              <a:t>What it is not</a:t>
            </a:r>
            <a:endParaRPr lang="en-US" sz="1500" dirty="0"/>
          </a:p>
        </p:txBody>
      </p:sp>
      <p:sp>
        <p:nvSpPr>
          <p:cNvPr id="26" name="Text 24"/>
          <p:cNvSpPr txBox="1"/>
          <p:nvPr/>
        </p:nvSpPr>
        <p:spPr>
          <a:xfrm>
            <a:off x="7818120" y="4498848"/>
            <a:ext cx="3611880" cy="731520"/>
          </a:xfrm>
          <a:prstGeom prst="rect">
            <a:avLst/>
          </a:prstGeom>
          <a:noFill/>
          <a:ln/>
        </p:spPr>
        <p:txBody>
          <a:bodyPr wrap="square" lIns="0" tIns="0" rIns="0" bIns="0" rtlCol="0" anchor="t"/>
          <a:lstStyle/>
          <a:p>
            <a:pPr indent="0" marL="0">
              <a:buNone/>
            </a:pPr>
            <a:r>
              <a:rPr lang="en-US" sz="1200" dirty="0">
                <a:solidFill>
                  <a:schemeClr val="bg2"/>
                </a:solidFill>
              </a:rPr>
              <a:t>Synthetic-data metrics do not establish clinical performance. Positive events are rare, so accuracy can mislead.</a:t>
            </a:r>
            <a:endParaRPr lang="en-US" sz="1200" dirty="0"/>
          </a:p>
        </p:txBody>
      </p:sp>
      <p:sp>
        <p:nvSpPr>
          <p:cNvPr id="27" name="card"/>
          <p:cNvSpPr/>
          <p:nvPr/>
        </p:nvSpPr>
        <p:spPr>
          <a:xfrm>
            <a:off x="548640" y="5440680"/>
            <a:ext cx="11091672" cy="640080"/>
          </a:xfrm>
          <a:prstGeom prst="roundRect">
            <a:avLst>
              <a:gd name="adj" fmla="val 17143"/>
            </a:avLst>
          </a:prstGeom>
          <a:solidFill>
            <a:schemeClr val="accent6"/>
          </a:solidFill>
          <a:ln w="9525">
            <a:solidFill>
              <a:schemeClr val="accent6"/>
            </a:solidFill>
            <a:prstDash val="solid"/>
          </a:ln>
        </p:spPr>
        <p:txBody>
          <a:bodyPr/>
          <a:p/>
        </p:txBody>
      </p:sp>
      <p:sp>
        <p:nvSpPr>
          <p:cNvPr id="28" name="Text 26"/>
          <p:cNvSpPr txBox="1"/>
          <p:nvPr/>
        </p:nvSpPr>
        <p:spPr>
          <a:xfrm>
            <a:off x="777240" y="5440680"/>
            <a:ext cx="10607040" cy="640080"/>
          </a:xfrm>
          <a:prstGeom prst="rect">
            <a:avLst/>
          </a:prstGeom>
          <a:noFill/>
          <a:ln/>
        </p:spPr>
        <p:txBody>
          <a:bodyPr wrap="square" lIns="0" tIns="0" rIns="0" bIns="0" rtlCol="0" anchor="ctr"/>
          <a:lstStyle/>
          <a:p>
            <a:pPr indent="0" marL="0">
              <a:buNone/>
            </a:pPr>
            <a:r>
              <a:rPr lang="en-US" sz="1500" b="1" dirty="0">
                <a:solidFill>
                  <a:schemeClr val="accent1"/>
                </a:solidFill>
              </a:rPr>
              <a:t>The model is experimental; compare it with a simple baseline and validate externally before clinical claims.</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400" b="1" dirty="0">
                <a:solidFill>
                  <a:schemeClr val="bg1"/>
                </a:solidFill>
              </a:rPr>
              <a:t>How a prediction request flows through the API</a:t>
            </a:r>
            <a:endParaRPr lang="en-US" sz="3400" dirty="0"/>
          </a:p>
        </p:txBody>
      </p:sp>
      <p:sp>
        <p:nvSpPr>
          <p:cNvPr id="3" name="Text 1"/>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DATA AND API WORKFLOW</a:t>
            </a:r>
            <a:endParaRPr lang="en-US" sz="1200" dirty="0"/>
          </a:p>
        </p:txBody>
      </p:sp>
      <p:sp>
        <p:nvSpPr>
          <p:cNvPr id="4" name="card"/>
          <p:cNvSpPr/>
          <p:nvPr/>
        </p:nvSpPr>
        <p:spPr>
          <a:xfrm>
            <a:off x="548640" y="1645920"/>
            <a:ext cx="1993392" cy="1325880"/>
          </a:xfrm>
          <a:prstGeom prst="roundRect">
            <a:avLst>
              <a:gd name="adj" fmla="val 8276"/>
            </a:avLst>
          </a:prstGeom>
          <a:solidFill>
            <a:schemeClr val="tx2"/>
          </a:solidFill>
          <a:ln w="9525">
            <a:solidFill>
              <a:schemeClr val="accent6"/>
            </a:solidFill>
            <a:prstDash val="solid"/>
          </a:ln>
        </p:spPr>
        <p:txBody>
          <a:bodyPr/>
          <a:p/>
        </p:txBody>
      </p:sp>
      <p:sp>
        <p:nvSpPr>
          <p:cNvPr id="5" name="Shape 3"/>
          <p:cNvSpPr/>
          <p:nvPr/>
        </p:nvSpPr>
        <p:spPr>
          <a:xfrm>
            <a:off x="731520" y="1783080"/>
            <a:ext cx="411480" cy="411480"/>
          </a:xfrm>
          <a:prstGeom prst="ellipse">
            <a:avLst/>
          </a:prstGeom>
          <a:solidFill>
            <a:schemeClr val="accent1">
              <a:alpha val="20000"/>
            </a:schemeClr>
          </a:solidFill>
          <a:ln w="12700">
            <a:solidFill>
              <a:schemeClr val="accent1"/>
            </a:solidFill>
            <a:prstDash val="solid"/>
          </a:ln>
        </p:spPr>
        <p:txBody>
          <a:bodyPr/>
          <a:p/>
        </p:txBody>
      </p:sp>
      <p:pic>
        <p:nvPicPr>
          <p:cNvPr id="6" name="Image 0" descr="preencoded.png">    </p:cNvPr>
          <p:cNvPicPr>
            <a:picLocks noChangeAspect="1"/>
          </p:cNvPicPr>
          <p:nvPr/>
        </p:nvPicPr>
        <p:blipFill>
          <a:blip r:embed="rId1"/>
          <a:stretch>
            <a:fillRect/>
          </a:stretch>
        </p:blipFill>
        <p:spPr>
          <a:xfrm>
            <a:off x="834390" y="1885950"/>
            <a:ext cx="205740" cy="205740"/>
          </a:xfrm>
          <a:prstGeom prst="rect">
            <a:avLst/>
          </a:prstGeom>
        </p:spPr>
      </p:pic>
      <p:sp>
        <p:nvSpPr>
          <p:cNvPr id="7" name="Text 4"/>
          <p:cNvSpPr txBox="1"/>
          <p:nvPr/>
        </p:nvSpPr>
        <p:spPr>
          <a:xfrm>
            <a:off x="1234440" y="1801368"/>
            <a:ext cx="1280160" cy="365760"/>
          </a:xfrm>
          <a:prstGeom prst="rect">
            <a:avLst/>
          </a:prstGeom>
          <a:noFill/>
          <a:ln/>
        </p:spPr>
        <p:txBody>
          <a:bodyPr wrap="square" lIns="0" tIns="0" rIns="0" bIns="0" rtlCol="0" anchor="ctr"/>
          <a:lstStyle/>
          <a:p>
            <a:pPr indent="0" marL="0">
              <a:buNone/>
            </a:pPr>
            <a:r>
              <a:rPr lang="en-US" sz="1400" b="1" dirty="0">
                <a:solidFill>
                  <a:schemeClr val="bg1"/>
                </a:solidFill>
              </a:rPr>
              <a:t>Dashboard</a:t>
            </a:r>
            <a:endParaRPr lang="en-US" sz="1400" dirty="0"/>
          </a:p>
        </p:txBody>
      </p:sp>
      <p:sp>
        <p:nvSpPr>
          <p:cNvPr id="8" name="Text 5"/>
          <p:cNvSpPr txBox="1"/>
          <p:nvPr/>
        </p:nvSpPr>
        <p:spPr>
          <a:xfrm>
            <a:off x="731520" y="2377440"/>
            <a:ext cx="1691640" cy="502920"/>
          </a:xfrm>
          <a:prstGeom prst="rect">
            <a:avLst/>
          </a:prstGeom>
          <a:noFill/>
          <a:ln/>
        </p:spPr>
        <p:txBody>
          <a:bodyPr wrap="square" lIns="0" tIns="0" rIns="0" bIns="0" rtlCol="0" anchor="t"/>
          <a:lstStyle/>
          <a:p>
            <a:pPr indent="0" marL="0">
              <a:buNone/>
            </a:pPr>
            <a:r>
              <a:rPr lang="en-US" sz="1200" dirty="0">
                <a:solidFill>
                  <a:schemeClr val="bg2"/>
                </a:solidFill>
              </a:rPr>
              <a:t>GET …/predict</a:t>
            </a:r>
            <a:endParaRPr lang="en-US" sz="1200" dirty="0"/>
          </a:p>
        </p:txBody>
      </p:sp>
      <p:sp>
        <p:nvSpPr>
          <p:cNvPr id="9" name="Shape 6"/>
          <p:cNvSpPr/>
          <p:nvPr/>
        </p:nvSpPr>
        <p:spPr>
          <a:xfrm>
            <a:off x="2542032" y="2304288"/>
            <a:ext cx="274320" cy="0"/>
          </a:xfrm>
          <a:prstGeom prst="line">
            <a:avLst/>
          </a:prstGeom>
          <a:noFill/>
          <a:ln w="25400">
            <a:solidFill>
              <a:schemeClr val="accent1"/>
            </a:solidFill>
            <a:prstDash val="solid"/>
            <a:tailEnd type="triangle"/>
          </a:ln>
        </p:spPr>
        <p:txBody>
          <a:bodyPr/>
          <a:p/>
        </p:txBody>
      </p:sp>
      <p:sp>
        <p:nvSpPr>
          <p:cNvPr id="10" name="card"/>
          <p:cNvSpPr/>
          <p:nvPr/>
        </p:nvSpPr>
        <p:spPr>
          <a:xfrm>
            <a:off x="2816352" y="1645920"/>
            <a:ext cx="1993392" cy="1325880"/>
          </a:xfrm>
          <a:prstGeom prst="roundRect">
            <a:avLst>
              <a:gd name="adj" fmla="val 8276"/>
            </a:avLst>
          </a:prstGeom>
          <a:solidFill>
            <a:schemeClr val="tx2"/>
          </a:solidFill>
          <a:ln w="9525">
            <a:solidFill>
              <a:schemeClr val="accent6"/>
            </a:solidFill>
            <a:prstDash val="solid"/>
          </a:ln>
        </p:spPr>
        <p:txBody>
          <a:bodyPr/>
          <a:p/>
        </p:txBody>
      </p:sp>
      <p:sp>
        <p:nvSpPr>
          <p:cNvPr id="11" name="Shape 8"/>
          <p:cNvSpPr/>
          <p:nvPr/>
        </p:nvSpPr>
        <p:spPr>
          <a:xfrm>
            <a:off x="2999232" y="1783080"/>
            <a:ext cx="411480" cy="411480"/>
          </a:xfrm>
          <a:prstGeom prst="ellipse">
            <a:avLst/>
          </a:prstGeom>
          <a:solidFill>
            <a:schemeClr val="accent1">
              <a:alpha val="20000"/>
            </a:schemeClr>
          </a:solidFill>
          <a:ln w="12700">
            <a:solidFill>
              <a:schemeClr val="accent1"/>
            </a:solidFill>
            <a:prstDash val="solid"/>
          </a:ln>
        </p:spPr>
        <p:txBody>
          <a:bodyPr/>
          <a:p/>
        </p:txBody>
      </p:sp>
      <p:pic>
        <p:nvPicPr>
          <p:cNvPr id="12" name="Image 1" descr="preencoded.png">    </p:cNvPr>
          <p:cNvPicPr>
            <a:picLocks noChangeAspect="1"/>
          </p:cNvPicPr>
          <p:nvPr/>
        </p:nvPicPr>
        <p:blipFill>
          <a:blip r:embed="rId2"/>
          <a:stretch>
            <a:fillRect/>
          </a:stretch>
        </p:blipFill>
        <p:spPr>
          <a:xfrm>
            <a:off x="3102102" y="1885950"/>
            <a:ext cx="205740" cy="205740"/>
          </a:xfrm>
          <a:prstGeom prst="rect">
            <a:avLst/>
          </a:prstGeom>
        </p:spPr>
      </p:pic>
      <p:sp>
        <p:nvSpPr>
          <p:cNvPr id="13" name="Text 9"/>
          <p:cNvSpPr txBox="1"/>
          <p:nvPr/>
        </p:nvSpPr>
        <p:spPr>
          <a:xfrm>
            <a:off x="3502152" y="1801368"/>
            <a:ext cx="1280160" cy="365760"/>
          </a:xfrm>
          <a:prstGeom prst="rect">
            <a:avLst/>
          </a:prstGeom>
          <a:noFill/>
          <a:ln/>
        </p:spPr>
        <p:txBody>
          <a:bodyPr wrap="square" lIns="0" tIns="0" rIns="0" bIns="0" rtlCol="0" anchor="ctr"/>
          <a:lstStyle/>
          <a:p>
            <a:pPr indent="0" marL="0">
              <a:buNone/>
            </a:pPr>
            <a:r>
              <a:rPr lang="en-US" sz="1400" b="1" dirty="0">
                <a:solidFill>
                  <a:schemeClr val="bg1"/>
                </a:solidFill>
              </a:rPr>
              <a:t>Patient lookup</a:t>
            </a:r>
            <a:endParaRPr lang="en-US" sz="1400" dirty="0"/>
          </a:p>
        </p:txBody>
      </p:sp>
      <p:sp>
        <p:nvSpPr>
          <p:cNvPr id="14" name="Text 10"/>
          <p:cNvSpPr txBox="1"/>
          <p:nvPr/>
        </p:nvSpPr>
        <p:spPr>
          <a:xfrm>
            <a:off x="2999232" y="2377440"/>
            <a:ext cx="1691640" cy="502920"/>
          </a:xfrm>
          <a:prstGeom prst="rect">
            <a:avLst/>
          </a:prstGeom>
          <a:noFill/>
          <a:ln/>
        </p:spPr>
        <p:txBody>
          <a:bodyPr wrap="square" lIns="0" tIns="0" rIns="0" bIns="0" rtlCol="0" anchor="t"/>
          <a:lstStyle/>
          <a:p>
            <a:pPr indent="0" marL="0">
              <a:buNone/>
            </a:pPr>
            <a:r>
              <a:rPr lang="en-US" sz="1200" dirty="0">
                <a:solidFill>
                  <a:schemeClr val="bg2"/>
                </a:solidFill>
              </a:rPr>
              <a:t>404 if unknown</a:t>
            </a:r>
            <a:endParaRPr lang="en-US" sz="1200" dirty="0"/>
          </a:p>
        </p:txBody>
      </p:sp>
      <p:sp>
        <p:nvSpPr>
          <p:cNvPr id="15" name="Shape 11"/>
          <p:cNvSpPr/>
          <p:nvPr/>
        </p:nvSpPr>
        <p:spPr>
          <a:xfrm>
            <a:off x="4809744" y="2304288"/>
            <a:ext cx="274320" cy="0"/>
          </a:xfrm>
          <a:prstGeom prst="line">
            <a:avLst/>
          </a:prstGeom>
          <a:noFill/>
          <a:ln w="25400">
            <a:solidFill>
              <a:schemeClr val="accent1"/>
            </a:solidFill>
            <a:prstDash val="solid"/>
            <a:tailEnd type="triangle"/>
          </a:ln>
        </p:spPr>
        <p:txBody>
          <a:bodyPr/>
          <a:p/>
        </p:txBody>
      </p:sp>
      <p:sp>
        <p:nvSpPr>
          <p:cNvPr id="16" name="card"/>
          <p:cNvSpPr/>
          <p:nvPr/>
        </p:nvSpPr>
        <p:spPr>
          <a:xfrm>
            <a:off x="5084064" y="1645920"/>
            <a:ext cx="1993392" cy="1325880"/>
          </a:xfrm>
          <a:prstGeom prst="roundRect">
            <a:avLst>
              <a:gd name="adj" fmla="val 8276"/>
            </a:avLst>
          </a:prstGeom>
          <a:solidFill>
            <a:schemeClr val="tx2"/>
          </a:solidFill>
          <a:ln w="9525">
            <a:solidFill>
              <a:schemeClr val="accent6"/>
            </a:solidFill>
            <a:prstDash val="solid"/>
          </a:ln>
        </p:spPr>
        <p:txBody>
          <a:bodyPr/>
          <a:p/>
        </p:txBody>
      </p:sp>
      <p:sp>
        <p:nvSpPr>
          <p:cNvPr id="17" name="Shape 13"/>
          <p:cNvSpPr/>
          <p:nvPr/>
        </p:nvSpPr>
        <p:spPr>
          <a:xfrm>
            <a:off x="5266944" y="1783080"/>
            <a:ext cx="411480" cy="411480"/>
          </a:xfrm>
          <a:prstGeom prst="ellipse">
            <a:avLst/>
          </a:prstGeom>
          <a:solidFill>
            <a:schemeClr val="accent1">
              <a:alpha val="20000"/>
            </a:schemeClr>
          </a:solidFill>
          <a:ln w="12700">
            <a:solidFill>
              <a:schemeClr val="accent1"/>
            </a:solidFill>
            <a:prstDash val="solid"/>
          </a:ln>
        </p:spPr>
        <p:txBody>
          <a:bodyPr/>
          <a:p/>
        </p:txBody>
      </p:sp>
      <p:pic>
        <p:nvPicPr>
          <p:cNvPr id="18" name="Image 2" descr="preencoded.png">    </p:cNvPr>
          <p:cNvPicPr>
            <a:picLocks noChangeAspect="1"/>
          </p:cNvPicPr>
          <p:nvPr/>
        </p:nvPicPr>
        <p:blipFill>
          <a:blip r:embed="rId3"/>
          <a:stretch>
            <a:fillRect/>
          </a:stretch>
        </p:blipFill>
        <p:spPr>
          <a:xfrm>
            <a:off x="5369814" y="1885950"/>
            <a:ext cx="205740" cy="205740"/>
          </a:xfrm>
          <a:prstGeom prst="rect">
            <a:avLst/>
          </a:prstGeom>
        </p:spPr>
      </p:pic>
      <p:sp>
        <p:nvSpPr>
          <p:cNvPr id="19" name="Text 14"/>
          <p:cNvSpPr txBox="1"/>
          <p:nvPr/>
        </p:nvSpPr>
        <p:spPr>
          <a:xfrm>
            <a:off x="5769864" y="1801368"/>
            <a:ext cx="1280160" cy="365760"/>
          </a:xfrm>
          <a:prstGeom prst="rect">
            <a:avLst/>
          </a:prstGeom>
          <a:noFill/>
          <a:ln/>
        </p:spPr>
        <p:txBody>
          <a:bodyPr wrap="square" lIns="0" tIns="0" rIns="0" bIns="0" rtlCol="0" anchor="ctr"/>
          <a:lstStyle/>
          <a:p>
            <a:pPr indent="0" marL="0">
              <a:buNone/>
            </a:pPr>
            <a:r>
              <a:rPr lang="en-US" sz="1400" b="1" dirty="0">
                <a:solidFill>
                  <a:schemeClr val="bg1"/>
                </a:solidFill>
              </a:rPr>
              <a:t>Generate timeline</a:t>
            </a:r>
            <a:endParaRPr lang="en-US" sz="1400" dirty="0"/>
          </a:p>
        </p:txBody>
      </p:sp>
      <p:sp>
        <p:nvSpPr>
          <p:cNvPr id="20" name="Text 15"/>
          <p:cNvSpPr txBox="1"/>
          <p:nvPr/>
        </p:nvSpPr>
        <p:spPr>
          <a:xfrm>
            <a:off x="5266944" y="2377440"/>
            <a:ext cx="1691640" cy="502920"/>
          </a:xfrm>
          <a:prstGeom prst="rect">
            <a:avLst/>
          </a:prstGeom>
          <a:noFill/>
          <a:ln/>
        </p:spPr>
        <p:txBody>
          <a:bodyPr wrap="square" lIns="0" tIns="0" rIns="0" bIns="0" rtlCol="0" anchor="t"/>
          <a:lstStyle/>
          <a:p>
            <a:pPr indent="0" marL="0">
              <a:buNone/>
            </a:pPr>
            <a:r>
              <a:rPr lang="en-US" sz="1200" dirty="0">
                <a:solidFill>
                  <a:schemeClr val="bg2"/>
                </a:solidFill>
              </a:rPr>
              <a:t>384 displayed synthetic readings</a:t>
            </a:r>
            <a:endParaRPr lang="en-US" sz="1200" dirty="0"/>
          </a:p>
        </p:txBody>
      </p:sp>
      <p:sp>
        <p:nvSpPr>
          <p:cNvPr id="21" name="Shape 16"/>
          <p:cNvSpPr/>
          <p:nvPr/>
        </p:nvSpPr>
        <p:spPr>
          <a:xfrm>
            <a:off x="7077456" y="2304288"/>
            <a:ext cx="274320" cy="0"/>
          </a:xfrm>
          <a:prstGeom prst="line">
            <a:avLst/>
          </a:prstGeom>
          <a:noFill/>
          <a:ln w="25400">
            <a:solidFill>
              <a:schemeClr val="accent1"/>
            </a:solidFill>
            <a:prstDash val="solid"/>
            <a:tailEnd type="triangle"/>
          </a:ln>
        </p:spPr>
        <p:txBody>
          <a:bodyPr/>
          <a:p/>
        </p:txBody>
      </p:sp>
      <p:sp>
        <p:nvSpPr>
          <p:cNvPr id="22" name="card"/>
          <p:cNvSpPr/>
          <p:nvPr/>
        </p:nvSpPr>
        <p:spPr>
          <a:xfrm>
            <a:off x="7351776" y="1645920"/>
            <a:ext cx="1993392" cy="1325880"/>
          </a:xfrm>
          <a:prstGeom prst="roundRect">
            <a:avLst>
              <a:gd name="adj" fmla="val 8276"/>
            </a:avLst>
          </a:prstGeom>
          <a:solidFill>
            <a:schemeClr val="tx2"/>
          </a:solidFill>
          <a:ln w="9525">
            <a:solidFill>
              <a:schemeClr val="accent6"/>
            </a:solidFill>
            <a:prstDash val="solid"/>
          </a:ln>
        </p:spPr>
        <p:txBody>
          <a:bodyPr/>
          <a:p/>
        </p:txBody>
      </p:sp>
      <p:sp>
        <p:nvSpPr>
          <p:cNvPr id="23" name="Shape 18"/>
          <p:cNvSpPr/>
          <p:nvPr/>
        </p:nvSpPr>
        <p:spPr>
          <a:xfrm>
            <a:off x="7534656" y="1783080"/>
            <a:ext cx="411480" cy="411480"/>
          </a:xfrm>
          <a:prstGeom prst="ellipse">
            <a:avLst/>
          </a:prstGeom>
          <a:solidFill>
            <a:schemeClr val="accent1">
              <a:alpha val="20000"/>
            </a:schemeClr>
          </a:solidFill>
          <a:ln w="12700">
            <a:solidFill>
              <a:schemeClr val="accent1"/>
            </a:solidFill>
            <a:prstDash val="solid"/>
          </a:ln>
        </p:spPr>
        <p:txBody>
          <a:bodyPr/>
          <a:p/>
        </p:txBody>
      </p:sp>
      <p:pic>
        <p:nvPicPr>
          <p:cNvPr id="24" name="Image 3" descr="preencoded.png">    </p:cNvPr>
          <p:cNvPicPr>
            <a:picLocks noChangeAspect="1"/>
          </p:cNvPicPr>
          <p:nvPr/>
        </p:nvPicPr>
        <p:blipFill>
          <a:blip r:embed="rId4"/>
          <a:stretch>
            <a:fillRect/>
          </a:stretch>
        </p:blipFill>
        <p:spPr>
          <a:xfrm>
            <a:off x="7637526" y="1885950"/>
            <a:ext cx="205740" cy="205740"/>
          </a:xfrm>
          <a:prstGeom prst="rect">
            <a:avLst/>
          </a:prstGeom>
        </p:spPr>
      </p:pic>
      <p:sp>
        <p:nvSpPr>
          <p:cNvPr id="25" name="Text 19"/>
          <p:cNvSpPr txBox="1"/>
          <p:nvPr/>
        </p:nvSpPr>
        <p:spPr>
          <a:xfrm>
            <a:off x="8037576" y="1801368"/>
            <a:ext cx="1280160" cy="365760"/>
          </a:xfrm>
          <a:prstGeom prst="rect">
            <a:avLst/>
          </a:prstGeom>
          <a:noFill/>
          <a:ln/>
        </p:spPr>
        <p:txBody>
          <a:bodyPr wrap="square" lIns="0" tIns="0" rIns="0" bIns="0" rtlCol="0" anchor="ctr"/>
          <a:lstStyle/>
          <a:p>
            <a:pPr indent="0" marL="0">
              <a:buNone/>
            </a:pPr>
            <a:r>
              <a:rPr lang="en-US" sz="1400" b="1" dirty="0">
                <a:solidFill>
                  <a:schemeClr val="bg1"/>
                </a:solidFill>
              </a:rPr>
              <a:t>Extract features</a:t>
            </a:r>
            <a:endParaRPr lang="en-US" sz="1400" dirty="0"/>
          </a:p>
        </p:txBody>
      </p:sp>
      <p:sp>
        <p:nvSpPr>
          <p:cNvPr id="26" name="Text 20"/>
          <p:cNvSpPr txBox="1"/>
          <p:nvPr/>
        </p:nvSpPr>
        <p:spPr>
          <a:xfrm>
            <a:off x="7534656" y="2377440"/>
            <a:ext cx="1691640" cy="502920"/>
          </a:xfrm>
          <a:prstGeom prst="rect">
            <a:avLst/>
          </a:prstGeom>
          <a:noFill/>
          <a:ln/>
        </p:spPr>
        <p:txBody>
          <a:bodyPr wrap="square" lIns="0" tIns="0" rIns="0" bIns="0" rtlCol="0" anchor="t"/>
          <a:lstStyle/>
          <a:p>
            <a:pPr indent="0" marL="0">
              <a:buNone/>
            </a:pPr>
            <a:r>
              <a:rPr lang="en-US" sz="1200" dirty="0">
                <a:solidFill>
                  <a:schemeClr val="bg2"/>
                </a:solidFill>
              </a:rPr>
              <a:t>Rolling glucose + EHR features</a:t>
            </a:r>
            <a:endParaRPr lang="en-US" sz="1200" dirty="0"/>
          </a:p>
        </p:txBody>
      </p:sp>
      <p:sp>
        <p:nvSpPr>
          <p:cNvPr id="27" name="Shape 21"/>
          <p:cNvSpPr/>
          <p:nvPr/>
        </p:nvSpPr>
        <p:spPr>
          <a:xfrm>
            <a:off x="9345168" y="2304288"/>
            <a:ext cx="274320" cy="0"/>
          </a:xfrm>
          <a:prstGeom prst="line">
            <a:avLst/>
          </a:prstGeom>
          <a:noFill/>
          <a:ln w="25400">
            <a:solidFill>
              <a:schemeClr val="accent1"/>
            </a:solidFill>
            <a:prstDash val="solid"/>
            <a:tailEnd type="triangle"/>
          </a:ln>
        </p:spPr>
        <p:txBody>
          <a:bodyPr/>
          <a:p/>
        </p:txBody>
      </p:sp>
      <p:sp>
        <p:nvSpPr>
          <p:cNvPr id="28" name="card"/>
          <p:cNvSpPr/>
          <p:nvPr/>
        </p:nvSpPr>
        <p:spPr>
          <a:xfrm>
            <a:off x="9619488" y="1645920"/>
            <a:ext cx="1993392" cy="1325880"/>
          </a:xfrm>
          <a:prstGeom prst="roundRect">
            <a:avLst>
              <a:gd name="adj" fmla="val 8276"/>
            </a:avLst>
          </a:prstGeom>
          <a:solidFill>
            <a:schemeClr val="tx2"/>
          </a:solidFill>
          <a:ln w="9525">
            <a:solidFill>
              <a:schemeClr val="accent6"/>
            </a:solidFill>
            <a:prstDash val="solid"/>
          </a:ln>
        </p:spPr>
        <p:txBody>
          <a:bodyPr/>
          <a:p/>
        </p:txBody>
      </p:sp>
      <p:sp>
        <p:nvSpPr>
          <p:cNvPr id="29" name="Shape 23"/>
          <p:cNvSpPr/>
          <p:nvPr/>
        </p:nvSpPr>
        <p:spPr>
          <a:xfrm>
            <a:off x="9802368" y="1783080"/>
            <a:ext cx="411480" cy="411480"/>
          </a:xfrm>
          <a:prstGeom prst="ellipse">
            <a:avLst/>
          </a:prstGeom>
          <a:solidFill>
            <a:schemeClr val="accent4">
              <a:alpha val="20000"/>
            </a:schemeClr>
          </a:solidFill>
          <a:ln w="12700">
            <a:solidFill>
              <a:schemeClr val="accent4"/>
            </a:solidFill>
            <a:prstDash val="solid"/>
          </a:ln>
        </p:spPr>
        <p:txBody>
          <a:bodyPr/>
          <a:p/>
        </p:txBody>
      </p:sp>
      <p:pic>
        <p:nvPicPr>
          <p:cNvPr id="30" name="Image 4" descr="preencoded.png">    </p:cNvPr>
          <p:cNvPicPr>
            <a:picLocks noChangeAspect="1"/>
          </p:cNvPicPr>
          <p:nvPr/>
        </p:nvPicPr>
        <p:blipFill>
          <a:blip r:embed="rId5"/>
          <a:stretch>
            <a:fillRect/>
          </a:stretch>
        </p:blipFill>
        <p:spPr>
          <a:xfrm>
            <a:off x="9905238" y="1885950"/>
            <a:ext cx="205740" cy="205740"/>
          </a:xfrm>
          <a:prstGeom prst="rect">
            <a:avLst/>
          </a:prstGeom>
        </p:spPr>
      </p:pic>
      <p:sp>
        <p:nvSpPr>
          <p:cNvPr id="31" name="Text 24"/>
          <p:cNvSpPr txBox="1"/>
          <p:nvPr/>
        </p:nvSpPr>
        <p:spPr>
          <a:xfrm>
            <a:off x="10305288" y="1801368"/>
            <a:ext cx="1280160" cy="365760"/>
          </a:xfrm>
          <a:prstGeom prst="rect">
            <a:avLst/>
          </a:prstGeom>
          <a:noFill/>
          <a:ln/>
        </p:spPr>
        <p:txBody>
          <a:bodyPr wrap="square" lIns="0" tIns="0" rIns="0" bIns="0" rtlCol="0" anchor="ctr"/>
          <a:lstStyle/>
          <a:p>
            <a:pPr indent="0" marL="0">
              <a:buNone/>
            </a:pPr>
            <a:r>
              <a:rPr lang="en-US" sz="1400" b="1" dirty="0">
                <a:solidFill>
                  <a:schemeClr val="bg1"/>
                </a:solidFill>
              </a:rPr>
              <a:t>Random Forest</a:t>
            </a:r>
            <a:endParaRPr lang="en-US" sz="1400" dirty="0"/>
          </a:p>
        </p:txBody>
      </p:sp>
      <p:sp>
        <p:nvSpPr>
          <p:cNvPr id="32" name="Text 25"/>
          <p:cNvSpPr txBox="1"/>
          <p:nvPr/>
        </p:nvSpPr>
        <p:spPr>
          <a:xfrm>
            <a:off x="9802368" y="2377440"/>
            <a:ext cx="1691640" cy="502920"/>
          </a:xfrm>
          <a:prstGeom prst="rect">
            <a:avLst/>
          </a:prstGeom>
          <a:noFill/>
          <a:ln/>
        </p:spPr>
        <p:txBody>
          <a:bodyPr wrap="square" lIns="0" tIns="0" rIns="0" bIns="0" rtlCol="0" anchor="t"/>
          <a:lstStyle/>
          <a:p>
            <a:pPr indent="0" marL="0">
              <a:buNone/>
            </a:pPr>
            <a:r>
              <a:rPr lang="en-US" sz="1200" dirty="0">
                <a:solidFill>
                  <a:schemeClr val="bg2"/>
                </a:solidFill>
              </a:rPr>
              <a:t>Probability + risk band</a:t>
            </a:r>
            <a:endParaRPr lang="en-US" sz="1200" dirty="0"/>
          </a:p>
        </p:txBody>
      </p:sp>
      <p:sp>
        <p:nvSpPr>
          <p:cNvPr id="33" name="card"/>
          <p:cNvSpPr/>
          <p:nvPr/>
        </p:nvSpPr>
        <p:spPr>
          <a:xfrm>
            <a:off x="548640" y="3246120"/>
            <a:ext cx="6035040" cy="475488"/>
          </a:xfrm>
          <a:prstGeom prst="roundRect">
            <a:avLst>
              <a:gd name="adj" fmla="val 23077"/>
            </a:avLst>
          </a:prstGeom>
          <a:solidFill>
            <a:schemeClr val="tx2"/>
          </a:solidFill>
          <a:ln w="9525">
            <a:solidFill>
              <a:schemeClr val="accent6"/>
            </a:solidFill>
            <a:prstDash val="solid"/>
          </a:ln>
        </p:spPr>
        <p:txBody>
          <a:bodyPr/>
          <a:p/>
        </p:txBody>
      </p:sp>
      <p:sp>
        <p:nvSpPr>
          <p:cNvPr id="34" name="Shape 27"/>
          <p:cNvSpPr/>
          <p:nvPr/>
        </p:nvSpPr>
        <p:spPr>
          <a:xfrm>
            <a:off x="658368" y="3337560"/>
            <a:ext cx="640080" cy="292608"/>
          </a:xfrm>
          <a:prstGeom prst="roundRect">
            <a:avLst>
              <a:gd name="adj" fmla="val 50000"/>
            </a:avLst>
          </a:prstGeom>
          <a:solidFill>
            <a:schemeClr val="accent2">
              <a:alpha val="18000"/>
            </a:schemeClr>
          </a:solidFill>
          <a:ln w="9525">
            <a:solidFill>
              <a:schemeClr val="accent2"/>
            </a:solidFill>
            <a:prstDash val="solid"/>
          </a:ln>
        </p:spPr>
        <p:txBody>
          <a:bodyPr/>
          <a:p/>
        </p:txBody>
      </p:sp>
      <p:sp>
        <p:nvSpPr>
          <p:cNvPr id="35" name="Text 28"/>
          <p:cNvSpPr txBox="1"/>
          <p:nvPr/>
        </p:nvSpPr>
        <p:spPr>
          <a:xfrm>
            <a:off x="658368" y="3337560"/>
            <a:ext cx="640080" cy="292608"/>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GET</a:t>
            </a:r>
            <a:endParaRPr lang="en-US" sz="1100" dirty="0"/>
          </a:p>
        </p:txBody>
      </p:sp>
      <p:sp>
        <p:nvSpPr>
          <p:cNvPr id="36" name="Text 29"/>
          <p:cNvSpPr txBox="1"/>
          <p:nvPr/>
        </p:nvSpPr>
        <p:spPr>
          <a:xfrm>
            <a:off x="1417320" y="3246120"/>
            <a:ext cx="3383280" cy="475488"/>
          </a:xfrm>
          <a:prstGeom prst="rect">
            <a:avLst/>
          </a:prstGeom>
          <a:noFill/>
          <a:ln/>
        </p:spPr>
        <p:txBody>
          <a:bodyPr wrap="square" lIns="0" tIns="0" rIns="0" bIns="0" rtlCol="0" anchor="ctr"/>
          <a:lstStyle/>
          <a:p>
            <a:pPr indent="0" marL="0">
              <a:buNone/>
            </a:pPr>
            <a:r>
              <a:rPr lang="en-US" sz="1150" dirty="0">
                <a:solidFill>
                  <a:schemeClr val="accent1"/>
                </a:solidFill>
                <a:latin typeface="Courier New" pitchFamily="34" charset="0"/>
                <a:ea typeface="Courier New" pitchFamily="34" charset="-122"/>
                <a:cs typeface="Courier New" pitchFamily="34" charset="-120"/>
              </a:rPr>
              <a:t>/health</a:t>
            </a:r>
            <a:endParaRPr lang="en-US" sz="1150" dirty="0"/>
          </a:p>
        </p:txBody>
      </p:sp>
      <p:sp>
        <p:nvSpPr>
          <p:cNvPr id="37" name="Text 30"/>
          <p:cNvSpPr txBox="1"/>
          <p:nvPr/>
        </p:nvSpPr>
        <p:spPr>
          <a:xfrm>
            <a:off x="4754880" y="3246120"/>
            <a:ext cx="1737360" cy="475488"/>
          </a:xfrm>
          <a:prstGeom prst="rect">
            <a:avLst/>
          </a:prstGeom>
          <a:noFill/>
          <a:ln/>
        </p:spPr>
        <p:txBody>
          <a:bodyPr wrap="square" lIns="0" tIns="0" rIns="0" bIns="0" rtlCol="0" anchor="ctr"/>
          <a:lstStyle/>
          <a:p>
            <a:pPr indent="0" marL="0">
              <a:buNone/>
            </a:pPr>
            <a:r>
              <a:rPr lang="en-US" sz="1200" dirty="0">
                <a:solidFill>
                  <a:schemeClr val="bg2"/>
                </a:solidFill>
              </a:rPr>
              <a:t>Service status</a:t>
            </a:r>
            <a:endParaRPr lang="en-US" sz="1200" dirty="0"/>
          </a:p>
        </p:txBody>
      </p:sp>
      <p:sp>
        <p:nvSpPr>
          <p:cNvPr id="38" name="card"/>
          <p:cNvSpPr/>
          <p:nvPr/>
        </p:nvSpPr>
        <p:spPr>
          <a:xfrm>
            <a:off x="548640" y="3813048"/>
            <a:ext cx="6035040" cy="475488"/>
          </a:xfrm>
          <a:prstGeom prst="roundRect">
            <a:avLst>
              <a:gd name="adj" fmla="val 23077"/>
            </a:avLst>
          </a:prstGeom>
          <a:solidFill>
            <a:schemeClr val="tx2"/>
          </a:solidFill>
          <a:ln w="9525">
            <a:solidFill>
              <a:schemeClr val="accent6"/>
            </a:solidFill>
            <a:prstDash val="solid"/>
          </a:ln>
        </p:spPr>
        <p:txBody>
          <a:bodyPr/>
          <a:p/>
        </p:txBody>
      </p:sp>
      <p:sp>
        <p:nvSpPr>
          <p:cNvPr id="39" name="Shape 32"/>
          <p:cNvSpPr/>
          <p:nvPr/>
        </p:nvSpPr>
        <p:spPr>
          <a:xfrm>
            <a:off x="658368" y="3904488"/>
            <a:ext cx="640080" cy="292608"/>
          </a:xfrm>
          <a:prstGeom prst="roundRect">
            <a:avLst>
              <a:gd name="adj" fmla="val 50000"/>
            </a:avLst>
          </a:prstGeom>
          <a:solidFill>
            <a:schemeClr val="accent2">
              <a:alpha val="18000"/>
            </a:schemeClr>
          </a:solidFill>
          <a:ln w="9525">
            <a:solidFill>
              <a:schemeClr val="accent2"/>
            </a:solidFill>
            <a:prstDash val="solid"/>
          </a:ln>
        </p:spPr>
        <p:txBody>
          <a:bodyPr/>
          <a:p/>
        </p:txBody>
      </p:sp>
      <p:sp>
        <p:nvSpPr>
          <p:cNvPr id="40" name="Text 33"/>
          <p:cNvSpPr txBox="1"/>
          <p:nvPr/>
        </p:nvSpPr>
        <p:spPr>
          <a:xfrm>
            <a:off x="658368" y="3904488"/>
            <a:ext cx="640080" cy="292608"/>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GET</a:t>
            </a:r>
            <a:endParaRPr lang="en-US" sz="1100" dirty="0"/>
          </a:p>
        </p:txBody>
      </p:sp>
      <p:sp>
        <p:nvSpPr>
          <p:cNvPr id="41" name="Text 34"/>
          <p:cNvSpPr txBox="1"/>
          <p:nvPr/>
        </p:nvSpPr>
        <p:spPr>
          <a:xfrm>
            <a:off x="1417320" y="3813048"/>
            <a:ext cx="3383280" cy="475488"/>
          </a:xfrm>
          <a:prstGeom prst="rect">
            <a:avLst/>
          </a:prstGeom>
          <a:noFill/>
          <a:ln/>
        </p:spPr>
        <p:txBody>
          <a:bodyPr wrap="square" lIns="0" tIns="0" rIns="0" bIns="0" rtlCol="0" anchor="ctr"/>
          <a:lstStyle/>
          <a:p>
            <a:pPr indent="0" marL="0">
              <a:buNone/>
            </a:pPr>
            <a:r>
              <a:rPr lang="en-US" sz="1150" dirty="0">
                <a:solidFill>
                  <a:schemeClr val="accent1"/>
                </a:solidFill>
                <a:latin typeface="Courier New" pitchFamily="34" charset="0"/>
                <a:ea typeface="Courier New" pitchFamily="34" charset="-122"/>
                <a:cs typeface="Courier New" pitchFamily="34" charset="-120"/>
              </a:rPr>
              <a:t>/api/patients</a:t>
            </a:r>
            <a:endParaRPr lang="en-US" sz="1150" dirty="0"/>
          </a:p>
        </p:txBody>
      </p:sp>
      <p:sp>
        <p:nvSpPr>
          <p:cNvPr id="42" name="Text 35"/>
          <p:cNvSpPr txBox="1"/>
          <p:nvPr/>
        </p:nvSpPr>
        <p:spPr>
          <a:xfrm>
            <a:off x="4754880" y="3813048"/>
            <a:ext cx="1737360" cy="475488"/>
          </a:xfrm>
          <a:prstGeom prst="rect">
            <a:avLst/>
          </a:prstGeom>
          <a:noFill/>
          <a:ln/>
        </p:spPr>
        <p:txBody>
          <a:bodyPr wrap="square" lIns="0" tIns="0" rIns="0" bIns="0" rtlCol="0" anchor="ctr"/>
          <a:lstStyle/>
          <a:p>
            <a:pPr indent="0" marL="0">
              <a:buNone/>
            </a:pPr>
            <a:r>
              <a:rPr lang="en-US" sz="1200" dirty="0">
                <a:solidFill>
                  <a:schemeClr val="bg2"/>
                </a:solidFill>
              </a:rPr>
              <a:t>Profiles</a:t>
            </a:r>
            <a:endParaRPr lang="en-US" sz="1200" dirty="0"/>
          </a:p>
        </p:txBody>
      </p:sp>
      <p:sp>
        <p:nvSpPr>
          <p:cNvPr id="43" name="card"/>
          <p:cNvSpPr/>
          <p:nvPr/>
        </p:nvSpPr>
        <p:spPr>
          <a:xfrm>
            <a:off x="548640" y="4379976"/>
            <a:ext cx="6035040" cy="475488"/>
          </a:xfrm>
          <a:prstGeom prst="roundRect">
            <a:avLst>
              <a:gd name="adj" fmla="val 23077"/>
            </a:avLst>
          </a:prstGeom>
          <a:solidFill>
            <a:schemeClr val="tx2"/>
          </a:solidFill>
          <a:ln w="9525">
            <a:solidFill>
              <a:schemeClr val="accent6"/>
            </a:solidFill>
            <a:prstDash val="solid"/>
          </a:ln>
        </p:spPr>
        <p:txBody>
          <a:bodyPr/>
          <a:p/>
        </p:txBody>
      </p:sp>
      <p:sp>
        <p:nvSpPr>
          <p:cNvPr id="44" name="Shape 37"/>
          <p:cNvSpPr/>
          <p:nvPr/>
        </p:nvSpPr>
        <p:spPr>
          <a:xfrm>
            <a:off x="658368" y="4471416"/>
            <a:ext cx="640080" cy="292608"/>
          </a:xfrm>
          <a:prstGeom prst="roundRect">
            <a:avLst>
              <a:gd name="adj" fmla="val 50000"/>
            </a:avLst>
          </a:prstGeom>
          <a:solidFill>
            <a:schemeClr val="accent2">
              <a:alpha val="18000"/>
            </a:schemeClr>
          </a:solidFill>
          <a:ln w="9525">
            <a:solidFill>
              <a:schemeClr val="accent2"/>
            </a:solidFill>
            <a:prstDash val="solid"/>
          </a:ln>
        </p:spPr>
        <p:txBody>
          <a:bodyPr/>
          <a:p/>
        </p:txBody>
      </p:sp>
      <p:sp>
        <p:nvSpPr>
          <p:cNvPr id="45" name="Text 38"/>
          <p:cNvSpPr txBox="1"/>
          <p:nvPr/>
        </p:nvSpPr>
        <p:spPr>
          <a:xfrm>
            <a:off x="658368" y="4471416"/>
            <a:ext cx="640080" cy="292608"/>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GET</a:t>
            </a:r>
            <a:endParaRPr lang="en-US" sz="1100" dirty="0"/>
          </a:p>
        </p:txBody>
      </p:sp>
      <p:sp>
        <p:nvSpPr>
          <p:cNvPr id="46" name="Text 39"/>
          <p:cNvSpPr txBox="1"/>
          <p:nvPr/>
        </p:nvSpPr>
        <p:spPr>
          <a:xfrm>
            <a:off x="1417320" y="4379976"/>
            <a:ext cx="3383280" cy="475488"/>
          </a:xfrm>
          <a:prstGeom prst="rect">
            <a:avLst/>
          </a:prstGeom>
          <a:noFill/>
          <a:ln/>
        </p:spPr>
        <p:txBody>
          <a:bodyPr wrap="square" lIns="0" tIns="0" rIns="0" bIns="0" rtlCol="0" anchor="ctr"/>
          <a:lstStyle/>
          <a:p>
            <a:pPr indent="0" marL="0">
              <a:buNone/>
            </a:pPr>
            <a:r>
              <a:rPr lang="en-US" sz="1150" dirty="0">
                <a:solidFill>
                  <a:schemeClr val="accent1"/>
                </a:solidFill>
                <a:latin typeface="Courier New" pitchFamily="34" charset="0"/>
                <a:ea typeface="Courier New" pitchFamily="34" charset="-122"/>
                <a:cs typeface="Courier New" pitchFamily="34" charset="-120"/>
              </a:rPr>
              <a:t>/api/patient/{id}/timeline</a:t>
            </a:r>
            <a:endParaRPr lang="en-US" sz="1150" dirty="0"/>
          </a:p>
        </p:txBody>
      </p:sp>
      <p:sp>
        <p:nvSpPr>
          <p:cNvPr id="47" name="Text 40"/>
          <p:cNvSpPr txBox="1"/>
          <p:nvPr/>
        </p:nvSpPr>
        <p:spPr>
          <a:xfrm>
            <a:off x="4754880" y="4379976"/>
            <a:ext cx="1737360" cy="475488"/>
          </a:xfrm>
          <a:prstGeom prst="rect">
            <a:avLst/>
          </a:prstGeom>
          <a:noFill/>
          <a:ln/>
        </p:spPr>
        <p:txBody>
          <a:bodyPr wrap="square" lIns="0" tIns="0" rIns="0" bIns="0" rtlCol="0" anchor="ctr"/>
          <a:lstStyle/>
          <a:p>
            <a:pPr indent="0" marL="0">
              <a:buNone/>
            </a:pPr>
            <a:r>
              <a:rPr lang="en-US" sz="1200" dirty="0">
                <a:solidFill>
                  <a:schemeClr val="bg2"/>
                </a:solidFill>
              </a:rPr>
              <a:t>Glucose history</a:t>
            </a:r>
            <a:endParaRPr lang="en-US" sz="1200" dirty="0"/>
          </a:p>
        </p:txBody>
      </p:sp>
      <p:sp>
        <p:nvSpPr>
          <p:cNvPr id="48" name="card"/>
          <p:cNvSpPr/>
          <p:nvPr/>
        </p:nvSpPr>
        <p:spPr>
          <a:xfrm>
            <a:off x="548640" y="4946904"/>
            <a:ext cx="6035040" cy="475488"/>
          </a:xfrm>
          <a:prstGeom prst="roundRect">
            <a:avLst>
              <a:gd name="adj" fmla="val 23077"/>
            </a:avLst>
          </a:prstGeom>
          <a:solidFill>
            <a:schemeClr val="tx2"/>
          </a:solidFill>
          <a:ln w="9525">
            <a:solidFill>
              <a:schemeClr val="accent6"/>
            </a:solidFill>
            <a:prstDash val="solid"/>
          </a:ln>
        </p:spPr>
        <p:txBody>
          <a:bodyPr/>
          <a:p/>
        </p:txBody>
      </p:sp>
      <p:sp>
        <p:nvSpPr>
          <p:cNvPr id="49" name="Shape 42"/>
          <p:cNvSpPr/>
          <p:nvPr/>
        </p:nvSpPr>
        <p:spPr>
          <a:xfrm>
            <a:off x="658368" y="5038344"/>
            <a:ext cx="640080" cy="292608"/>
          </a:xfrm>
          <a:prstGeom prst="roundRect">
            <a:avLst>
              <a:gd name="adj" fmla="val 50000"/>
            </a:avLst>
          </a:prstGeom>
          <a:solidFill>
            <a:schemeClr val="accent2">
              <a:alpha val="18000"/>
            </a:schemeClr>
          </a:solidFill>
          <a:ln w="9525">
            <a:solidFill>
              <a:schemeClr val="accent2"/>
            </a:solidFill>
            <a:prstDash val="solid"/>
          </a:ln>
        </p:spPr>
        <p:txBody>
          <a:bodyPr/>
          <a:p/>
        </p:txBody>
      </p:sp>
      <p:sp>
        <p:nvSpPr>
          <p:cNvPr id="50" name="Text 43"/>
          <p:cNvSpPr txBox="1"/>
          <p:nvPr/>
        </p:nvSpPr>
        <p:spPr>
          <a:xfrm>
            <a:off x="658368" y="5038344"/>
            <a:ext cx="640080" cy="292608"/>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GET</a:t>
            </a:r>
            <a:endParaRPr lang="en-US" sz="1100" dirty="0"/>
          </a:p>
        </p:txBody>
      </p:sp>
      <p:sp>
        <p:nvSpPr>
          <p:cNvPr id="51" name="Text 44"/>
          <p:cNvSpPr txBox="1"/>
          <p:nvPr/>
        </p:nvSpPr>
        <p:spPr>
          <a:xfrm>
            <a:off x="1417320" y="4946904"/>
            <a:ext cx="3383280" cy="475488"/>
          </a:xfrm>
          <a:prstGeom prst="rect">
            <a:avLst/>
          </a:prstGeom>
          <a:noFill/>
          <a:ln/>
        </p:spPr>
        <p:txBody>
          <a:bodyPr wrap="square" lIns="0" tIns="0" rIns="0" bIns="0" rtlCol="0" anchor="ctr"/>
          <a:lstStyle/>
          <a:p>
            <a:pPr indent="0" marL="0">
              <a:buNone/>
            </a:pPr>
            <a:r>
              <a:rPr lang="en-US" sz="1150" dirty="0">
                <a:solidFill>
                  <a:schemeClr val="accent1"/>
                </a:solidFill>
                <a:latin typeface="Courier New" pitchFamily="34" charset="0"/>
                <a:ea typeface="Courier New" pitchFamily="34" charset="-122"/>
                <a:cs typeface="Courier New" pitchFamily="34" charset="-120"/>
              </a:rPr>
              <a:t>/api/patient/{id}/predict</a:t>
            </a:r>
            <a:endParaRPr lang="en-US" sz="1150" dirty="0"/>
          </a:p>
        </p:txBody>
      </p:sp>
      <p:sp>
        <p:nvSpPr>
          <p:cNvPr id="52" name="Text 45"/>
          <p:cNvSpPr txBox="1"/>
          <p:nvPr/>
        </p:nvSpPr>
        <p:spPr>
          <a:xfrm>
            <a:off x="4754880" y="4946904"/>
            <a:ext cx="1737360" cy="475488"/>
          </a:xfrm>
          <a:prstGeom prst="rect">
            <a:avLst/>
          </a:prstGeom>
          <a:noFill/>
          <a:ln/>
        </p:spPr>
        <p:txBody>
          <a:bodyPr wrap="square" lIns="0" tIns="0" rIns="0" bIns="0" rtlCol="0" anchor="ctr"/>
          <a:lstStyle/>
          <a:p>
            <a:pPr indent="0" marL="0">
              <a:buNone/>
            </a:pPr>
            <a:r>
              <a:rPr lang="en-US" sz="1200" dirty="0">
                <a:solidFill>
                  <a:schemeClr val="bg2"/>
                </a:solidFill>
              </a:rPr>
              <a:t>Experimental probability</a:t>
            </a:r>
            <a:endParaRPr lang="en-US" sz="1200" dirty="0"/>
          </a:p>
        </p:txBody>
      </p:sp>
      <p:sp>
        <p:nvSpPr>
          <p:cNvPr id="53" name="card"/>
          <p:cNvSpPr/>
          <p:nvPr/>
        </p:nvSpPr>
        <p:spPr>
          <a:xfrm>
            <a:off x="548640" y="5513832"/>
            <a:ext cx="6035040" cy="475488"/>
          </a:xfrm>
          <a:prstGeom prst="roundRect">
            <a:avLst>
              <a:gd name="adj" fmla="val 23077"/>
            </a:avLst>
          </a:prstGeom>
          <a:solidFill>
            <a:schemeClr val="tx2"/>
          </a:solidFill>
          <a:ln w="9525">
            <a:solidFill>
              <a:schemeClr val="accent6"/>
            </a:solidFill>
            <a:prstDash val="solid"/>
          </a:ln>
        </p:spPr>
        <p:txBody>
          <a:bodyPr/>
          <a:p/>
        </p:txBody>
      </p:sp>
      <p:sp>
        <p:nvSpPr>
          <p:cNvPr id="54" name="Shape 47"/>
          <p:cNvSpPr/>
          <p:nvPr/>
        </p:nvSpPr>
        <p:spPr>
          <a:xfrm>
            <a:off x="658368" y="5605272"/>
            <a:ext cx="640080" cy="292608"/>
          </a:xfrm>
          <a:prstGeom prst="roundRect">
            <a:avLst>
              <a:gd name="adj" fmla="val 50000"/>
            </a:avLst>
          </a:prstGeom>
          <a:solidFill>
            <a:schemeClr val="accent4">
              <a:alpha val="18000"/>
            </a:schemeClr>
          </a:solidFill>
          <a:ln w="9525">
            <a:solidFill>
              <a:schemeClr val="accent4"/>
            </a:solidFill>
            <a:prstDash val="solid"/>
          </a:ln>
        </p:spPr>
        <p:txBody>
          <a:bodyPr/>
          <a:p/>
        </p:txBody>
      </p:sp>
      <p:sp>
        <p:nvSpPr>
          <p:cNvPr id="55" name="Text 48"/>
          <p:cNvSpPr txBox="1"/>
          <p:nvPr/>
        </p:nvSpPr>
        <p:spPr>
          <a:xfrm>
            <a:off x="658368" y="5605272"/>
            <a:ext cx="640080" cy="292608"/>
          </a:xfrm>
          <a:prstGeom prst="rect">
            <a:avLst/>
          </a:prstGeom>
          <a:noFill/>
          <a:ln/>
        </p:spPr>
        <p:txBody>
          <a:bodyPr wrap="square" lIns="0" tIns="0" rIns="0" bIns="0" rtlCol="0" anchor="ctr"/>
          <a:lstStyle/>
          <a:p>
            <a:pPr algn="ctr" indent="0" marL="0">
              <a:buNone/>
            </a:pPr>
            <a:r>
              <a:rPr lang="en-US" sz="1100" b="1" spc="100" kern="0" dirty="0">
                <a:solidFill>
                  <a:schemeClr val="accent4"/>
                </a:solidFill>
              </a:rPr>
              <a:t>POST</a:t>
            </a:r>
            <a:endParaRPr lang="en-US" sz="1100" dirty="0"/>
          </a:p>
        </p:txBody>
      </p:sp>
      <p:sp>
        <p:nvSpPr>
          <p:cNvPr id="56" name="Text 49"/>
          <p:cNvSpPr txBox="1"/>
          <p:nvPr/>
        </p:nvSpPr>
        <p:spPr>
          <a:xfrm>
            <a:off x="1417320" y="5513832"/>
            <a:ext cx="3383280" cy="475488"/>
          </a:xfrm>
          <a:prstGeom prst="rect">
            <a:avLst/>
          </a:prstGeom>
          <a:noFill/>
          <a:ln/>
        </p:spPr>
        <p:txBody>
          <a:bodyPr wrap="square" lIns="0" tIns="0" rIns="0" bIns="0" rtlCol="0" anchor="ctr"/>
          <a:lstStyle/>
          <a:p>
            <a:pPr indent="0" marL="0">
              <a:buNone/>
            </a:pPr>
            <a:r>
              <a:rPr lang="en-US" sz="1150" dirty="0">
                <a:solidFill>
                  <a:schemeClr val="accent1"/>
                </a:solidFill>
                <a:latin typeface="Courier New" pitchFamily="34" charset="0"/>
                <a:ea typeface="Courier New" pitchFamily="34" charset="-122"/>
                <a:cs typeface="Courier New" pitchFamily="34" charset="-120"/>
              </a:rPr>
              <a:t>/api/simulate</a:t>
            </a:r>
            <a:endParaRPr lang="en-US" sz="1150" dirty="0"/>
          </a:p>
        </p:txBody>
      </p:sp>
      <p:sp>
        <p:nvSpPr>
          <p:cNvPr id="57" name="Text 50"/>
          <p:cNvSpPr txBox="1"/>
          <p:nvPr/>
        </p:nvSpPr>
        <p:spPr>
          <a:xfrm>
            <a:off x="4754880" y="5513832"/>
            <a:ext cx="1737360" cy="475488"/>
          </a:xfrm>
          <a:prstGeom prst="rect">
            <a:avLst/>
          </a:prstGeom>
          <a:noFill/>
          <a:ln/>
        </p:spPr>
        <p:txBody>
          <a:bodyPr wrap="square" lIns="0" tIns="0" rIns="0" bIns="0" rtlCol="0" anchor="ctr"/>
          <a:lstStyle/>
          <a:p>
            <a:pPr indent="0" marL="0">
              <a:buNone/>
            </a:pPr>
            <a:r>
              <a:rPr lang="en-US" sz="1200" dirty="0">
                <a:solidFill>
                  <a:schemeClr val="bg2"/>
                </a:solidFill>
              </a:rPr>
              <a:t>Historical replay</a:t>
            </a:r>
            <a:endParaRPr lang="en-US" sz="1200" dirty="0"/>
          </a:p>
        </p:txBody>
      </p:sp>
      <p:sp>
        <p:nvSpPr>
          <p:cNvPr id="58" name="card"/>
          <p:cNvSpPr/>
          <p:nvPr/>
        </p:nvSpPr>
        <p:spPr>
          <a:xfrm>
            <a:off x="6858000" y="3246120"/>
            <a:ext cx="4782312" cy="2788920"/>
          </a:xfrm>
          <a:prstGeom prst="roundRect">
            <a:avLst>
              <a:gd name="adj" fmla="val 3934"/>
            </a:avLst>
          </a:prstGeom>
          <a:solidFill>
            <a:schemeClr val="tx2"/>
          </a:solidFill>
          <a:ln w="9525">
            <a:solidFill>
              <a:schemeClr val="accent6"/>
            </a:solidFill>
            <a:prstDash val="solid"/>
          </a:ln>
        </p:spPr>
        <p:txBody>
          <a:bodyPr/>
          <a:p/>
        </p:txBody>
      </p:sp>
      <p:sp>
        <p:nvSpPr>
          <p:cNvPr id="59" name="Text 52"/>
          <p:cNvSpPr txBox="1"/>
          <p:nvPr/>
        </p:nvSpPr>
        <p:spPr>
          <a:xfrm>
            <a:off x="7086600" y="3383280"/>
            <a:ext cx="438912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EXAMPLE RESPONSE · SYNTHETIC · SCHEMATIC</a:t>
            </a:r>
            <a:endParaRPr lang="en-US" sz="1100" dirty="0"/>
          </a:p>
        </p:txBody>
      </p:sp>
      <p:sp>
        <p:nvSpPr>
          <p:cNvPr id="60" name="Text 53"/>
          <p:cNvSpPr txBox="1"/>
          <p:nvPr/>
        </p:nvSpPr>
        <p:spPr>
          <a:xfrm>
            <a:off x="7086600" y="3703320"/>
            <a:ext cx="4389120" cy="2240280"/>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
  "current_glucose_mg_dl": 157.9,
  "predicted_probability": 0.31,
  "risk_band": "LOWER",
  "threshold_mg_dl": 180,
  "horizon_minutes": 120,
  "model": "RandomForestClassifier"
}
Example values are illustrative; use live API output.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r>
            <a:endParaRPr lang="en-US" sz="115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400" b="1" dirty="0">
                <a:solidFill>
                  <a:schemeClr val="bg1"/>
                </a:solidFill>
              </a:rPr>
              <a:t>What works today, and what remains</a:t>
            </a:r>
            <a:endParaRPr lang="en-US" sz="3400" dirty="0"/>
          </a:p>
        </p:txBody>
      </p:sp>
      <p:sp>
        <p:nvSpPr>
          <p:cNvPr id="3" name="Text 1"/>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FEASIBILITY AND IMPLEMENTATION</a:t>
            </a:r>
            <a:endParaRPr lang="en-US" sz="1200" dirty="0"/>
          </a:p>
        </p:txBody>
      </p:sp>
      <p:sp>
        <p:nvSpPr>
          <p:cNvPr id="4" name="card"/>
          <p:cNvSpPr/>
          <p:nvPr/>
        </p:nvSpPr>
        <p:spPr>
          <a:xfrm>
            <a:off x="548640" y="1645920"/>
            <a:ext cx="3520440" cy="3291840"/>
          </a:xfrm>
          <a:prstGeom prst="roundRect">
            <a:avLst>
              <a:gd name="adj" fmla="val 3333"/>
            </a:avLst>
          </a:prstGeom>
          <a:solidFill>
            <a:schemeClr val="tx2"/>
          </a:solidFill>
          <a:ln w="15875">
            <a:solidFill>
              <a:schemeClr val="accent2"/>
            </a:solidFill>
            <a:prstDash val="solid"/>
          </a:ln>
        </p:spPr>
        <p:txBody>
          <a:bodyPr/>
          <a:p/>
        </p:txBody>
      </p:sp>
      <p:sp>
        <p:nvSpPr>
          <p:cNvPr id="5" name="Shape 3"/>
          <p:cNvSpPr/>
          <p:nvPr/>
        </p:nvSpPr>
        <p:spPr>
          <a:xfrm>
            <a:off x="777240" y="1828800"/>
            <a:ext cx="2194560" cy="292608"/>
          </a:xfrm>
          <a:prstGeom prst="roundRect">
            <a:avLst>
              <a:gd name="adj" fmla="val 50000"/>
            </a:avLst>
          </a:prstGeom>
          <a:solidFill>
            <a:schemeClr val="accent2">
              <a:alpha val="18000"/>
            </a:schemeClr>
          </a:solidFill>
          <a:ln w="9525">
            <a:solidFill>
              <a:schemeClr val="accent2"/>
            </a:solidFill>
            <a:prstDash val="solid"/>
          </a:ln>
        </p:spPr>
        <p:txBody>
          <a:bodyPr/>
          <a:p/>
        </p:txBody>
      </p:sp>
      <p:sp>
        <p:nvSpPr>
          <p:cNvPr id="6" name="Text 4"/>
          <p:cNvSpPr txBox="1"/>
          <p:nvPr/>
        </p:nvSpPr>
        <p:spPr>
          <a:xfrm>
            <a:off x="777240" y="1828800"/>
            <a:ext cx="2194560" cy="292608"/>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IMPLEMENTED NOW</a:t>
            </a:r>
            <a:endParaRPr lang="en-US" sz="1100" dirty="0"/>
          </a:p>
        </p:txBody>
      </p:sp>
      <p:sp>
        <p:nvSpPr>
          <p:cNvPr id="7" name="Text 5"/>
          <p:cNvSpPr txBox="1"/>
          <p:nvPr/>
        </p:nvSpPr>
        <p:spPr>
          <a:xfrm>
            <a:off x="777240" y="2377440"/>
            <a:ext cx="3063240" cy="548640"/>
          </a:xfrm>
          <a:prstGeom prst="rect">
            <a:avLst/>
          </a:prstGeom>
          <a:noFill/>
          <a:ln/>
        </p:spPr>
        <p:txBody>
          <a:bodyPr wrap="square" lIns="0" tIns="0" rIns="0" bIns="0" rtlCol="0" anchor="t"/>
          <a:lstStyle/>
          <a:p>
            <a:pPr marL="342900" indent="-342900">
              <a:buSzPct val="100000"/>
              <a:buChar char="•"/>
            </a:pPr>
            <a:r>
              <a:rPr lang="en-US" sz="1400" dirty="0">
                <a:solidFill>
                  <a:schemeClr val="bg1"/>
                </a:solidFill>
              </a:rPr>
              <a:t>Streamlit dashboard with 36 generated virtual patients</a:t>
            </a:r>
            <a:endParaRPr lang="en-US" sz="1400" dirty="0"/>
          </a:p>
        </p:txBody>
      </p:sp>
      <p:sp>
        <p:nvSpPr>
          <p:cNvPr id="8" name="Text 6"/>
          <p:cNvSpPr txBox="1"/>
          <p:nvPr/>
        </p:nvSpPr>
        <p:spPr>
          <a:xfrm>
            <a:off x="777240" y="2999232"/>
            <a:ext cx="3063240" cy="548640"/>
          </a:xfrm>
          <a:prstGeom prst="rect">
            <a:avLst/>
          </a:prstGeom>
          <a:noFill/>
          <a:ln/>
        </p:spPr>
        <p:txBody>
          <a:bodyPr wrap="square" lIns="0" tIns="0" rIns="0" bIns="0" rtlCol="0" anchor="t"/>
          <a:lstStyle/>
          <a:p>
            <a:pPr marL="342900" indent="-342900">
              <a:buSzPct val="100000"/>
              <a:buChar char="•"/>
            </a:pPr>
            <a:r>
              <a:rPr lang="en-US" sz="1400" dirty="0">
                <a:solidFill>
                  <a:schemeClr val="bg1"/>
                </a:solidFill>
              </a:rPr>
              <a:t>FastAPI service with 5 endpoints</a:t>
            </a:r>
            <a:endParaRPr lang="en-US" sz="1400" dirty="0"/>
          </a:p>
        </p:txBody>
      </p:sp>
      <p:sp>
        <p:nvSpPr>
          <p:cNvPr id="9" name="Text 7"/>
          <p:cNvSpPr txBox="1"/>
          <p:nvPr/>
        </p:nvSpPr>
        <p:spPr>
          <a:xfrm>
            <a:off x="777240" y="3621024"/>
            <a:ext cx="3063240" cy="548640"/>
          </a:xfrm>
          <a:prstGeom prst="rect">
            <a:avLst/>
          </a:prstGeom>
          <a:noFill/>
          <a:ln/>
        </p:spPr>
        <p:txBody>
          <a:bodyPr wrap="square" lIns="0" tIns="0" rIns="0" bIns="0" rtlCol="0" anchor="t"/>
          <a:lstStyle/>
          <a:p>
            <a:pPr marL="342900" indent="-342900">
              <a:buSzPct val="100000"/>
              <a:buChar char="•"/>
            </a:pPr>
            <a:r>
              <a:rPr lang="en-US" sz="1400" dirty="0">
                <a:solidFill>
                  <a:schemeClr val="bg1"/>
                </a:solidFill>
              </a:rPr>
              <a:t>Synthetic 15-minute glucose time series</a:t>
            </a:r>
            <a:endParaRPr lang="en-US" sz="1400" dirty="0"/>
          </a:p>
        </p:txBody>
      </p:sp>
      <p:sp>
        <p:nvSpPr>
          <p:cNvPr id="10" name="Text 8"/>
          <p:cNvSpPr txBox="1"/>
          <p:nvPr/>
        </p:nvSpPr>
        <p:spPr>
          <a:xfrm>
            <a:off x="777240" y="4242816"/>
            <a:ext cx="3063240" cy="548640"/>
          </a:xfrm>
          <a:prstGeom prst="rect">
            <a:avLst/>
          </a:prstGeom>
          <a:noFill/>
          <a:ln/>
        </p:spPr>
        <p:txBody>
          <a:bodyPr wrap="square" lIns="0" tIns="0" rIns="0" bIns="0" rtlCol="0" anchor="t"/>
          <a:lstStyle/>
          <a:p>
            <a:pPr marL="342900" indent="-342900">
              <a:buSzPct val="100000"/>
              <a:buChar char="•"/>
            </a:pPr>
            <a:r>
              <a:rPr lang="en-US" sz="1400" dirty="0">
                <a:solidFill>
                  <a:schemeClr val="bg1"/>
                </a:solidFill>
              </a:rPr>
              <a:t>Architecture documentation</a:t>
            </a:r>
            <a:endParaRPr lang="en-US" sz="1400" dirty="0"/>
          </a:p>
        </p:txBody>
      </p:sp>
      <p:sp>
        <p:nvSpPr>
          <p:cNvPr id="11" name="card"/>
          <p:cNvSpPr/>
          <p:nvPr/>
        </p:nvSpPr>
        <p:spPr>
          <a:xfrm>
            <a:off x="4389120" y="1645920"/>
            <a:ext cx="3520440" cy="3291840"/>
          </a:xfrm>
          <a:prstGeom prst="roundRect">
            <a:avLst>
              <a:gd name="adj" fmla="val 3333"/>
            </a:avLst>
          </a:prstGeom>
          <a:solidFill>
            <a:schemeClr val="tx2"/>
          </a:solidFill>
          <a:ln w="15875">
            <a:solidFill>
              <a:schemeClr val="accent4"/>
            </a:solidFill>
            <a:prstDash val="solid"/>
          </a:ln>
        </p:spPr>
        <p:txBody>
          <a:bodyPr/>
          <a:p/>
        </p:txBody>
      </p:sp>
      <p:sp>
        <p:nvSpPr>
          <p:cNvPr id="12" name="Shape 10"/>
          <p:cNvSpPr/>
          <p:nvPr/>
        </p:nvSpPr>
        <p:spPr>
          <a:xfrm>
            <a:off x="4617720" y="1828800"/>
            <a:ext cx="2194560" cy="292608"/>
          </a:xfrm>
          <a:prstGeom prst="roundRect">
            <a:avLst>
              <a:gd name="adj" fmla="val 50000"/>
            </a:avLst>
          </a:prstGeom>
          <a:solidFill>
            <a:schemeClr val="accent4">
              <a:alpha val="18000"/>
            </a:schemeClr>
          </a:solidFill>
          <a:ln w="9525">
            <a:solidFill>
              <a:schemeClr val="accent4"/>
            </a:solidFill>
            <a:prstDash val="solid"/>
          </a:ln>
        </p:spPr>
        <p:txBody>
          <a:bodyPr/>
          <a:p/>
        </p:txBody>
      </p:sp>
      <p:sp>
        <p:nvSpPr>
          <p:cNvPr id="13" name="Text 11"/>
          <p:cNvSpPr txBox="1"/>
          <p:nvPr/>
        </p:nvSpPr>
        <p:spPr>
          <a:xfrm>
            <a:off x="4617720" y="1828800"/>
            <a:ext cx="2194560" cy="292608"/>
          </a:xfrm>
          <a:prstGeom prst="rect">
            <a:avLst/>
          </a:prstGeom>
          <a:noFill/>
          <a:ln/>
        </p:spPr>
        <p:txBody>
          <a:bodyPr wrap="square" lIns="0" tIns="0" rIns="0" bIns="0" rtlCol="0" anchor="ctr"/>
          <a:lstStyle/>
          <a:p>
            <a:pPr algn="ctr" indent="0" marL="0">
              <a:buNone/>
            </a:pPr>
            <a:r>
              <a:rPr lang="en-US" sz="1100" b="1" spc="100" kern="0" dirty="0">
                <a:solidFill>
                  <a:schemeClr val="accent4"/>
                </a:solidFill>
              </a:rPr>
              <a:t>SYNTHETIC-DATA MODEL</a:t>
            </a:r>
            <a:endParaRPr lang="en-US" sz="1100" dirty="0"/>
          </a:p>
        </p:txBody>
      </p:sp>
      <p:sp>
        <p:nvSpPr>
          <p:cNvPr id="14" name="Text 12"/>
          <p:cNvSpPr txBox="1"/>
          <p:nvPr/>
        </p:nvSpPr>
        <p:spPr>
          <a:xfrm>
            <a:off x="4617720" y="2377440"/>
            <a:ext cx="3063240" cy="548640"/>
          </a:xfrm>
          <a:prstGeom prst="rect">
            <a:avLst/>
          </a:prstGeom>
          <a:noFill/>
          <a:ln/>
        </p:spPr>
        <p:txBody>
          <a:bodyPr wrap="square" lIns="0" tIns="0" rIns="0" bIns="0" rtlCol="0" anchor="t"/>
          <a:lstStyle/>
          <a:p>
            <a:pPr marL="342900" indent="-342900">
              <a:buSzPct val="100000"/>
              <a:buChar char="•"/>
            </a:pPr>
            <a:r>
              <a:rPr lang="en-US" sz="1400" dirty="0">
                <a:solidFill>
                  <a:schemeClr val="bg1"/>
                </a:solidFill>
              </a:rPr>
              <a:t>Random Forest 2-hour excursion estimate</a:t>
            </a:r>
            <a:endParaRPr lang="en-US" sz="1400" dirty="0"/>
          </a:p>
        </p:txBody>
      </p:sp>
      <p:sp>
        <p:nvSpPr>
          <p:cNvPr id="15" name="Text 13"/>
          <p:cNvSpPr txBox="1"/>
          <p:nvPr/>
        </p:nvSpPr>
        <p:spPr>
          <a:xfrm>
            <a:off x="4617720" y="2999232"/>
            <a:ext cx="3063240" cy="548640"/>
          </a:xfrm>
          <a:prstGeom prst="rect">
            <a:avLst/>
          </a:prstGeom>
          <a:noFill/>
          <a:ln/>
        </p:spPr>
        <p:txBody>
          <a:bodyPr wrap="square" lIns="0" tIns="0" rIns="0" bIns="0" rtlCol="0" anchor="t"/>
          <a:lstStyle/>
          <a:p>
            <a:pPr marL="342900" indent="-342900">
              <a:buSzPct val="100000"/>
              <a:buChar char="•"/>
            </a:pPr>
            <a:r>
              <a:rPr lang="en-US" sz="1400" dirty="0">
                <a:solidFill>
                  <a:schemeClr val="bg1"/>
                </a:solidFill>
              </a:rPr>
              <a:t>Experimental probability bands</a:t>
            </a:r>
            <a:endParaRPr lang="en-US" sz="1400" dirty="0"/>
          </a:p>
        </p:txBody>
      </p:sp>
      <p:sp>
        <p:nvSpPr>
          <p:cNvPr id="16" name="Text 14"/>
          <p:cNvSpPr txBox="1"/>
          <p:nvPr/>
        </p:nvSpPr>
        <p:spPr>
          <a:xfrm>
            <a:off x="4617720" y="3621024"/>
            <a:ext cx="3063240" cy="548640"/>
          </a:xfrm>
          <a:prstGeom prst="rect">
            <a:avLst/>
          </a:prstGeom>
          <a:noFill/>
          <a:ln/>
        </p:spPr>
        <p:txBody>
          <a:bodyPr wrap="square" lIns="0" tIns="0" rIns="0" bIns="0" rtlCol="0" anchor="t"/>
          <a:lstStyle/>
          <a:p>
            <a:pPr marL="342900" indent="-342900">
              <a:buSzPct val="100000"/>
              <a:buChar char="•"/>
            </a:pPr>
            <a:r>
              <a:rPr lang="en-US" sz="1400" dirty="0">
                <a:solidFill>
                  <a:schemeClr val="bg1"/>
                </a:solidFill>
              </a:rPr>
              <a:t>Target: 180 mg/dL within 120 min</a:t>
            </a:r>
            <a:endParaRPr lang="en-US" sz="1400" dirty="0"/>
          </a:p>
        </p:txBody>
      </p:sp>
      <p:sp>
        <p:nvSpPr>
          <p:cNvPr id="17" name="Text 15"/>
          <p:cNvSpPr txBox="1"/>
          <p:nvPr/>
        </p:nvSpPr>
        <p:spPr>
          <a:xfrm>
            <a:off x="4617720" y="4242816"/>
            <a:ext cx="3063240" cy="548640"/>
          </a:xfrm>
          <a:prstGeom prst="rect">
            <a:avLst/>
          </a:prstGeom>
          <a:noFill/>
          <a:ln/>
        </p:spPr>
        <p:txBody>
          <a:bodyPr wrap="square" lIns="0" tIns="0" rIns="0" bIns="0" rtlCol="0" anchor="t"/>
          <a:lstStyle/>
          <a:p>
            <a:pPr marL="342900" indent="-342900">
              <a:buSzPct val="100000"/>
              <a:buChar char="•"/>
            </a:pPr>
            <a:r>
              <a:rPr lang="en-US" sz="1400" dirty="0">
                <a:solidFill>
                  <a:schemeClr val="bg1"/>
                </a:solidFill>
              </a:rPr>
              <a:t>Synthetic metrics only; no clinical claim</a:t>
            </a:r>
            <a:endParaRPr lang="en-US" sz="1400" dirty="0"/>
          </a:p>
        </p:txBody>
      </p:sp>
      <p:sp>
        <p:nvSpPr>
          <p:cNvPr id="18" name="card"/>
          <p:cNvSpPr/>
          <p:nvPr/>
        </p:nvSpPr>
        <p:spPr>
          <a:xfrm>
            <a:off x="8229600" y="1645920"/>
            <a:ext cx="3520440" cy="3291840"/>
          </a:xfrm>
          <a:prstGeom prst="roundRect">
            <a:avLst>
              <a:gd name="adj" fmla="val 3333"/>
            </a:avLst>
          </a:prstGeom>
          <a:solidFill>
            <a:schemeClr val="tx2"/>
          </a:solidFill>
          <a:ln w="15875">
            <a:solidFill>
              <a:schemeClr val="accent5"/>
            </a:solidFill>
            <a:prstDash val="dash"/>
          </a:ln>
        </p:spPr>
        <p:txBody>
          <a:bodyPr/>
          <a:p/>
        </p:txBody>
      </p:sp>
      <p:sp>
        <p:nvSpPr>
          <p:cNvPr id="19" name="Shape 17"/>
          <p:cNvSpPr/>
          <p:nvPr/>
        </p:nvSpPr>
        <p:spPr>
          <a:xfrm>
            <a:off x="8458200" y="1828800"/>
            <a:ext cx="2194560" cy="292608"/>
          </a:xfrm>
          <a:prstGeom prst="roundRect">
            <a:avLst>
              <a:gd name="adj" fmla="val 50000"/>
            </a:avLst>
          </a:prstGeom>
          <a:solidFill>
            <a:schemeClr val="accent5">
              <a:alpha val="18000"/>
            </a:schemeClr>
          </a:solidFill>
          <a:ln w="9525">
            <a:solidFill>
              <a:schemeClr val="accent5"/>
            </a:solidFill>
            <a:prstDash val="solid"/>
          </a:ln>
        </p:spPr>
        <p:txBody>
          <a:bodyPr/>
          <a:p/>
        </p:txBody>
      </p:sp>
      <p:sp>
        <p:nvSpPr>
          <p:cNvPr id="20" name="Text 18"/>
          <p:cNvSpPr txBox="1"/>
          <p:nvPr/>
        </p:nvSpPr>
        <p:spPr>
          <a:xfrm>
            <a:off x="8458200" y="1828800"/>
            <a:ext cx="2194560" cy="292608"/>
          </a:xfrm>
          <a:prstGeom prst="rect">
            <a:avLst/>
          </a:prstGeom>
          <a:noFill/>
          <a:ln/>
        </p:spPr>
        <p:txBody>
          <a:bodyPr wrap="square" lIns="0" tIns="0" rIns="0" bIns="0" rtlCol="0" anchor="ctr"/>
          <a:lstStyle/>
          <a:p>
            <a:pPr algn="ctr" indent="0" marL="0">
              <a:buNone/>
            </a:pPr>
            <a:r>
              <a:rPr lang="en-US" sz="1100" b="1" spc="100" kern="0" dirty="0">
                <a:solidFill>
                  <a:schemeClr val="accent5"/>
                </a:solidFill>
              </a:rPr>
              <a:t>PLANNED</a:t>
            </a:r>
            <a:endParaRPr lang="en-US" sz="1100" dirty="0"/>
          </a:p>
        </p:txBody>
      </p:sp>
      <p:sp>
        <p:nvSpPr>
          <p:cNvPr id="21" name="Text 19"/>
          <p:cNvSpPr txBox="1"/>
          <p:nvPr/>
        </p:nvSpPr>
        <p:spPr>
          <a:xfrm>
            <a:off x="8458200" y="2377440"/>
            <a:ext cx="3063240" cy="548640"/>
          </a:xfrm>
          <a:prstGeom prst="rect">
            <a:avLst/>
          </a:prstGeom>
          <a:noFill/>
          <a:ln/>
        </p:spPr>
        <p:txBody>
          <a:bodyPr wrap="square" lIns="0" tIns="0" rIns="0" bIns="0" rtlCol="0" anchor="t"/>
          <a:lstStyle/>
          <a:p>
            <a:pPr marL="342900" indent="-342900">
              <a:buSzPct val="100000"/>
              <a:buChar char="•"/>
            </a:pPr>
            <a:r>
              <a:rPr lang="en-US" sz="1400" dirty="0">
                <a:solidFill>
                  <a:schemeClr val="bg1"/>
                </a:solidFill>
              </a:rPr>
              <a:t>Validated, permitted datasets</a:t>
            </a:r>
            <a:endParaRPr lang="en-US" sz="1400" dirty="0"/>
          </a:p>
        </p:txBody>
      </p:sp>
      <p:sp>
        <p:nvSpPr>
          <p:cNvPr id="22" name="Text 20"/>
          <p:cNvSpPr txBox="1"/>
          <p:nvPr/>
        </p:nvSpPr>
        <p:spPr>
          <a:xfrm>
            <a:off x="8458200" y="2999232"/>
            <a:ext cx="3063240" cy="548640"/>
          </a:xfrm>
          <a:prstGeom prst="rect">
            <a:avLst/>
          </a:prstGeom>
          <a:noFill/>
          <a:ln/>
        </p:spPr>
        <p:txBody>
          <a:bodyPr wrap="square" lIns="0" tIns="0" rIns="0" bIns="0" rtlCol="0" anchor="t"/>
          <a:lstStyle/>
          <a:p>
            <a:pPr marL="342900" indent="-342900">
              <a:buSzPct val="100000"/>
              <a:buChar char="•"/>
            </a:pPr>
            <a:r>
              <a:rPr lang="en-US" sz="1400" dirty="0">
                <a:solidFill>
                  <a:schemeClr val="bg1"/>
                </a:solidFill>
              </a:rPr>
              <a:t>External validation and clinical review</a:t>
            </a:r>
            <a:endParaRPr lang="en-US" sz="1400" dirty="0"/>
          </a:p>
        </p:txBody>
      </p:sp>
      <p:sp>
        <p:nvSpPr>
          <p:cNvPr id="23" name="Text 21"/>
          <p:cNvSpPr txBox="1"/>
          <p:nvPr/>
        </p:nvSpPr>
        <p:spPr>
          <a:xfrm>
            <a:off x="8458200" y="3621024"/>
            <a:ext cx="3063240" cy="548640"/>
          </a:xfrm>
          <a:prstGeom prst="rect">
            <a:avLst/>
          </a:prstGeom>
          <a:noFill/>
          <a:ln/>
        </p:spPr>
        <p:txBody>
          <a:bodyPr wrap="square" lIns="0" tIns="0" rIns="0" bIns="0" rtlCol="0" anchor="t"/>
          <a:lstStyle/>
          <a:p>
            <a:pPr marL="342900" indent="-342900">
              <a:buSzPct val="100000"/>
              <a:buChar char="•"/>
            </a:pPr>
            <a:r>
              <a:rPr lang="en-US" sz="1400" dirty="0">
                <a:solidFill>
                  <a:schemeClr val="bg1"/>
                </a:solidFill>
              </a:rPr>
              <a:t>Clinician feedback</a:t>
            </a:r>
            <a:endParaRPr lang="en-US" sz="1400" dirty="0"/>
          </a:p>
        </p:txBody>
      </p:sp>
      <p:sp>
        <p:nvSpPr>
          <p:cNvPr id="24" name="Text 22"/>
          <p:cNvSpPr txBox="1"/>
          <p:nvPr/>
        </p:nvSpPr>
        <p:spPr>
          <a:xfrm>
            <a:off x="8458200" y="4242816"/>
            <a:ext cx="3063240" cy="548640"/>
          </a:xfrm>
          <a:prstGeom prst="rect">
            <a:avLst/>
          </a:prstGeom>
          <a:noFill/>
          <a:ln/>
        </p:spPr>
        <p:txBody>
          <a:bodyPr wrap="square" lIns="0" tIns="0" rIns="0" bIns="0" rtlCol="0" anchor="t"/>
          <a:lstStyle/>
          <a:p>
            <a:pPr marL="342900" indent="-342900">
              <a:buSzPct val="100000"/>
              <a:buChar char="•"/>
            </a:pPr>
            <a:r>
              <a:rPr lang="en-US" sz="1400" dirty="0">
                <a:solidFill>
                  <a:schemeClr val="bg1"/>
                </a:solidFill>
              </a:rPr>
              <a:t>Security and data governance</a:t>
            </a:r>
            <a:endParaRPr lang="en-US" sz="1400" dirty="0"/>
          </a:p>
        </p:txBody>
      </p:sp>
      <p:sp>
        <p:nvSpPr>
          <p:cNvPr id="25" name="Text 23"/>
          <p:cNvSpPr txBox="1"/>
          <p:nvPr/>
        </p:nvSpPr>
        <p:spPr>
          <a:xfrm>
            <a:off x="548640" y="5257800"/>
            <a:ext cx="9144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STACK</a:t>
            </a:r>
            <a:endParaRPr lang="en-US" sz="1100" dirty="0"/>
          </a:p>
        </p:txBody>
      </p:sp>
      <p:sp>
        <p:nvSpPr>
          <p:cNvPr id="26" name="Shape 24"/>
          <p:cNvSpPr/>
          <p:nvPr/>
        </p:nvSpPr>
        <p:spPr>
          <a:xfrm>
            <a:off x="548640" y="5577840"/>
            <a:ext cx="1280160" cy="310896"/>
          </a:xfrm>
          <a:prstGeom prst="roundRect">
            <a:avLst>
              <a:gd name="adj" fmla="val 47059"/>
            </a:avLst>
          </a:prstGeom>
          <a:solidFill>
            <a:schemeClr val="accent1">
              <a:alpha val="18000"/>
            </a:schemeClr>
          </a:solidFill>
          <a:ln w="9525">
            <a:solidFill>
              <a:schemeClr val="accent1"/>
            </a:solidFill>
            <a:prstDash val="solid"/>
          </a:ln>
        </p:spPr>
        <p:txBody>
          <a:bodyPr/>
          <a:p/>
        </p:txBody>
      </p:sp>
      <p:sp>
        <p:nvSpPr>
          <p:cNvPr id="27" name="Text 25"/>
          <p:cNvSpPr txBox="1"/>
          <p:nvPr/>
        </p:nvSpPr>
        <p:spPr>
          <a:xfrm>
            <a:off x="548640" y="5577840"/>
            <a:ext cx="1280160" cy="310896"/>
          </a:xfrm>
          <a:prstGeom prst="rect">
            <a:avLst/>
          </a:prstGeom>
          <a:noFill/>
          <a:ln/>
        </p:spPr>
        <p:txBody>
          <a:bodyPr wrap="square" lIns="0" tIns="0" rIns="0" bIns="0" rtlCol="0" anchor="ctr"/>
          <a:lstStyle/>
          <a:p>
            <a:pPr algn="ctr" indent="0" marL="0">
              <a:buNone/>
            </a:pPr>
            <a:r>
              <a:rPr lang="en-US" sz="1100" b="1" spc="100" kern="0" dirty="0">
                <a:solidFill>
                  <a:schemeClr val="accent1"/>
                </a:solidFill>
              </a:rPr>
              <a:t>Python</a:t>
            </a:r>
            <a:endParaRPr lang="en-US" sz="1100" dirty="0"/>
          </a:p>
        </p:txBody>
      </p:sp>
      <p:sp>
        <p:nvSpPr>
          <p:cNvPr id="28" name="Shape 26"/>
          <p:cNvSpPr/>
          <p:nvPr/>
        </p:nvSpPr>
        <p:spPr>
          <a:xfrm>
            <a:off x="1965960" y="5577840"/>
            <a:ext cx="1280160" cy="310896"/>
          </a:xfrm>
          <a:prstGeom prst="roundRect">
            <a:avLst>
              <a:gd name="adj" fmla="val 47059"/>
            </a:avLst>
          </a:prstGeom>
          <a:solidFill>
            <a:schemeClr val="accent1">
              <a:alpha val="18000"/>
            </a:schemeClr>
          </a:solidFill>
          <a:ln w="9525">
            <a:solidFill>
              <a:schemeClr val="accent1"/>
            </a:solidFill>
            <a:prstDash val="solid"/>
          </a:ln>
        </p:spPr>
        <p:txBody>
          <a:bodyPr/>
          <a:p/>
        </p:txBody>
      </p:sp>
      <p:sp>
        <p:nvSpPr>
          <p:cNvPr id="29" name="Text 27"/>
          <p:cNvSpPr txBox="1"/>
          <p:nvPr/>
        </p:nvSpPr>
        <p:spPr>
          <a:xfrm>
            <a:off x="1965960" y="5577840"/>
            <a:ext cx="1280160" cy="310896"/>
          </a:xfrm>
          <a:prstGeom prst="rect">
            <a:avLst/>
          </a:prstGeom>
          <a:noFill/>
          <a:ln/>
        </p:spPr>
        <p:txBody>
          <a:bodyPr wrap="square" lIns="0" tIns="0" rIns="0" bIns="0" rtlCol="0" anchor="ctr"/>
          <a:lstStyle/>
          <a:p>
            <a:pPr algn="ctr" indent="0" marL="0">
              <a:buNone/>
            </a:pPr>
            <a:r>
              <a:rPr lang="en-US" sz="1100" b="1" spc="100" kern="0" dirty="0">
                <a:solidFill>
                  <a:schemeClr val="accent1"/>
                </a:solidFill>
              </a:rPr>
              <a:t>FastAPI</a:t>
            </a:r>
            <a:endParaRPr lang="en-US" sz="1100" dirty="0"/>
          </a:p>
        </p:txBody>
      </p:sp>
      <p:sp>
        <p:nvSpPr>
          <p:cNvPr id="30" name="Shape 28"/>
          <p:cNvSpPr/>
          <p:nvPr/>
        </p:nvSpPr>
        <p:spPr>
          <a:xfrm>
            <a:off x="3383280" y="5577840"/>
            <a:ext cx="1280160" cy="310896"/>
          </a:xfrm>
          <a:prstGeom prst="roundRect">
            <a:avLst>
              <a:gd name="adj" fmla="val 47059"/>
            </a:avLst>
          </a:prstGeom>
          <a:solidFill>
            <a:schemeClr val="accent1">
              <a:alpha val="18000"/>
            </a:schemeClr>
          </a:solidFill>
          <a:ln w="9525">
            <a:solidFill>
              <a:schemeClr val="accent1"/>
            </a:solidFill>
            <a:prstDash val="solid"/>
          </a:ln>
        </p:spPr>
        <p:txBody>
          <a:bodyPr/>
          <a:p/>
        </p:txBody>
      </p:sp>
      <p:sp>
        <p:nvSpPr>
          <p:cNvPr id="31" name="Text 29"/>
          <p:cNvSpPr txBox="1"/>
          <p:nvPr/>
        </p:nvSpPr>
        <p:spPr>
          <a:xfrm>
            <a:off x="3383280" y="5577840"/>
            <a:ext cx="1280160" cy="310896"/>
          </a:xfrm>
          <a:prstGeom prst="rect">
            <a:avLst/>
          </a:prstGeom>
          <a:noFill/>
          <a:ln/>
        </p:spPr>
        <p:txBody>
          <a:bodyPr wrap="square" lIns="0" tIns="0" rIns="0" bIns="0" rtlCol="0" anchor="ctr"/>
          <a:lstStyle/>
          <a:p>
            <a:pPr algn="ctr" indent="0" marL="0">
              <a:buNone/>
            </a:pPr>
            <a:r>
              <a:rPr lang="en-US" sz="1100" b="1" spc="100" kern="0" dirty="0">
                <a:solidFill>
                  <a:schemeClr val="accent1"/>
                </a:solidFill>
              </a:rPr>
              <a:t>Streamlit</a:t>
            </a:r>
            <a:endParaRPr lang="en-US" sz="1100" dirty="0"/>
          </a:p>
        </p:txBody>
      </p:sp>
      <p:sp>
        <p:nvSpPr>
          <p:cNvPr id="32" name="Shape 30"/>
          <p:cNvSpPr/>
          <p:nvPr/>
        </p:nvSpPr>
        <p:spPr>
          <a:xfrm>
            <a:off x="4800600" y="5577840"/>
            <a:ext cx="1280160" cy="310896"/>
          </a:xfrm>
          <a:prstGeom prst="roundRect">
            <a:avLst>
              <a:gd name="adj" fmla="val 47059"/>
            </a:avLst>
          </a:prstGeom>
          <a:solidFill>
            <a:schemeClr val="accent1">
              <a:alpha val="18000"/>
            </a:schemeClr>
          </a:solidFill>
          <a:ln w="9525">
            <a:solidFill>
              <a:schemeClr val="accent1"/>
            </a:solidFill>
            <a:prstDash val="solid"/>
          </a:ln>
        </p:spPr>
        <p:txBody>
          <a:bodyPr/>
          <a:p/>
        </p:txBody>
      </p:sp>
      <p:sp>
        <p:nvSpPr>
          <p:cNvPr id="33" name="Text 31"/>
          <p:cNvSpPr txBox="1"/>
          <p:nvPr/>
        </p:nvSpPr>
        <p:spPr>
          <a:xfrm>
            <a:off x="4800600" y="5577840"/>
            <a:ext cx="1280160" cy="310896"/>
          </a:xfrm>
          <a:prstGeom prst="rect">
            <a:avLst/>
          </a:prstGeom>
          <a:noFill/>
          <a:ln/>
        </p:spPr>
        <p:txBody>
          <a:bodyPr wrap="square" lIns="0" tIns="0" rIns="0" bIns="0" rtlCol="0" anchor="ctr"/>
          <a:lstStyle/>
          <a:p>
            <a:pPr algn="ctr" indent="0" marL="0">
              <a:buNone/>
            </a:pPr>
            <a:r>
              <a:rPr lang="en-US" sz="1100" b="1" spc="100" kern="0" dirty="0">
                <a:solidFill>
                  <a:schemeClr val="accent1"/>
                </a:solidFill>
              </a:rPr>
              <a:t>Pandas</a:t>
            </a:r>
            <a:endParaRPr lang="en-US" sz="1100" dirty="0"/>
          </a:p>
        </p:txBody>
      </p:sp>
      <p:sp>
        <p:nvSpPr>
          <p:cNvPr id="34" name="Shape 32"/>
          <p:cNvSpPr/>
          <p:nvPr/>
        </p:nvSpPr>
        <p:spPr>
          <a:xfrm>
            <a:off x="6217920" y="5577840"/>
            <a:ext cx="1280160" cy="310896"/>
          </a:xfrm>
          <a:prstGeom prst="roundRect">
            <a:avLst>
              <a:gd name="adj" fmla="val 47059"/>
            </a:avLst>
          </a:prstGeom>
          <a:solidFill>
            <a:schemeClr val="accent1">
              <a:alpha val="18000"/>
            </a:schemeClr>
          </a:solidFill>
          <a:ln w="9525">
            <a:solidFill>
              <a:schemeClr val="accent1"/>
            </a:solidFill>
            <a:prstDash val="solid"/>
          </a:ln>
        </p:spPr>
        <p:txBody>
          <a:bodyPr/>
          <a:p/>
        </p:txBody>
      </p:sp>
      <p:sp>
        <p:nvSpPr>
          <p:cNvPr id="35" name="Text 33"/>
          <p:cNvSpPr txBox="1"/>
          <p:nvPr/>
        </p:nvSpPr>
        <p:spPr>
          <a:xfrm>
            <a:off x="6217920" y="5577840"/>
            <a:ext cx="1280160" cy="310896"/>
          </a:xfrm>
          <a:prstGeom prst="rect">
            <a:avLst/>
          </a:prstGeom>
          <a:noFill/>
          <a:ln/>
        </p:spPr>
        <p:txBody>
          <a:bodyPr wrap="square" lIns="0" tIns="0" rIns="0" bIns="0" rtlCol="0" anchor="ctr"/>
          <a:lstStyle/>
          <a:p>
            <a:pPr algn="ctr" indent="0" marL="0">
              <a:buNone/>
            </a:pPr>
            <a:r>
              <a:rPr lang="en-US" sz="1100" b="1" spc="100" kern="0" dirty="0">
                <a:solidFill>
                  <a:schemeClr val="accent1"/>
                </a:solidFill>
              </a:rPr>
              <a:t>NumPy</a:t>
            </a:r>
            <a:endParaRPr lang="en-US" sz="1100" dirty="0"/>
          </a:p>
        </p:txBody>
      </p:sp>
      <p:sp>
        <p:nvSpPr>
          <p:cNvPr id="36" name="Shape 34"/>
          <p:cNvSpPr/>
          <p:nvPr/>
        </p:nvSpPr>
        <p:spPr>
          <a:xfrm>
            <a:off x="7635240" y="5577840"/>
            <a:ext cx="1280160" cy="310896"/>
          </a:xfrm>
          <a:prstGeom prst="roundRect">
            <a:avLst>
              <a:gd name="adj" fmla="val 47059"/>
            </a:avLst>
          </a:prstGeom>
          <a:solidFill>
            <a:schemeClr val="accent1">
              <a:alpha val="18000"/>
            </a:schemeClr>
          </a:solidFill>
          <a:ln w="9525">
            <a:solidFill>
              <a:schemeClr val="accent1"/>
            </a:solidFill>
            <a:prstDash val="solid"/>
          </a:ln>
        </p:spPr>
        <p:txBody>
          <a:bodyPr/>
          <a:p/>
        </p:txBody>
      </p:sp>
      <p:sp>
        <p:nvSpPr>
          <p:cNvPr id="37" name="Text 35"/>
          <p:cNvSpPr txBox="1"/>
          <p:nvPr/>
        </p:nvSpPr>
        <p:spPr>
          <a:xfrm>
            <a:off x="7635240" y="5577840"/>
            <a:ext cx="1280160" cy="310896"/>
          </a:xfrm>
          <a:prstGeom prst="rect">
            <a:avLst/>
          </a:prstGeom>
          <a:noFill/>
          <a:ln/>
        </p:spPr>
        <p:txBody>
          <a:bodyPr wrap="square" lIns="0" tIns="0" rIns="0" bIns="0" rtlCol="0" anchor="ctr"/>
          <a:lstStyle/>
          <a:p>
            <a:pPr algn="ctr" indent="0" marL="0">
              <a:buNone/>
            </a:pPr>
            <a:r>
              <a:rPr lang="en-US" sz="1100" b="1" spc="100" kern="0" dirty="0">
                <a:solidFill>
                  <a:schemeClr val="accent1"/>
                </a:solidFill>
              </a:rPr>
              <a:t>Plotly</a:t>
            </a:r>
            <a:endParaRPr lang="en-US" sz="1100" dirty="0"/>
          </a:p>
        </p:txBody>
      </p:sp>
      <p:sp>
        <p:nvSpPr>
          <p:cNvPr id="38" name="Text 36"/>
          <p:cNvSpPr txBox="1"/>
          <p:nvPr/>
        </p:nvSpPr>
        <p:spPr>
          <a:xfrm>
            <a:off x="9144000" y="5486400"/>
            <a:ext cx="2496312" cy="502920"/>
          </a:xfrm>
          <a:prstGeom prst="rect">
            <a:avLst/>
          </a:prstGeom>
          <a:noFill/>
          <a:ln/>
        </p:spPr>
        <p:txBody>
          <a:bodyPr wrap="square" lIns="0" tIns="0" rIns="0" bIns="0" rtlCol="0" anchor="t"/>
          <a:lstStyle/>
          <a:p>
            <a:pPr indent="0" marL="0">
              <a:buNone/>
            </a:pPr>
            <a:r>
              <a:rPr lang="en-US" sz="1100" dirty="0">
                <a:solidFill>
                  <a:schemeClr val="bg2"/>
                </a:solidFill>
              </a:rPr>
              <a:t>Scikit-learn Random Forest and Joblib power the prediction pipeline.</a:t>
            </a:r>
            <a:endParaRPr lang="en-US" sz="1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400" b="1" dirty="0">
                <a:solidFill>
                  <a:schemeClr val="bg1"/>
                </a:solidFill>
              </a:rPr>
              <a:t>Built to be honest about what it isn't</a:t>
            </a:r>
            <a:endParaRPr lang="en-US" sz="3400" dirty="0"/>
          </a:p>
        </p:txBody>
      </p:sp>
      <p:sp>
        <p:nvSpPr>
          <p:cNvPr id="3" name="Text 1"/>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RESPONSIBLE HEALTHCARE AI</a:t>
            </a:r>
            <a:endParaRPr lang="en-US" sz="1200" dirty="0"/>
          </a:p>
        </p:txBody>
      </p:sp>
      <p:sp>
        <p:nvSpPr>
          <p:cNvPr id="4" name="card"/>
          <p:cNvSpPr/>
          <p:nvPr/>
        </p:nvSpPr>
        <p:spPr>
          <a:xfrm>
            <a:off x="548640" y="1645920"/>
            <a:ext cx="5422392" cy="1783080"/>
          </a:xfrm>
          <a:prstGeom prst="roundRect">
            <a:avLst>
              <a:gd name="adj" fmla="val 6154"/>
            </a:avLst>
          </a:prstGeom>
          <a:solidFill>
            <a:schemeClr val="tx2"/>
          </a:solidFill>
          <a:ln w="9525">
            <a:solidFill>
              <a:schemeClr val="accent6"/>
            </a:solidFill>
            <a:prstDash val="solid"/>
          </a:ln>
        </p:spPr>
        <p:txBody>
          <a:bodyPr/>
          <a:p/>
        </p:txBody>
      </p:sp>
      <p:sp>
        <p:nvSpPr>
          <p:cNvPr id="5" name="Shape 3"/>
          <p:cNvSpPr/>
          <p:nvPr/>
        </p:nvSpPr>
        <p:spPr>
          <a:xfrm>
            <a:off x="777240" y="1874520"/>
            <a:ext cx="502920" cy="502920"/>
          </a:xfrm>
          <a:prstGeom prst="ellipse">
            <a:avLst/>
          </a:prstGeom>
          <a:solidFill>
            <a:schemeClr val="accent4">
              <a:alpha val="20000"/>
            </a:schemeClr>
          </a:solidFill>
          <a:ln w="12700">
            <a:solidFill>
              <a:schemeClr val="accent4"/>
            </a:solidFill>
            <a:prstDash val="solid"/>
          </a:ln>
        </p:spPr>
        <p:txBody>
          <a:bodyPr/>
          <a:p/>
        </p:txBody>
      </p:sp>
      <p:pic>
        <p:nvPicPr>
          <p:cNvPr id="6" name="Image 0" descr="preencoded.png">    </p:cNvPr>
          <p:cNvPicPr>
            <a:picLocks noChangeAspect="1"/>
          </p:cNvPicPr>
          <p:nvPr/>
        </p:nvPicPr>
        <p:blipFill>
          <a:blip r:embed="rId1"/>
          <a:stretch>
            <a:fillRect/>
          </a:stretch>
        </p:blipFill>
        <p:spPr>
          <a:xfrm>
            <a:off x="902970" y="2000250"/>
            <a:ext cx="251460" cy="251460"/>
          </a:xfrm>
          <a:prstGeom prst="rect">
            <a:avLst/>
          </a:prstGeom>
        </p:spPr>
      </p:pic>
      <p:sp>
        <p:nvSpPr>
          <p:cNvPr id="7" name="Text 4"/>
          <p:cNvSpPr txBox="1"/>
          <p:nvPr/>
        </p:nvSpPr>
        <p:spPr>
          <a:xfrm>
            <a:off x="1417320" y="1847088"/>
            <a:ext cx="4370832" cy="320040"/>
          </a:xfrm>
          <a:prstGeom prst="rect">
            <a:avLst/>
          </a:prstGeom>
          <a:noFill/>
          <a:ln/>
        </p:spPr>
        <p:txBody>
          <a:bodyPr wrap="square" lIns="0" tIns="0" rIns="0" bIns="0" rtlCol="0" anchor="t"/>
          <a:lstStyle/>
          <a:p>
            <a:pPr indent="0" marL="0">
              <a:buNone/>
            </a:pPr>
            <a:r>
              <a:rPr lang="en-US" sz="1600" b="1" dirty="0">
                <a:solidFill>
                  <a:schemeClr val="bg1"/>
                </a:solidFill>
              </a:rPr>
              <a:t>Synthetic data only</a:t>
            </a:r>
            <a:endParaRPr lang="en-US" sz="1600" dirty="0"/>
          </a:p>
        </p:txBody>
      </p:sp>
      <p:sp>
        <p:nvSpPr>
          <p:cNvPr id="8" name="Text 5"/>
          <p:cNvSpPr txBox="1"/>
          <p:nvPr/>
        </p:nvSpPr>
        <p:spPr>
          <a:xfrm>
            <a:off x="1417320" y="2194560"/>
            <a:ext cx="4370832" cy="1097280"/>
          </a:xfrm>
          <a:prstGeom prst="rect">
            <a:avLst/>
          </a:prstGeom>
          <a:noFill/>
          <a:ln/>
        </p:spPr>
        <p:txBody>
          <a:bodyPr wrap="square" lIns="0" tIns="0" rIns="0" bIns="0" rtlCol="0" anchor="t"/>
          <a:lstStyle/>
          <a:p>
            <a:pPr indent="0" marL="0">
              <a:buNone/>
            </a:pPr>
            <a:r>
              <a:rPr lang="en-US" sz="1300" dirty="0">
                <a:solidFill>
                  <a:schemeClr val="bg2"/>
                </a:solidFill>
              </a:rPr>
              <a:t>No real patient data is used. Results say nothing about real people.</a:t>
            </a:r>
            <a:endParaRPr lang="en-US" sz="1300" dirty="0"/>
          </a:p>
        </p:txBody>
      </p:sp>
      <p:sp>
        <p:nvSpPr>
          <p:cNvPr id="9" name="card"/>
          <p:cNvSpPr/>
          <p:nvPr/>
        </p:nvSpPr>
        <p:spPr>
          <a:xfrm>
            <a:off x="6217920" y="1645920"/>
            <a:ext cx="5422392" cy="1783080"/>
          </a:xfrm>
          <a:prstGeom prst="roundRect">
            <a:avLst>
              <a:gd name="adj" fmla="val 6154"/>
            </a:avLst>
          </a:prstGeom>
          <a:solidFill>
            <a:schemeClr val="tx2"/>
          </a:solidFill>
          <a:ln w="9525">
            <a:solidFill>
              <a:schemeClr val="accent6"/>
            </a:solidFill>
            <a:prstDash val="solid"/>
          </a:ln>
        </p:spPr>
        <p:txBody>
          <a:bodyPr/>
          <a:p/>
        </p:txBody>
      </p:sp>
      <p:sp>
        <p:nvSpPr>
          <p:cNvPr id="10" name="Shape 7"/>
          <p:cNvSpPr/>
          <p:nvPr/>
        </p:nvSpPr>
        <p:spPr>
          <a:xfrm>
            <a:off x="6446520" y="1874520"/>
            <a:ext cx="502920" cy="502920"/>
          </a:xfrm>
          <a:prstGeom prst="ellipse">
            <a:avLst/>
          </a:prstGeom>
          <a:solidFill>
            <a:schemeClr val="accent1">
              <a:alpha val="20000"/>
            </a:schemeClr>
          </a:solidFill>
          <a:ln w="12700">
            <a:solidFill>
              <a:schemeClr val="accent1"/>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6572250" y="2000250"/>
            <a:ext cx="251460" cy="251460"/>
          </a:xfrm>
          <a:prstGeom prst="rect">
            <a:avLst/>
          </a:prstGeom>
        </p:spPr>
      </p:pic>
      <p:sp>
        <p:nvSpPr>
          <p:cNvPr id="12" name="Text 8"/>
          <p:cNvSpPr txBox="1"/>
          <p:nvPr/>
        </p:nvSpPr>
        <p:spPr>
          <a:xfrm>
            <a:off x="7086600" y="1847088"/>
            <a:ext cx="4370832" cy="320040"/>
          </a:xfrm>
          <a:prstGeom prst="rect">
            <a:avLst/>
          </a:prstGeom>
          <a:noFill/>
          <a:ln/>
        </p:spPr>
        <p:txBody>
          <a:bodyPr wrap="square" lIns="0" tIns="0" rIns="0" bIns="0" rtlCol="0" anchor="t"/>
          <a:lstStyle/>
          <a:p>
            <a:pPr indent="0" marL="0">
              <a:buNone/>
            </a:pPr>
            <a:r>
              <a:rPr lang="en-US" sz="1600" b="1" dirty="0">
                <a:solidFill>
                  <a:schemeClr val="bg1"/>
                </a:solidFill>
              </a:rPr>
              <a:t>Not clinically validated</a:t>
            </a:r>
            <a:endParaRPr lang="en-US" sz="1600" dirty="0"/>
          </a:p>
        </p:txBody>
      </p:sp>
      <p:sp>
        <p:nvSpPr>
          <p:cNvPr id="13" name="Text 9"/>
          <p:cNvSpPr txBox="1"/>
          <p:nvPr/>
        </p:nvSpPr>
        <p:spPr>
          <a:xfrm>
            <a:off x="7086600" y="2194560"/>
            <a:ext cx="4370832" cy="1097280"/>
          </a:xfrm>
          <a:prstGeom prst="rect">
            <a:avLst/>
          </a:prstGeom>
          <a:noFill/>
          <a:ln/>
        </p:spPr>
        <p:txBody>
          <a:bodyPr wrap="square" lIns="0" tIns="0" rIns="0" bIns="0" rtlCol="0" anchor="t"/>
          <a:lstStyle/>
          <a:p>
            <a:pPr indent="0" marL="0">
              <a:buNone/>
            </a:pPr>
            <a:r>
              <a:rPr lang="en-US" sz="1300" dirty="0">
                <a:solidFill>
                  <a:schemeClr val="bg2"/>
                </a:solidFill>
              </a:rPr>
              <a:t>The model is trained on synthetic data; results are not clinically validated.</a:t>
            </a:r>
            <a:endParaRPr lang="en-US" sz="1300" dirty="0"/>
          </a:p>
        </p:txBody>
      </p:sp>
      <p:sp>
        <p:nvSpPr>
          <p:cNvPr id="14" name="card"/>
          <p:cNvSpPr/>
          <p:nvPr/>
        </p:nvSpPr>
        <p:spPr>
          <a:xfrm>
            <a:off x="548640" y="3611880"/>
            <a:ext cx="5422392" cy="1783080"/>
          </a:xfrm>
          <a:prstGeom prst="roundRect">
            <a:avLst>
              <a:gd name="adj" fmla="val 6154"/>
            </a:avLst>
          </a:prstGeom>
          <a:solidFill>
            <a:schemeClr val="tx2"/>
          </a:solidFill>
          <a:ln w="9525">
            <a:solidFill>
              <a:schemeClr val="accent6"/>
            </a:solidFill>
            <a:prstDash val="solid"/>
          </a:ln>
        </p:spPr>
        <p:txBody>
          <a:bodyPr/>
          <a:p/>
        </p:txBody>
      </p:sp>
      <p:sp>
        <p:nvSpPr>
          <p:cNvPr id="15" name="Shape 11"/>
          <p:cNvSpPr/>
          <p:nvPr/>
        </p:nvSpPr>
        <p:spPr>
          <a:xfrm>
            <a:off x="777240" y="3840480"/>
            <a:ext cx="502920" cy="502920"/>
          </a:xfrm>
          <a:prstGeom prst="ellipse">
            <a:avLst/>
          </a:prstGeom>
          <a:solidFill>
            <a:schemeClr val="accent1">
              <a:alpha val="20000"/>
            </a:schemeClr>
          </a:solidFill>
          <a:ln w="12700">
            <a:solidFill>
              <a:schemeClr val="accent1"/>
            </a:solidFill>
            <a:prstDash val="solid"/>
          </a:ln>
        </p:spPr>
        <p:txBody>
          <a:bodyPr/>
          <a:p/>
        </p:txBody>
      </p:sp>
      <p:pic>
        <p:nvPicPr>
          <p:cNvPr id="16" name="Image 2" descr="preencoded.png">    </p:cNvPr>
          <p:cNvPicPr>
            <a:picLocks noChangeAspect="1"/>
          </p:cNvPicPr>
          <p:nvPr/>
        </p:nvPicPr>
        <p:blipFill>
          <a:blip r:embed="rId3"/>
          <a:stretch>
            <a:fillRect/>
          </a:stretch>
        </p:blipFill>
        <p:spPr>
          <a:xfrm>
            <a:off x="902970" y="3966210"/>
            <a:ext cx="251460" cy="251460"/>
          </a:xfrm>
          <a:prstGeom prst="rect">
            <a:avLst/>
          </a:prstGeom>
        </p:spPr>
      </p:pic>
      <p:sp>
        <p:nvSpPr>
          <p:cNvPr id="17" name="Text 12"/>
          <p:cNvSpPr txBox="1"/>
          <p:nvPr/>
        </p:nvSpPr>
        <p:spPr>
          <a:xfrm>
            <a:off x="1417320" y="3813048"/>
            <a:ext cx="4370832" cy="320040"/>
          </a:xfrm>
          <a:prstGeom prst="rect">
            <a:avLst/>
          </a:prstGeom>
          <a:noFill/>
          <a:ln/>
        </p:spPr>
        <p:txBody>
          <a:bodyPr wrap="square" lIns="0" tIns="0" rIns="0" bIns="0" rtlCol="0" anchor="t"/>
          <a:lstStyle/>
          <a:p>
            <a:pPr indent="0" marL="0">
              <a:buNone/>
            </a:pPr>
            <a:r>
              <a:rPr lang="en-US" sz="1600" b="1" dirty="0">
                <a:solidFill>
                  <a:schemeClr val="bg1"/>
                </a:solidFill>
              </a:rPr>
              <a:t>Privacy and governance</a:t>
            </a:r>
            <a:endParaRPr lang="en-US" sz="1600" dirty="0"/>
          </a:p>
        </p:txBody>
      </p:sp>
      <p:sp>
        <p:nvSpPr>
          <p:cNvPr id="18" name="Text 13"/>
          <p:cNvSpPr txBox="1"/>
          <p:nvPr/>
        </p:nvSpPr>
        <p:spPr>
          <a:xfrm>
            <a:off x="1417320" y="4160520"/>
            <a:ext cx="4370832" cy="1097280"/>
          </a:xfrm>
          <a:prstGeom prst="rect">
            <a:avLst/>
          </a:prstGeom>
          <a:noFill/>
          <a:ln/>
        </p:spPr>
        <p:txBody>
          <a:bodyPr wrap="square" lIns="0" tIns="0" rIns="0" bIns="0" rtlCol="0" anchor="t"/>
          <a:lstStyle/>
          <a:p>
            <a:pPr indent="0" marL="0">
              <a:buNone/>
            </a:pPr>
            <a:r>
              <a:rPr lang="en-US" sz="1300" dirty="0">
                <a:solidFill>
                  <a:schemeClr val="bg2"/>
                </a:solidFill>
              </a:rPr>
              <a:t>Real data would need consent, access control, security and permitted use.</a:t>
            </a:r>
            <a:endParaRPr lang="en-US" sz="1300" dirty="0"/>
          </a:p>
        </p:txBody>
      </p:sp>
      <p:sp>
        <p:nvSpPr>
          <p:cNvPr id="19" name="card"/>
          <p:cNvSpPr/>
          <p:nvPr/>
        </p:nvSpPr>
        <p:spPr>
          <a:xfrm>
            <a:off x="6217920" y="3611880"/>
            <a:ext cx="5422392" cy="1783080"/>
          </a:xfrm>
          <a:prstGeom prst="roundRect">
            <a:avLst>
              <a:gd name="adj" fmla="val 6154"/>
            </a:avLst>
          </a:prstGeom>
          <a:solidFill>
            <a:schemeClr val="tx2"/>
          </a:solidFill>
          <a:ln w="9525">
            <a:solidFill>
              <a:schemeClr val="accent6"/>
            </a:solidFill>
            <a:prstDash val="solid"/>
          </a:ln>
        </p:spPr>
        <p:txBody>
          <a:bodyPr/>
          <a:p/>
        </p:txBody>
      </p:sp>
      <p:sp>
        <p:nvSpPr>
          <p:cNvPr id="20" name="Shape 15"/>
          <p:cNvSpPr/>
          <p:nvPr/>
        </p:nvSpPr>
        <p:spPr>
          <a:xfrm>
            <a:off x="6446520" y="3840480"/>
            <a:ext cx="502920" cy="502920"/>
          </a:xfrm>
          <a:prstGeom prst="ellipse">
            <a:avLst/>
          </a:prstGeom>
          <a:solidFill>
            <a:schemeClr val="accent1">
              <a:alpha val="20000"/>
            </a:schemeClr>
          </a:solidFill>
          <a:ln w="12700">
            <a:solidFill>
              <a:schemeClr val="accent1"/>
            </a:solidFill>
            <a:prstDash val="solid"/>
          </a:ln>
        </p:spPr>
        <p:txBody>
          <a:bodyPr/>
          <a:p/>
        </p:txBody>
      </p:sp>
      <p:pic>
        <p:nvPicPr>
          <p:cNvPr id="21" name="Image 3" descr="preencoded.png">    </p:cNvPr>
          <p:cNvPicPr>
            <a:picLocks noChangeAspect="1"/>
          </p:cNvPicPr>
          <p:nvPr/>
        </p:nvPicPr>
        <p:blipFill>
          <a:blip r:embed="rId4"/>
          <a:stretch>
            <a:fillRect/>
          </a:stretch>
        </p:blipFill>
        <p:spPr>
          <a:xfrm>
            <a:off x="6572250" y="3966210"/>
            <a:ext cx="251460" cy="251460"/>
          </a:xfrm>
          <a:prstGeom prst="rect">
            <a:avLst/>
          </a:prstGeom>
        </p:spPr>
      </p:pic>
      <p:sp>
        <p:nvSpPr>
          <p:cNvPr id="22" name="Text 16"/>
          <p:cNvSpPr txBox="1"/>
          <p:nvPr/>
        </p:nvSpPr>
        <p:spPr>
          <a:xfrm>
            <a:off x="7086600" y="3813048"/>
            <a:ext cx="4370832" cy="320040"/>
          </a:xfrm>
          <a:prstGeom prst="rect">
            <a:avLst/>
          </a:prstGeom>
          <a:noFill/>
          <a:ln/>
        </p:spPr>
        <p:txBody>
          <a:bodyPr wrap="square" lIns="0" tIns="0" rIns="0" bIns="0" rtlCol="0" anchor="t"/>
          <a:lstStyle/>
          <a:p>
            <a:pPr indent="0" marL="0">
              <a:buNone/>
            </a:pPr>
            <a:r>
              <a:rPr lang="en-US" sz="1600" b="1" dirty="0">
                <a:solidFill>
                  <a:schemeClr val="bg1"/>
                </a:solidFill>
              </a:rPr>
              <a:t>Clinicians stay in charge</a:t>
            </a:r>
            <a:endParaRPr lang="en-US" sz="1600" dirty="0"/>
          </a:p>
        </p:txBody>
      </p:sp>
      <p:sp>
        <p:nvSpPr>
          <p:cNvPr id="23" name="Text 17"/>
          <p:cNvSpPr txBox="1"/>
          <p:nvPr/>
        </p:nvSpPr>
        <p:spPr>
          <a:xfrm>
            <a:off x="7086600" y="4160520"/>
            <a:ext cx="4370832" cy="1097280"/>
          </a:xfrm>
          <a:prstGeom prst="rect">
            <a:avLst/>
          </a:prstGeom>
          <a:noFill/>
          <a:ln/>
        </p:spPr>
        <p:txBody>
          <a:bodyPr wrap="square" lIns="0" tIns="0" rIns="0" bIns="0" rtlCol="0" anchor="t"/>
          <a:lstStyle/>
          <a:p>
            <a:pPr indent="0" marL="0">
              <a:buNone/>
            </a:pPr>
            <a:r>
              <a:rPr lang="en-US" sz="1300" dirty="0">
                <a:solidFill>
                  <a:schemeClr val="bg2"/>
                </a:solidFill>
              </a:rPr>
              <a:t>It does not diagnose, replace clinicians or guide medication doses.</a:t>
            </a:r>
            <a:endParaRPr lang="en-US" sz="1300" dirty="0"/>
          </a:p>
        </p:txBody>
      </p:sp>
      <p:sp>
        <p:nvSpPr>
          <p:cNvPr id="24" name="card"/>
          <p:cNvSpPr/>
          <p:nvPr/>
        </p:nvSpPr>
        <p:spPr>
          <a:xfrm>
            <a:off x="548640" y="5577840"/>
            <a:ext cx="11091672" cy="548640"/>
          </a:xfrm>
          <a:prstGeom prst="roundRect">
            <a:avLst>
              <a:gd name="adj" fmla="val 20000"/>
            </a:avLst>
          </a:prstGeom>
          <a:solidFill>
            <a:schemeClr val="accent6"/>
          </a:solidFill>
          <a:ln w="9525">
            <a:solidFill>
              <a:schemeClr val="accent6"/>
            </a:solidFill>
            <a:prstDash val="solid"/>
          </a:ln>
        </p:spPr>
        <p:txBody>
          <a:bodyPr/>
          <a:p/>
        </p:txBody>
      </p:sp>
      <p:sp>
        <p:nvSpPr>
          <p:cNvPr id="25" name="Text 19"/>
          <p:cNvSpPr txBox="1"/>
          <p:nvPr/>
        </p:nvSpPr>
        <p:spPr>
          <a:xfrm>
            <a:off x="548640" y="5577840"/>
            <a:ext cx="11091672" cy="548640"/>
          </a:xfrm>
          <a:prstGeom prst="rect">
            <a:avLst/>
          </a:prstGeom>
          <a:noFill/>
          <a:ln/>
        </p:spPr>
        <p:txBody>
          <a:bodyPr wrap="square" lIns="0" tIns="0" rIns="0" bIns="0" rtlCol="0" anchor="ctr"/>
          <a:lstStyle/>
          <a:p>
            <a:pPr algn="ctr" indent="0" marL="0">
              <a:buNone/>
            </a:pPr>
            <a:r>
              <a:rPr lang="en-US" sz="1500" b="1" dirty="0">
                <a:solidFill>
                  <a:schemeClr val="accent4"/>
                </a:solidFill>
              </a:rPr>
              <a:t>Not for diagnosis  ·  treatment  ·  medication dosing  ·  emergency monitoring</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64240" cy="731520"/>
          </a:xfrm>
          <a:prstGeom prst="rect">
            <a:avLst/>
          </a:prstGeom>
          <a:noFill/>
          <a:ln/>
        </p:spPr>
        <p:txBody>
          <a:bodyPr wrap="square" lIns="0" tIns="0" rIns="0" bIns="0" rtlCol="0" anchor="t"/>
          <a:lstStyle/>
          <a:p>
            <a:pPr algn="l" indent="0" marL="0">
              <a:buNone/>
            </a:pPr>
            <a:r>
              <a:rPr lang="en-US" sz="3400" b="1" dirty="0">
                <a:solidFill>
                  <a:schemeClr val="bg1"/>
                </a:solidFill>
              </a:rPr>
              <a:t>A realistic path from prototype to evidence</a:t>
            </a:r>
            <a:endParaRPr lang="en-US" sz="3400" dirty="0"/>
          </a:p>
        </p:txBody>
      </p:sp>
      <p:sp>
        <p:nvSpPr>
          <p:cNvPr id="3" name="Text 1"/>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ROADMAP</a:t>
            </a:r>
            <a:endParaRPr lang="en-US" sz="1200" dirty="0"/>
          </a:p>
        </p:txBody>
      </p:sp>
      <p:sp>
        <p:nvSpPr>
          <p:cNvPr id="4" name="Shape 2"/>
          <p:cNvSpPr/>
          <p:nvPr/>
        </p:nvSpPr>
        <p:spPr>
          <a:xfrm>
            <a:off x="1371600" y="2148840"/>
            <a:ext cx="9418320" cy="0"/>
          </a:xfrm>
          <a:prstGeom prst="line">
            <a:avLst/>
          </a:prstGeom>
          <a:noFill/>
          <a:ln w="25400">
            <a:solidFill>
              <a:srgbClr val="1B2F5A"/>
            </a:solidFill>
            <a:prstDash val="solid"/>
          </a:ln>
        </p:spPr>
        <p:txBody>
          <a:bodyPr/>
          <a:p/>
        </p:txBody>
      </p:sp>
      <p:sp>
        <p:nvSpPr>
          <p:cNvPr id="5" name="Shape 3"/>
          <p:cNvSpPr/>
          <p:nvPr/>
        </p:nvSpPr>
        <p:spPr>
          <a:xfrm>
            <a:off x="1143000" y="1874520"/>
            <a:ext cx="548640" cy="548640"/>
          </a:xfrm>
          <a:prstGeom prst="ellipse">
            <a:avLst/>
          </a:prstGeom>
          <a:solidFill>
            <a:schemeClr val="accent2"/>
          </a:solidFill>
          <a:ln w="25400">
            <a:solidFill>
              <a:schemeClr val="accent2"/>
            </a:solidFill>
            <a:prstDash val="solid"/>
          </a:ln>
        </p:spPr>
        <p:txBody>
          <a:bodyPr/>
          <a:p/>
        </p:txBody>
      </p:sp>
      <p:sp>
        <p:nvSpPr>
          <p:cNvPr id="6" name="Text 4"/>
          <p:cNvSpPr txBox="1"/>
          <p:nvPr/>
        </p:nvSpPr>
        <p:spPr>
          <a:xfrm>
            <a:off x="1143000" y="187452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rPr>
              <a:t>0</a:t>
            </a:r>
            <a:endParaRPr lang="en-US" sz="1600" dirty="0"/>
          </a:p>
        </p:txBody>
      </p:sp>
      <p:sp>
        <p:nvSpPr>
          <p:cNvPr id="7" name="card"/>
          <p:cNvSpPr/>
          <p:nvPr/>
        </p:nvSpPr>
        <p:spPr>
          <a:xfrm>
            <a:off x="548640" y="2697480"/>
            <a:ext cx="2103120" cy="2514600"/>
          </a:xfrm>
          <a:prstGeom prst="roundRect">
            <a:avLst>
              <a:gd name="adj" fmla="val 5217"/>
            </a:avLst>
          </a:prstGeom>
          <a:solidFill>
            <a:schemeClr val="tx2"/>
          </a:solidFill>
          <a:ln w="12700">
            <a:solidFill>
              <a:schemeClr val="accent2"/>
            </a:solidFill>
            <a:prstDash val="solid"/>
          </a:ln>
        </p:spPr>
        <p:txBody>
          <a:bodyPr/>
          <a:p/>
        </p:txBody>
      </p:sp>
      <p:sp>
        <p:nvSpPr>
          <p:cNvPr id="8" name="Text 6"/>
          <p:cNvSpPr txBox="1"/>
          <p:nvPr/>
        </p:nvSpPr>
        <p:spPr>
          <a:xfrm>
            <a:off x="731520" y="2834640"/>
            <a:ext cx="173736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TODAY</a:t>
            </a:r>
            <a:endParaRPr lang="en-US" sz="1100" dirty="0"/>
          </a:p>
        </p:txBody>
      </p:sp>
      <p:sp>
        <p:nvSpPr>
          <p:cNvPr id="9" name="Text 7"/>
          <p:cNvSpPr txBox="1"/>
          <p:nvPr/>
        </p:nvSpPr>
        <p:spPr>
          <a:xfrm>
            <a:off x="731520" y="3154680"/>
            <a:ext cx="1783080" cy="640080"/>
          </a:xfrm>
          <a:prstGeom prst="rect">
            <a:avLst/>
          </a:prstGeom>
          <a:noFill/>
          <a:ln/>
        </p:spPr>
        <p:txBody>
          <a:bodyPr wrap="square" lIns="0" tIns="0" rIns="0" bIns="0" rtlCol="0" anchor="t"/>
          <a:lstStyle/>
          <a:p>
            <a:pPr indent="0" marL="0">
              <a:buNone/>
            </a:pPr>
            <a:r>
              <a:rPr lang="en-US" sz="1700" b="1" dirty="0">
                <a:solidFill>
                  <a:schemeClr val="bg1"/>
                </a:solidFill>
              </a:rPr>
              <a:t>Synthetic prototype</a:t>
            </a:r>
            <a:endParaRPr lang="en-US" sz="1700" dirty="0"/>
          </a:p>
        </p:txBody>
      </p:sp>
      <p:sp>
        <p:nvSpPr>
          <p:cNvPr id="10" name="Text 8"/>
          <p:cNvSpPr txBox="1"/>
          <p:nvPr/>
        </p:nvSpPr>
        <p:spPr>
          <a:xfrm>
            <a:off x="731520" y="3840480"/>
            <a:ext cx="1783080" cy="1280160"/>
          </a:xfrm>
          <a:prstGeom prst="rect">
            <a:avLst/>
          </a:prstGeom>
          <a:noFill/>
          <a:ln/>
        </p:spPr>
        <p:txBody>
          <a:bodyPr wrap="square" lIns="0" tIns="0" rIns="0" bIns="0" rtlCol="0" anchor="t"/>
          <a:lstStyle/>
          <a:p>
            <a:pPr indent="0" marL="0">
              <a:buNone/>
            </a:pPr>
            <a:r>
              <a:rPr lang="en-US" sz="1300" dirty="0">
                <a:solidFill>
                  <a:schemeClr val="bg2"/>
                </a:solidFill>
              </a:rPr>
              <a:t>Dashboard, API, trained synthetic-data model</a:t>
            </a:r>
            <a:endParaRPr lang="en-US" sz="1300" dirty="0"/>
          </a:p>
        </p:txBody>
      </p:sp>
      <p:sp>
        <p:nvSpPr>
          <p:cNvPr id="11" name="Shape 9"/>
          <p:cNvSpPr/>
          <p:nvPr/>
        </p:nvSpPr>
        <p:spPr>
          <a:xfrm>
            <a:off x="3429000" y="1874520"/>
            <a:ext cx="548640" cy="548640"/>
          </a:xfrm>
          <a:prstGeom prst="ellipse">
            <a:avLst/>
          </a:prstGeom>
          <a:solidFill>
            <a:schemeClr val="tx1"/>
          </a:solidFill>
          <a:ln w="25400">
            <a:solidFill>
              <a:schemeClr val="accent5"/>
            </a:solidFill>
            <a:prstDash val="solid"/>
          </a:ln>
        </p:spPr>
        <p:txBody>
          <a:bodyPr/>
          <a:p/>
        </p:txBody>
      </p:sp>
      <p:sp>
        <p:nvSpPr>
          <p:cNvPr id="12" name="Text 10"/>
          <p:cNvSpPr txBox="1"/>
          <p:nvPr/>
        </p:nvSpPr>
        <p:spPr>
          <a:xfrm>
            <a:off x="3429000" y="1874520"/>
            <a:ext cx="548640" cy="548640"/>
          </a:xfrm>
          <a:prstGeom prst="rect">
            <a:avLst/>
          </a:prstGeom>
          <a:noFill/>
          <a:ln/>
        </p:spPr>
        <p:txBody>
          <a:bodyPr wrap="square" lIns="0" tIns="0" rIns="0" bIns="0" rtlCol="0" anchor="ctr"/>
          <a:lstStyle/>
          <a:p>
            <a:pPr algn="ctr" indent="0" marL="0">
              <a:buNone/>
            </a:pPr>
            <a:r>
              <a:rPr lang="en-US" sz="1600" b="1" dirty="0">
                <a:solidFill>
                  <a:schemeClr val="accent5"/>
                </a:solidFill>
              </a:rPr>
              <a:t>1</a:t>
            </a:r>
            <a:endParaRPr lang="en-US" sz="1600" dirty="0"/>
          </a:p>
        </p:txBody>
      </p:sp>
      <p:sp>
        <p:nvSpPr>
          <p:cNvPr id="13" name="card"/>
          <p:cNvSpPr/>
          <p:nvPr/>
        </p:nvSpPr>
        <p:spPr>
          <a:xfrm>
            <a:off x="2834640" y="2697480"/>
            <a:ext cx="2103120" cy="2514600"/>
          </a:xfrm>
          <a:prstGeom prst="roundRect">
            <a:avLst>
              <a:gd name="adj" fmla="val 5217"/>
            </a:avLst>
          </a:prstGeom>
          <a:solidFill>
            <a:schemeClr val="tx2"/>
          </a:solidFill>
          <a:ln w="12700">
            <a:solidFill>
              <a:schemeClr val="accent5"/>
            </a:solidFill>
            <a:prstDash val="dash"/>
          </a:ln>
        </p:spPr>
        <p:txBody>
          <a:bodyPr/>
          <a:p/>
        </p:txBody>
      </p:sp>
      <p:sp>
        <p:nvSpPr>
          <p:cNvPr id="14" name="Text 12"/>
          <p:cNvSpPr txBox="1"/>
          <p:nvPr/>
        </p:nvSpPr>
        <p:spPr>
          <a:xfrm>
            <a:off x="3017520" y="2834640"/>
            <a:ext cx="1737360" cy="274320"/>
          </a:xfrm>
          <a:prstGeom prst="rect">
            <a:avLst/>
          </a:prstGeom>
          <a:noFill/>
          <a:ln/>
        </p:spPr>
        <p:txBody>
          <a:bodyPr wrap="square" lIns="0" tIns="0" rIns="0" bIns="0" rtlCol="0" anchor="t"/>
          <a:lstStyle/>
          <a:p>
            <a:pPr indent="0" marL="0">
              <a:buNone/>
            </a:pPr>
            <a:r>
              <a:rPr lang="en-US" sz="1100" b="1" spc="200" kern="0" dirty="0">
                <a:solidFill>
                  <a:schemeClr val="accent5"/>
                </a:solidFill>
              </a:rPr>
              <a:t>DATA</a:t>
            </a:r>
            <a:endParaRPr lang="en-US" sz="1100" dirty="0"/>
          </a:p>
        </p:txBody>
      </p:sp>
      <p:sp>
        <p:nvSpPr>
          <p:cNvPr id="15" name="Text 13"/>
          <p:cNvSpPr txBox="1"/>
          <p:nvPr/>
        </p:nvSpPr>
        <p:spPr>
          <a:xfrm>
            <a:off x="3017520" y="3154680"/>
            <a:ext cx="1783080" cy="640080"/>
          </a:xfrm>
          <a:prstGeom prst="rect">
            <a:avLst/>
          </a:prstGeom>
          <a:noFill/>
          <a:ln/>
        </p:spPr>
        <p:txBody>
          <a:bodyPr wrap="square" lIns="0" tIns="0" rIns="0" bIns="0" rtlCol="0" anchor="t"/>
          <a:lstStyle/>
          <a:p>
            <a:pPr indent="0" marL="0">
              <a:buNone/>
            </a:pPr>
            <a:r>
              <a:rPr lang="en-US" sz="1700" b="1" dirty="0">
                <a:solidFill>
                  <a:schemeClr val="bg1"/>
                </a:solidFill>
              </a:rPr>
              <a:t>Validated datasets</a:t>
            </a:r>
            <a:endParaRPr lang="en-US" sz="1700" dirty="0"/>
          </a:p>
        </p:txBody>
      </p:sp>
      <p:sp>
        <p:nvSpPr>
          <p:cNvPr id="16" name="Text 14"/>
          <p:cNvSpPr txBox="1"/>
          <p:nvPr/>
        </p:nvSpPr>
        <p:spPr>
          <a:xfrm>
            <a:off x="3017520" y="3840480"/>
            <a:ext cx="1783080" cy="1280160"/>
          </a:xfrm>
          <a:prstGeom prst="rect">
            <a:avLst/>
          </a:prstGeom>
          <a:noFill/>
          <a:ln/>
        </p:spPr>
        <p:txBody>
          <a:bodyPr wrap="square" lIns="0" tIns="0" rIns="0" bIns="0" rtlCol="0" anchor="t"/>
          <a:lstStyle/>
          <a:p>
            <a:pPr indent="0" marL="0">
              <a:buNone/>
            </a:pPr>
            <a:r>
              <a:rPr lang="en-US" sz="1300" dirty="0">
                <a:solidFill>
                  <a:schemeClr val="bg2"/>
                </a:solidFill>
              </a:rPr>
              <a:t>Permitted, de-identified data and governance</a:t>
            </a:r>
            <a:endParaRPr lang="en-US" sz="1300" dirty="0"/>
          </a:p>
        </p:txBody>
      </p:sp>
      <p:sp>
        <p:nvSpPr>
          <p:cNvPr id="17" name="Shape 15"/>
          <p:cNvSpPr/>
          <p:nvPr/>
        </p:nvSpPr>
        <p:spPr>
          <a:xfrm>
            <a:off x="5715000" y="1874520"/>
            <a:ext cx="548640" cy="548640"/>
          </a:xfrm>
          <a:prstGeom prst="ellipse">
            <a:avLst/>
          </a:prstGeom>
          <a:solidFill>
            <a:schemeClr val="tx1"/>
          </a:solidFill>
          <a:ln w="25400">
            <a:solidFill>
              <a:schemeClr val="accent5"/>
            </a:solidFill>
            <a:prstDash val="solid"/>
          </a:ln>
        </p:spPr>
        <p:txBody>
          <a:bodyPr/>
          <a:p/>
        </p:txBody>
      </p:sp>
      <p:sp>
        <p:nvSpPr>
          <p:cNvPr id="18" name="Text 16"/>
          <p:cNvSpPr txBox="1"/>
          <p:nvPr/>
        </p:nvSpPr>
        <p:spPr>
          <a:xfrm>
            <a:off x="5715000" y="1874520"/>
            <a:ext cx="548640" cy="548640"/>
          </a:xfrm>
          <a:prstGeom prst="rect">
            <a:avLst/>
          </a:prstGeom>
          <a:noFill/>
          <a:ln/>
        </p:spPr>
        <p:txBody>
          <a:bodyPr wrap="square" lIns="0" tIns="0" rIns="0" bIns="0" rtlCol="0" anchor="ctr"/>
          <a:lstStyle/>
          <a:p>
            <a:pPr algn="ctr" indent="0" marL="0">
              <a:buNone/>
            </a:pPr>
            <a:r>
              <a:rPr lang="en-US" sz="1600" b="1" dirty="0">
                <a:solidFill>
                  <a:schemeClr val="accent5"/>
                </a:solidFill>
              </a:rPr>
              <a:t>2</a:t>
            </a:r>
            <a:endParaRPr lang="en-US" sz="1600" dirty="0"/>
          </a:p>
        </p:txBody>
      </p:sp>
      <p:sp>
        <p:nvSpPr>
          <p:cNvPr id="19" name="card"/>
          <p:cNvSpPr/>
          <p:nvPr/>
        </p:nvSpPr>
        <p:spPr>
          <a:xfrm>
            <a:off x="5120640" y="2697480"/>
            <a:ext cx="2103120" cy="2514600"/>
          </a:xfrm>
          <a:prstGeom prst="roundRect">
            <a:avLst>
              <a:gd name="adj" fmla="val 5217"/>
            </a:avLst>
          </a:prstGeom>
          <a:solidFill>
            <a:schemeClr val="tx2"/>
          </a:solidFill>
          <a:ln w="12700">
            <a:solidFill>
              <a:schemeClr val="accent5"/>
            </a:solidFill>
            <a:prstDash val="dash"/>
          </a:ln>
        </p:spPr>
        <p:txBody>
          <a:bodyPr/>
          <a:p/>
        </p:txBody>
      </p:sp>
      <p:sp>
        <p:nvSpPr>
          <p:cNvPr id="20" name="Text 18"/>
          <p:cNvSpPr txBox="1"/>
          <p:nvPr/>
        </p:nvSpPr>
        <p:spPr>
          <a:xfrm>
            <a:off x="5303520" y="2834640"/>
            <a:ext cx="1737360" cy="274320"/>
          </a:xfrm>
          <a:prstGeom prst="rect">
            <a:avLst/>
          </a:prstGeom>
          <a:noFill/>
          <a:ln/>
        </p:spPr>
        <p:txBody>
          <a:bodyPr wrap="square" lIns="0" tIns="0" rIns="0" bIns="0" rtlCol="0" anchor="t"/>
          <a:lstStyle/>
          <a:p>
            <a:pPr indent="0" marL="0">
              <a:buNone/>
            </a:pPr>
            <a:r>
              <a:rPr lang="en-US" sz="1100" b="1" spc="200" kern="0" dirty="0">
                <a:solidFill>
                  <a:schemeClr val="accent5"/>
                </a:solidFill>
              </a:rPr>
              <a:t>MODEL</a:t>
            </a:r>
            <a:endParaRPr lang="en-US" sz="1100" dirty="0"/>
          </a:p>
        </p:txBody>
      </p:sp>
      <p:sp>
        <p:nvSpPr>
          <p:cNvPr id="21" name="Text 19"/>
          <p:cNvSpPr txBox="1"/>
          <p:nvPr/>
        </p:nvSpPr>
        <p:spPr>
          <a:xfrm>
            <a:off x="5303520" y="3154680"/>
            <a:ext cx="1783080" cy="640080"/>
          </a:xfrm>
          <a:prstGeom prst="rect">
            <a:avLst/>
          </a:prstGeom>
          <a:noFill/>
          <a:ln/>
        </p:spPr>
        <p:txBody>
          <a:bodyPr wrap="square" lIns="0" tIns="0" rIns="0" bIns="0" rtlCol="0" anchor="t"/>
          <a:lstStyle/>
          <a:p>
            <a:pPr indent="0" marL="0">
              <a:buNone/>
            </a:pPr>
            <a:r>
              <a:rPr lang="en-US" sz="1700" b="1" dirty="0">
                <a:solidFill>
                  <a:schemeClr val="bg1"/>
                </a:solidFill>
              </a:rPr>
              <a:t>External validation</a:t>
            </a:r>
            <a:endParaRPr lang="en-US" sz="1700" dirty="0"/>
          </a:p>
        </p:txBody>
      </p:sp>
      <p:sp>
        <p:nvSpPr>
          <p:cNvPr id="22" name="Text 20"/>
          <p:cNvSpPr txBox="1"/>
          <p:nvPr/>
        </p:nvSpPr>
        <p:spPr>
          <a:xfrm>
            <a:off x="5303520" y="3840480"/>
            <a:ext cx="1783080" cy="1280160"/>
          </a:xfrm>
          <a:prstGeom prst="rect">
            <a:avLst/>
          </a:prstGeom>
          <a:noFill/>
          <a:ln/>
        </p:spPr>
        <p:txBody>
          <a:bodyPr wrap="square" lIns="0" tIns="0" rIns="0" bIns="0" rtlCol="0" anchor="t"/>
          <a:lstStyle/>
          <a:p>
            <a:pPr indent="0" marL="0">
              <a:buNone/>
            </a:pPr>
            <a:r>
              <a:rPr lang="en-US" sz="1300" dirty="0">
                <a:solidFill>
                  <a:schemeClr val="bg2"/>
                </a:solidFill>
              </a:rPr>
              <a:t>Independent permitted dataset; compare with baselines</a:t>
            </a:r>
            <a:endParaRPr lang="en-US" sz="1300" dirty="0"/>
          </a:p>
        </p:txBody>
      </p:sp>
      <p:sp>
        <p:nvSpPr>
          <p:cNvPr id="23" name="Shape 21"/>
          <p:cNvSpPr/>
          <p:nvPr/>
        </p:nvSpPr>
        <p:spPr>
          <a:xfrm>
            <a:off x="8001000" y="1874520"/>
            <a:ext cx="548640" cy="548640"/>
          </a:xfrm>
          <a:prstGeom prst="ellipse">
            <a:avLst/>
          </a:prstGeom>
          <a:solidFill>
            <a:schemeClr val="tx1"/>
          </a:solidFill>
          <a:ln w="25400">
            <a:solidFill>
              <a:schemeClr val="accent5"/>
            </a:solidFill>
            <a:prstDash val="solid"/>
          </a:ln>
        </p:spPr>
        <p:txBody>
          <a:bodyPr/>
          <a:p/>
        </p:txBody>
      </p:sp>
      <p:sp>
        <p:nvSpPr>
          <p:cNvPr id="24" name="Text 22"/>
          <p:cNvSpPr txBox="1"/>
          <p:nvPr/>
        </p:nvSpPr>
        <p:spPr>
          <a:xfrm>
            <a:off x="8001000" y="1874520"/>
            <a:ext cx="548640" cy="548640"/>
          </a:xfrm>
          <a:prstGeom prst="rect">
            <a:avLst/>
          </a:prstGeom>
          <a:noFill/>
          <a:ln/>
        </p:spPr>
        <p:txBody>
          <a:bodyPr wrap="square" lIns="0" tIns="0" rIns="0" bIns="0" rtlCol="0" anchor="ctr"/>
          <a:lstStyle/>
          <a:p>
            <a:pPr algn="ctr" indent="0" marL="0">
              <a:buNone/>
            </a:pPr>
            <a:r>
              <a:rPr lang="en-US" sz="1600" b="1" dirty="0">
                <a:solidFill>
                  <a:schemeClr val="accent5"/>
                </a:solidFill>
              </a:rPr>
              <a:t>3</a:t>
            </a:r>
            <a:endParaRPr lang="en-US" sz="1600" dirty="0"/>
          </a:p>
        </p:txBody>
      </p:sp>
      <p:sp>
        <p:nvSpPr>
          <p:cNvPr id="25" name="card"/>
          <p:cNvSpPr/>
          <p:nvPr/>
        </p:nvSpPr>
        <p:spPr>
          <a:xfrm>
            <a:off x="7406640" y="2697480"/>
            <a:ext cx="2103120" cy="2514600"/>
          </a:xfrm>
          <a:prstGeom prst="roundRect">
            <a:avLst>
              <a:gd name="adj" fmla="val 5217"/>
            </a:avLst>
          </a:prstGeom>
          <a:solidFill>
            <a:schemeClr val="tx2"/>
          </a:solidFill>
          <a:ln w="12700">
            <a:solidFill>
              <a:schemeClr val="accent5"/>
            </a:solidFill>
            <a:prstDash val="dash"/>
          </a:ln>
        </p:spPr>
        <p:txBody>
          <a:bodyPr/>
          <a:p/>
        </p:txBody>
      </p:sp>
      <p:sp>
        <p:nvSpPr>
          <p:cNvPr id="26" name="Text 24"/>
          <p:cNvSpPr txBox="1"/>
          <p:nvPr/>
        </p:nvSpPr>
        <p:spPr>
          <a:xfrm>
            <a:off x="7589520" y="2834640"/>
            <a:ext cx="1737360" cy="274320"/>
          </a:xfrm>
          <a:prstGeom prst="rect">
            <a:avLst/>
          </a:prstGeom>
          <a:noFill/>
          <a:ln/>
        </p:spPr>
        <p:txBody>
          <a:bodyPr wrap="square" lIns="0" tIns="0" rIns="0" bIns="0" rtlCol="0" anchor="t"/>
          <a:lstStyle/>
          <a:p>
            <a:pPr indent="0" marL="0">
              <a:buNone/>
            </a:pPr>
            <a:r>
              <a:rPr lang="en-US" sz="1100" b="1" spc="200" kern="0" dirty="0">
                <a:solidFill>
                  <a:schemeClr val="accent5"/>
                </a:solidFill>
              </a:rPr>
              <a:t>FEEDBACK</a:t>
            </a:r>
            <a:endParaRPr lang="en-US" sz="1100" dirty="0"/>
          </a:p>
        </p:txBody>
      </p:sp>
      <p:sp>
        <p:nvSpPr>
          <p:cNvPr id="27" name="Text 25"/>
          <p:cNvSpPr txBox="1"/>
          <p:nvPr/>
        </p:nvSpPr>
        <p:spPr>
          <a:xfrm>
            <a:off x="7589520" y="3154680"/>
            <a:ext cx="1783080" cy="640080"/>
          </a:xfrm>
          <a:prstGeom prst="rect">
            <a:avLst/>
          </a:prstGeom>
          <a:noFill/>
          <a:ln/>
        </p:spPr>
        <p:txBody>
          <a:bodyPr wrap="square" lIns="0" tIns="0" rIns="0" bIns="0" rtlCol="0" anchor="t"/>
          <a:lstStyle/>
          <a:p>
            <a:pPr indent="0" marL="0">
              <a:buNone/>
            </a:pPr>
            <a:r>
              <a:rPr lang="en-US" sz="1700" b="1" dirty="0">
                <a:solidFill>
                  <a:schemeClr val="bg1"/>
                </a:solidFill>
              </a:rPr>
              <a:t>Clinician review</a:t>
            </a:r>
            <a:endParaRPr lang="en-US" sz="1700" dirty="0"/>
          </a:p>
        </p:txBody>
      </p:sp>
      <p:sp>
        <p:nvSpPr>
          <p:cNvPr id="28" name="Text 26"/>
          <p:cNvSpPr txBox="1"/>
          <p:nvPr/>
        </p:nvSpPr>
        <p:spPr>
          <a:xfrm>
            <a:off x="7589520" y="3840480"/>
            <a:ext cx="1783080" cy="1280160"/>
          </a:xfrm>
          <a:prstGeom prst="rect">
            <a:avLst/>
          </a:prstGeom>
          <a:noFill/>
          <a:ln/>
        </p:spPr>
        <p:txBody>
          <a:bodyPr wrap="square" lIns="0" tIns="0" rIns="0" bIns="0" rtlCol="0" anchor="t"/>
          <a:lstStyle/>
          <a:p>
            <a:pPr indent="0" marL="0">
              <a:buNone/>
            </a:pPr>
            <a:r>
              <a:rPr lang="en-US" sz="1300" dirty="0">
                <a:solidFill>
                  <a:schemeClr val="bg2"/>
                </a:solidFill>
              </a:rPr>
              <a:t>Usability and usefulness of outputs</a:t>
            </a:r>
            <a:endParaRPr lang="en-US" sz="1300" dirty="0"/>
          </a:p>
        </p:txBody>
      </p:sp>
      <p:sp>
        <p:nvSpPr>
          <p:cNvPr id="29" name="Shape 27"/>
          <p:cNvSpPr/>
          <p:nvPr/>
        </p:nvSpPr>
        <p:spPr>
          <a:xfrm>
            <a:off x="10287000" y="1874520"/>
            <a:ext cx="548640" cy="548640"/>
          </a:xfrm>
          <a:prstGeom prst="ellipse">
            <a:avLst/>
          </a:prstGeom>
          <a:solidFill>
            <a:schemeClr val="tx1"/>
          </a:solidFill>
          <a:ln w="25400">
            <a:solidFill>
              <a:schemeClr val="accent5"/>
            </a:solidFill>
            <a:prstDash val="solid"/>
          </a:ln>
        </p:spPr>
        <p:txBody>
          <a:bodyPr/>
          <a:p/>
        </p:txBody>
      </p:sp>
      <p:sp>
        <p:nvSpPr>
          <p:cNvPr id="30" name="Text 28"/>
          <p:cNvSpPr txBox="1"/>
          <p:nvPr/>
        </p:nvSpPr>
        <p:spPr>
          <a:xfrm>
            <a:off x="10287000" y="1874520"/>
            <a:ext cx="548640" cy="548640"/>
          </a:xfrm>
          <a:prstGeom prst="rect">
            <a:avLst/>
          </a:prstGeom>
          <a:noFill/>
          <a:ln/>
        </p:spPr>
        <p:txBody>
          <a:bodyPr wrap="square" lIns="0" tIns="0" rIns="0" bIns="0" rtlCol="0" anchor="ctr"/>
          <a:lstStyle/>
          <a:p>
            <a:pPr algn="ctr" indent="0" marL="0">
              <a:buNone/>
            </a:pPr>
            <a:r>
              <a:rPr lang="en-US" sz="1600" b="1" dirty="0">
                <a:solidFill>
                  <a:schemeClr val="accent5"/>
                </a:solidFill>
              </a:rPr>
              <a:t>4</a:t>
            </a:r>
            <a:endParaRPr lang="en-US" sz="1600" dirty="0"/>
          </a:p>
        </p:txBody>
      </p:sp>
      <p:sp>
        <p:nvSpPr>
          <p:cNvPr id="31" name="card"/>
          <p:cNvSpPr/>
          <p:nvPr/>
        </p:nvSpPr>
        <p:spPr>
          <a:xfrm>
            <a:off x="9692640" y="2697480"/>
            <a:ext cx="2103120" cy="2514600"/>
          </a:xfrm>
          <a:prstGeom prst="roundRect">
            <a:avLst>
              <a:gd name="adj" fmla="val 5217"/>
            </a:avLst>
          </a:prstGeom>
          <a:solidFill>
            <a:schemeClr val="tx2"/>
          </a:solidFill>
          <a:ln w="12700">
            <a:solidFill>
              <a:schemeClr val="accent5"/>
            </a:solidFill>
            <a:prstDash val="dash"/>
          </a:ln>
        </p:spPr>
        <p:txBody>
          <a:bodyPr/>
          <a:p/>
        </p:txBody>
      </p:sp>
      <p:sp>
        <p:nvSpPr>
          <p:cNvPr id="32" name="Text 30"/>
          <p:cNvSpPr txBox="1"/>
          <p:nvPr/>
        </p:nvSpPr>
        <p:spPr>
          <a:xfrm>
            <a:off x="9875520" y="2834640"/>
            <a:ext cx="1737360" cy="274320"/>
          </a:xfrm>
          <a:prstGeom prst="rect">
            <a:avLst/>
          </a:prstGeom>
          <a:noFill/>
          <a:ln/>
        </p:spPr>
        <p:txBody>
          <a:bodyPr wrap="square" lIns="0" tIns="0" rIns="0" bIns="0" rtlCol="0" anchor="t"/>
          <a:lstStyle/>
          <a:p>
            <a:pPr indent="0" marL="0">
              <a:buNone/>
            </a:pPr>
            <a:r>
              <a:rPr lang="en-US" sz="1100" b="1" spc="200" kern="0" dirty="0">
                <a:solidFill>
                  <a:schemeClr val="accent5"/>
                </a:solidFill>
              </a:rPr>
              <a:t>PILOT</a:t>
            </a:r>
            <a:endParaRPr lang="en-US" sz="1100" dirty="0"/>
          </a:p>
        </p:txBody>
      </p:sp>
      <p:sp>
        <p:nvSpPr>
          <p:cNvPr id="33" name="Text 31"/>
          <p:cNvSpPr txBox="1"/>
          <p:nvPr/>
        </p:nvSpPr>
        <p:spPr>
          <a:xfrm>
            <a:off x="9875520" y="3154680"/>
            <a:ext cx="1783080" cy="640080"/>
          </a:xfrm>
          <a:prstGeom prst="rect">
            <a:avLst/>
          </a:prstGeom>
          <a:noFill/>
          <a:ln/>
        </p:spPr>
        <p:txBody>
          <a:bodyPr wrap="square" lIns="0" tIns="0" rIns="0" bIns="0" rtlCol="0" anchor="t"/>
          <a:lstStyle/>
          <a:p>
            <a:pPr indent="0" marL="0">
              <a:buNone/>
            </a:pPr>
            <a:r>
              <a:rPr lang="en-US" sz="1700" b="1" dirty="0">
                <a:solidFill>
                  <a:schemeClr val="bg1"/>
                </a:solidFill>
              </a:rPr>
              <a:t>Monitored pilot</a:t>
            </a:r>
            <a:endParaRPr lang="en-US" sz="1700" dirty="0"/>
          </a:p>
        </p:txBody>
      </p:sp>
      <p:sp>
        <p:nvSpPr>
          <p:cNvPr id="34" name="Text 32"/>
          <p:cNvSpPr txBox="1"/>
          <p:nvPr/>
        </p:nvSpPr>
        <p:spPr>
          <a:xfrm>
            <a:off x="9875520" y="3840480"/>
            <a:ext cx="1783080" cy="1280160"/>
          </a:xfrm>
          <a:prstGeom prst="rect">
            <a:avLst/>
          </a:prstGeom>
          <a:noFill/>
          <a:ln/>
        </p:spPr>
        <p:txBody>
          <a:bodyPr wrap="square" lIns="0" tIns="0" rIns="0" bIns="0" rtlCol="0" anchor="t"/>
          <a:lstStyle/>
          <a:p>
            <a:pPr indent="0" marL="0">
              <a:buNone/>
            </a:pPr>
            <a:r>
              <a:rPr lang="en-US" sz="1300" dirty="0">
                <a:solidFill>
                  <a:schemeClr val="bg2"/>
                </a:solidFill>
              </a:rPr>
              <a:t>Only after validation and approvals</a:t>
            </a:r>
            <a:endParaRPr lang="en-US" sz="1300" dirty="0"/>
          </a:p>
        </p:txBody>
      </p:sp>
      <p:sp>
        <p:nvSpPr>
          <p:cNvPr id="35" name="card"/>
          <p:cNvSpPr/>
          <p:nvPr/>
        </p:nvSpPr>
        <p:spPr>
          <a:xfrm>
            <a:off x="548640" y="5440680"/>
            <a:ext cx="11091672" cy="685800"/>
          </a:xfrm>
          <a:prstGeom prst="roundRect">
            <a:avLst>
              <a:gd name="adj" fmla="val 16000"/>
            </a:avLst>
          </a:prstGeom>
          <a:solidFill>
            <a:schemeClr val="accent6"/>
          </a:solidFill>
          <a:ln w="9525">
            <a:solidFill>
              <a:schemeClr val="accent6"/>
            </a:solidFill>
            <a:prstDash val="solid"/>
          </a:ln>
        </p:spPr>
        <p:txBody>
          <a:bodyPr/>
          <a:p/>
        </p:txBody>
      </p:sp>
      <p:sp>
        <p:nvSpPr>
          <p:cNvPr id="36" name="Text 34"/>
          <p:cNvSpPr txBox="1"/>
          <p:nvPr/>
        </p:nvSpPr>
        <p:spPr>
          <a:xfrm>
            <a:off x="777240" y="5440680"/>
            <a:ext cx="10607040" cy="685800"/>
          </a:xfrm>
          <a:prstGeom prst="rect">
            <a:avLst/>
          </a:prstGeom>
          <a:noFill/>
          <a:ln/>
        </p:spPr>
        <p:txBody>
          <a:bodyPr wrap="square" lIns="0" tIns="0" rIns="0" bIns="0" rtlCol="0" anchor="ctr"/>
          <a:lstStyle/>
          <a:p>
            <a:pPr indent="0" marL="0">
              <a:buNone/>
            </a:pPr>
            <a:r>
              <a:rPr lang="en-US" sz="1500" b="1" dirty="0">
                <a:solidFill>
                  <a:schemeClr val="accent1"/>
                </a:solidFill>
              </a:rPr>
              <a:t>The current model remains experimental; external validation and clinical review are required before any real-world claims.</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6400800" cy="2194560"/>
          </a:xfrm>
          <a:prstGeom prst="rect">
            <a:avLst/>
          </a:prstGeom>
          <a:noFill/>
          <a:ln/>
        </p:spPr>
        <p:txBody>
          <a:bodyPr wrap="square" lIns="0" tIns="0" rIns="0" bIns="0" rtlCol="0" anchor="t"/>
          <a:lstStyle/>
          <a:p>
            <a:pPr algn="l" indent="0" marL="0">
              <a:buNone/>
            </a:pPr>
            <a:r>
              <a:rPr lang="en-US" sz="4600" b="1" dirty="0">
                <a:solidFill>
                  <a:schemeClr val="bg1"/>
                </a:solidFill>
              </a:rPr>
              <a:t>Honest about today.</a:t>
            </a:r>
            <a:endParaRPr lang="en-US" sz="4600" dirty="0"/>
          </a:p>
          <a:p>
            <a:pPr algn="l" indent="0" marL="0">
              <a:buNone/>
            </a:pPr>
            <a:r>
              <a:rPr lang="en-US" sz="4600" b="1" dirty="0">
                <a:solidFill>
                  <a:schemeClr val="bg1"/>
                </a:solidFill>
              </a:rPr>
              <a:t>Built for what comes next.</a:t>
            </a:r>
            <a:endParaRPr lang="en-US" sz="4600" dirty="0"/>
          </a:p>
        </p:txBody>
      </p:sp>
      <p:sp>
        <p:nvSpPr>
          <p:cNvPr id="3" name="Text 1"/>
          <p:cNvSpPr txBox="1"/>
          <p:nvPr/>
        </p:nvSpPr>
        <p:spPr>
          <a:xfrm>
            <a:off x="548640" y="3931920"/>
            <a:ext cx="6035040" cy="1005840"/>
          </a:xfrm>
          <a:prstGeom prst="rect">
            <a:avLst/>
          </a:prstGeom>
          <a:noFill/>
          <a:ln/>
        </p:spPr>
        <p:txBody>
          <a:bodyPr wrap="square" lIns="0" tIns="0" rIns="0" bIns="0" rtlCol="0" anchor="t"/>
          <a:lstStyle/>
          <a:p>
            <a:pPr indent="0" marL="0">
              <a:buNone/>
            </a:pPr>
            <a:r>
              <a:rPr lang="en-US" sz="2000" dirty="0">
                <a:solidFill>
                  <a:schemeClr val="bg2"/>
                </a:solidFill>
              </a:rPr>
              <a:t>GlycoTwin AI combines synthetic EHR context and evolving CGM-like data to estimate a two-hour glucose excursion. External validation remains future work.</a:t>
            </a:r>
            <a:endParaRPr lang="en-US" sz="2000" dirty="0"/>
          </a:p>
        </p:txBody>
      </p:sp>
      <p:sp>
        <p:nvSpPr>
          <p:cNvPr id="4" name="Shape 2"/>
          <p:cNvSpPr/>
          <p:nvPr/>
        </p:nvSpPr>
        <p:spPr>
          <a:xfrm>
            <a:off x="548640" y="5212080"/>
            <a:ext cx="1554480" cy="292608"/>
          </a:xfrm>
          <a:prstGeom prst="roundRect">
            <a:avLst>
              <a:gd name="adj" fmla="val 50000"/>
            </a:avLst>
          </a:prstGeom>
          <a:solidFill>
            <a:schemeClr val="accent2">
              <a:alpha val="18000"/>
            </a:schemeClr>
          </a:solidFill>
          <a:ln w="9525">
            <a:solidFill>
              <a:schemeClr val="accent2"/>
            </a:solidFill>
            <a:prstDash val="solid"/>
          </a:ln>
        </p:spPr>
        <p:txBody>
          <a:bodyPr/>
          <a:p/>
        </p:txBody>
      </p:sp>
      <p:sp>
        <p:nvSpPr>
          <p:cNvPr id="5" name="Text 3"/>
          <p:cNvSpPr txBox="1"/>
          <p:nvPr/>
        </p:nvSpPr>
        <p:spPr>
          <a:xfrm>
            <a:off x="548640" y="5212080"/>
            <a:ext cx="1554480" cy="292608"/>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IMPLEMENTED</a:t>
            </a:r>
            <a:endParaRPr lang="en-US" sz="1100" dirty="0"/>
          </a:p>
        </p:txBody>
      </p:sp>
      <p:sp>
        <p:nvSpPr>
          <p:cNvPr id="6" name="Shape 4"/>
          <p:cNvSpPr/>
          <p:nvPr/>
        </p:nvSpPr>
        <p:spPr>
          <a:xfrm>
            <a:off x="2240280" y="5212080"/>
            <a:ext cx="1645920" cy="292608"/>
          </a:xfrm>
          <a:prstGeom prst="roundRect">
            <a:avLst>
              <a:gd name="adj" fmla="val 50000"/>
            </a:avLst>
          </a:prstGeom>
          <a:solidFill>
            <a:schemeClr val="accent4">
              <a:alpha val="18000"/>
            </a:schemeClr>
          </a:solidFill>
          <a:ln w="9525">
            <a:solidFill>
              <a:schemeClr val="accent4"/>
            </a:solidFill>
            <a:prstDash val="solid"/>
          </a:ln>
        </p:spPr>
        <p:txBody>
          <a:bodyPr/>
          <a:p/>
        </p:txBody>
      </p:sp>
      <p:sp>
        <p:nvSpPr>
          <p:cNvPr id="7" name="Text 5"/>
          <p:cNvSpPr txBox="1"/>
          <p:nvPr/>
        </p:nvSpPr>
        <p:spPr>
          <a:xfrm>
            <a:off x="2240280" y="5212080"/>
            <a:ext cx="1645920" cy="292608"/>
          </a:xfrm>
          <a:prstGeom prst="rect">
            <a:avLst/>
          </a:prstGeom>
          <a:noFill/>
          <a:ln/>
        </p:spPr>
        <p:txBody>
          <a:bodyPr wrap="square" lIns="0" tIns="0" rIns="0" bIns="0" rtlCol="0" anchor="ctr"/>
          <a:lstStyle/>
          <a:p>
            <a:pPr algn="ctr" indent="0" marL="0">
              <a:buNone/>
            </a:pPr>
            <a:r>
              <a:rPr lang="en-US" sz="1100" b="1" spc="100" kern="0" dirty="0">
                <a:solidFill>
                  <a:schemeClr val="accent4"/>
                </a:solidFill>
              </a:rPr>
              <a:t>EXPERIMENTAL</a:t>
            </a:r>
            <a:endParaRPr lang="en-US" sz="1100" dirty="0"/>
          </a:p>
        </p:txBody>
      </p:sp>
      <p:sp>
        <p:nvSpPr>
          <p:cNvPr id="8" name="Shape 6"/>
          <p:cNvSpPr/>
          <p:nvPr/>
        </p:nvSpPr>
        <p:spPr>
          <a:xfrm>
            <a:off x="4023360" y="5212080"/>
            <a:ext cx="1188720" cy="292608"/>
          </a:xfrm>
          <a:prstGeom prst="roundRect">
            <a:avLst>
              <a:gd name="adj" fmla="val 50000"/>
            </a:avLst>
          </a:prstGeom>
          <a:solidFill>
            <a:schemeClr val="accent5">
              <a:alpha val="18000"/>
            </a:schemeClr>
          </a:solidFill>
          <a:ln w="9525">
            <a:solidFill>
              <a:schemeClr val="accent5"/>
            </a:solidFill>
            <a:prstDash val="solid"/>
          </a:ln>
        </p:spPr>
        <p:txBody>
          <a:bodyPr/>
          <a:p/>
        </p:txBody>
      </p:sp>
      <p:sp>
        <p:nvSpPr>
          <p:cNvPr id="9" name="Text 7"/>
          <p:cNvSpPr txBox="1"/>
          <p:nvPr/>
        </p:nvSpPr>
        <p:spPr>
          <a:xfrm>
            <a:off x="4023360" y="5212080"/>
            <a:ext cx="1188720" cy="292608"/>
          </a:xfrm>
          <a:prstGeom prst="rect">
            <a:avLst/>
          </a:prstGeom>
          <a:noFill/>
          <a:ln/>
        </p:spPr>
        <p:txBody>
          <a:bodyPr wrap="square" lIns="0" tIns="0" rIns="0" bIns="0" rtlCol="0" anchor="ctr"/>
          <a:lstStyle/>
          <a:p>
            <a:pPr algn="ctr" indent="0" marL="0">
              <a:buNone/>
            </a:pPr>
            <a:r>
              <a:rPr lang="en-US" sz="1100" b="1" spc="100" kern="0" dirty="0">
                <a:solidFill>
                  <a:schemeClr val="accent5"/>
                </a:solidFill>
              </a:rPr>
              <a:t>PLANNED</a:t>
            </a:r>
            <a:endParaRPr lang="en-US" sz="1100" dirty="0"/>
          </a:p>
        </p:txBody>
      </p:sp>
      <p:pic>
        <p:nvPicPr>
          <p:cNvPr id="10" name="Image 0" descr="assets/curve.png">    </p:cNvPr>
          <p:cNvPicPr>
            <a:picLocks noChangeAspect="1"/>
          </p:cNvPicPr>
          <p:nvPr/>
        </p:nvPicPr>
        <p:blipFill>
          <a:blip r:embed="rId1">
            <a:alphaModFix amt="75000"/>
          </a:blip>
          <a:stretch>
            <a:fillRect/>
          </a:stretch>
        </p:blipFill>
        <p:spPr>
          <a:xfrm>
            <a:off x="6766560" y="1737360"/>
            <a:ext cx="4937760" cy="3246120"/>
          </a:xfrm>
          <a:prstGeom prst="rect">
            <a:avLst/>
          </a:prstGeom>
        </p:spPr>
      </p:pic>
      <p:sp>
        <p:nvSpPr>
          <p:cNvPr id="11" name="Text 8"/>
          <p:cNvSpPr txBox="1"/>
          <p:nvPr/>
        </p:nvSpPr>
        <p:spPr>
          <a:xfrm>
            <a:off x="6766560" y="5212080"/>
            <a:ext cx="4846320" cy="320040"/>
          </a:xfrm>
          <a:prstGeom prst="rect">
            <a:avLst/>
          </a:prstGeom>
          <a:noFill/>
          <a:ln/>
        </p:spPr>
        <p:txBody>
          <a:bodyPr wrap="square" lIns="0" tIns="0" rIns="0" bIns="0" rtlCol="0" anchor="t"/>
          <a:lstStyle/>
          <a:p>
            <a:pPr algn="r" indent="0" marL="0">
              <a:buNone/>
            </a:pPr>
            <a:r>
              <a:rPr lang="en-US" sz="1300" dirty="0">
                <a:solidFill>
                  <a:schemeClr val="bg2"/>
                </a:solidFill>
              </a:rPr>
              <a:t>[Team name]  ·  [Institution]  ·  [Contact]</a:t>
            </a:r>
            <a:endParaRPr lang="en-US" sz="1300" dirty="0"/>
          </a:p>
        </p:txBody>
      </p:sp>
    </p:spTree>
  </p:cSld>
  <p:clrMapOvr>
    <a:masterClrMapping/>
  </p:clrMapOvr>
</p:sld>
</file>

<file path=ppt/theme/theme1.xml><?xml version="1.0" encoding="utf-8"?>
<a:theme xmlns:a="http://schemas.openxmlformats.org/drawingml/2006/main" name="GlycoTwin Midnight">
  <a:themeElements>
    <a:clrScheme name="GlycoTwin Midnight">
      <a:dk1>
        <a:srgbClr val="060E24"/>
      </a:dk1>
      <a:lt1>
        <a:srgbClr val="FFFFFF"/>
      </a:lt1>
      <a:dk2>
        <a:srgbClr val="0F1F3F"/>
      </a:dk2>
      <a:lt2>
        <a:srgbClr val="9FB3D1"/>
      </a:lt2>
      <a:accent1>
        <a:srgbClr val="22D3EE"/>
      </a:accent1>
      <a:accent2>
        <a:srgbClr val="2DD4BF"/>
      </a:accent2>
      <a:accent3>
        <a:srgbClr val="3B82F6"/>
      </a:accent3>
      <a:accent4>
        <a:srgbClr val="F5B84B"/>
      </a:accent4>
      <a:accent5>
        <a:srgbClr val="7C93C3"/>
      </a:accent5>
      <a:accent6>
        <a:srgbClr val="1B2F5A"/>
      </a:accent6>
      <a:hlink>
        <a:srgbClr val="22D3EE"/>
      </a:hlink>
      <a:folHlink>
        <a:srgbClr val="7C93C3"/>
      </a:folHlink>
    </a:clrScheme>
    <a:fontScheme name="GlycoTwin Midnigh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GlycoTwin AI</dc:title>
  <dc:subject>PptxGenJS Presentation</dc:subject>
  <dc:creator>[Team name]</dc:creator>
  <cp:lastModifiedBy>[Team name]</cp:lastModifiedBy>
  <cp:revision>1</cp:revision>
  <dcterms:created xsi:type="dcterms:W3CDTF">2026-10-18T14:28:10Z</dcterms:created>
  <dcterms:modified xsi:type="dcterms:W3CDTF">2026-10-18T14:28:10Z</dcterms:modified>
</cp:coreProperties>
</file>